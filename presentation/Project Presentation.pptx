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4e061981d3_2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34e061981d3_2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4e061981d3_2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g34e061981d3_2_8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527637acb3_3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g3527637acb3_3_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4e061981d3_3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g34e061981d3_3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527637acb3_3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g3527637acb3_3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4e061981d3_3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g34e061981d3_3_1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4e061981d3_3_6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4e061981d3_3_6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4e061981d3_3_6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4e061981d3_3_6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4e061981d3_3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g34e061981d3_3_1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527637acb3_3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g3527637acb3_3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527637acb3_3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g3527637acb3_3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4e061981d3_3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g34e061981d3_3_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4e061981d3_3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g34e061981d3_3_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4e061981d3_3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g34e061981d3_3_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4e061981d3_3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g34e061981d3_3_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4e061981d3_3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g34e061981d3_3_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4e061981d3_3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g34e061981d3_3_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4e061981d3_3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g34e061981d3_3_1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4e061981d3_3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g34e061981d3_3_3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4e061981d3_3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g34e061981d3_3_20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4e061981d3_3_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g34e061981d3_3_4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4e061981d3_3_4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g34e061981d3_3_4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4e061981d3_3_4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g34e061981d3_3_4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4e061981d3_3_5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g34e061981d3_3_5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4e061981d3_3_5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g34e061981d3_3_5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4e061981d3_2_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g34e061981d3_2_3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4e061981d3_3_5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34e061981d3_3_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34e061981d3_3_6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g34e061981d3_3_60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34e061981d3_3_5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34e061981d3_3_5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4e061981d3_3_6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34e061981d3_3_6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8" name="Google Shape;58;p1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9" name="Google Shape;59;p1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342900" y="1065213"/>
            <a:ext cx="3886200" cy="735013"/>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2" name="Google Shape;62;p15"/>
          <p:cNvSpPr txBox="1"/>
          <p:nvPr>
            <p:ph idx="1" type="subTitle"/>
          </p:nvPr>
        </p:nvSpPr>
        <p:spPr>
          <a:xfrm>
            <a:off x="685800" y="1943100"/>
            <a:ext cx="3200400" cy="876300"/>
          </a:xfrm>
          <a:prstGeom prst="rect">
            <a:avLst/>
          </a:prstGeom>
          <a:noFill/>
          <a:ln>
            <a:noFill/>
          </a:ln>
        </p:spPr>
        <p:txBody>
          <a:bodyPr anchorCtr="0" anchor="t" bIns="22850" lIns="45725" spcFirstLastPara="1" rIns="45725" wrap="square" tIns="2285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p:txBody>
      </p:sp>
      <p:sp>
        <p:nvSpPr>
          <p:cNvPr id="63" name="Google Shape;63;p15"/>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4" name="Google Shape;64;p15"/>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5" name="Google Shape;65;p15"/>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8" name="Google Shape;68;p16"/>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69" name="Google Shape;69;p16"/>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0" name="Google Shape;70;p16"/>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1" name="Google Shape;71;p16"/>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361156" y="2203450"/>
            <a:ext cx="3886200" cy="681038"/>
          </a:xfrm>
          <a:prstGeom prst="rect">
            <a:avLst/>
          </a:prstGeom>
          <a:noFill/>
          <a:ln>
            <a:noFill/>
          </a:ln>
        </p:spPr>
        <p:txBody>
          <a:bodyPr anchorCtr="0" anchor="t" bIns="22850" lIns="45725" spcFirstLastPara="1" rIns="45725" wrap="square" tIns="22850">
            <a:normAutofit/>
          </a:bodyPr>
          <a:lstStyle>
            <a:lvl1pPr lvl="0" algn="l">
              <a:spcBef>
                <a:spcPts val="0"/>
              </a:spcBef>
              <a:spcAft>
                <a:spcPts val="0"/>
              </a:spcAft>
              <a:buClr>
                <a:schemeClr val="dk1"/>
              </a:buClr>
              <a:buSzPts val="2000"/>
              <a:buFont typeface="Calibri"/>
              <a:buNone/>
              <a:defRPr b="1" sz="2000"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74" name="Google Shape;74;p17"/>
          <p:cNvSpPr txBox="1"/>
          <p:nvPr>
            <p:ph idx="1" type="body"/>
          </p:nvPr>
        </p:nvSpPr>
        <p:spPr>
          <a:xfrm>
            <a:off x="361156" y="1453357"/>
            <a:ext cx="3886200" cy="750094"/>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rgbClr val="888888"/>
              </a:buClr>
              <a:buSzPts val="1000"/>
              <a:buNone/>
              <a:defRPr sz="1000">
                <a:solidFill>
                  <a:srgbClr val="888888"/>
                </a:solidFill>
              </a:defRPr>
            </a:lvl1pPr>
            <a:lvl2pPr indent="-228600" lvl="1" marL="914400" algn="l">
              <a:spcBef>
                <a:spcPts val="200"/>
              </a:spcBef>
              <a:spcAft>
                <a:spcPts val="0"/>
              </a:spcAft>
              <a:buClr>
                <a:srgbClr val="888888"/>
              </a:buClr>
              <a:buSzPts val="900"/>
              <a:buNone/>
              <a:defRPr sz="900">
                <a:solidFill>
                  <a:srgbClr val="888888"/>
                </a:solidFill>
              </a:defRPr>
            </a:lvl2pPr>
            <a:lvl3pPr indent="-228600" lvl="2" marL="1371600" algn="l">
              <a:spcBef>
                <a:spcPts val="200"/>
              </a:spcBef>
              <a:spcAft>
                <a:spcPts val="0"/>
              </a:spcAft>
              <a:buClr>
                <a:srgbClr val="888888"/>
              </a:buClr>
              <a:buSzPts val="800"/>
              <a:buNone/>
              <a:defRPr sz="800">
                <a:solidFill>
                  <a:srgbClr val="888888"/>
                </a:solidFill>
              </a:defRPr>
            </a:lvl3pPr>
            <a:lvl4pPr indent="-228600" lvl="3" marL="1828800" algn="l">
              <a:spcBef>
                <a:spcPts val="100"/>
              </a:spcBef>
              <a:spcAft>
                <a:spcPts val="0"/>
              </a:spcAft>
              <a:buClr>
                <a:srgbClr val="888888"/>
              </a:buClr>
              <a:buSzPts val="700"/>
              <a:buNone/>
              <a:defRPr sz="700">
                <a:solidFill>
                  <a:srgbClr val="888888"/>
                </a:solidFill>
              </a:defRPr>
            </a:lvl4pPr>
            <a:lvl5pPr indent="-228600" lvl="4" marL="2286000" algn="l">
              <a:spcBef>
                <a:spcPts val="100"/>
              </a:spcBef>
              <a:spcAft>
                <a:spcPts val="0"/>
              </a:spcAft>
              <a:buClr>
                <a:srgbClr val="888888"/>
              </a:buClr>
              <a:buSzPts val="700"/>
              <a:buNone/>
              <a:defRPr sz="700">
                <a:solidFill>
                  <a:srgbClr val="888888"/>
                </a:solidFill>
              </a:defRPr>
            </a:lvl5pPr>
            <a:lvl6pPr indent="-228600" lvl="5" marL="2743200" algn="l">
              <a:spcBef>
                <a:spcPts val="100"/>
              </a:spcBef>
              <a:spcAft>
                <a:spcPts val="0"/>
              </a:spcAft>
              <a:buClr>
                <a:srgbClr val="888888"/>
              </a:buClr>
              <a:buSzPts val="700"/>
              <a:buNone/>
              <a:defRPr sz="700">
                <a:solidFill>
                  <a:srgbClr val="888888"/>
                </a:solidFill>
              </a:defRPr>
            </a:lvl6pPr>
            <a:lvl7pPr indent="-228600" lvl="6" marL="3200400" algn="l">
              <a:spcBef>
                <a:spcPts val="100"/>
              </a:spcBef>
              <a:spcAft>
                <a:spcPts val="0"/>
              </a:spcAft>
              <a:buClr>
                <a:srgbClr val="888888"/>
              </a:buClr>
              <a:buSzPts val="700"/>
              <a:buNone/>
              <a:defRPr sz="700">
                <a:solidFill>
                  <a:srgbClr val="888888"/>
                </a:solidFill>
              </a:defRPr>
            </a:lvl7pPr>
            <a:lvl8pPr indent="-228600" lvl="7" marL="3657600" algn="l">
              <a:spcBef>
                <a:spcPts val="100"/>
              </a:spcBef>
              <a:spcAft>
                <a:spcPts val="0"/>
              </a:spcAft>
              <a:buClr>
                <a:srgbClr val="888888"/>
              </a:buClr>
              <a:buSzPts val="700"/>
              <a:buNone/>
              <a:defRPr sz="700">
                <a:solidFill>
                  <a:srgbClr val="888888"/>
                </a:solidFill>
              </a:defRPr>
            </a:lvl8pPr>
            <a:lvl9pPr indent="-228600" lvl="8" marL="4114800" algn="l">
              <a:spcBef>
                <a:spcPts val="100"/>
              </a:spcBef>
              <a:spcAft>
                <a:spcPts val="0"/>
              </a:spcAft>
              <a:buClr>
                <a:srgbClr val="888888"/>
              </a:buClr>
              <a:buSzPts val="700"/>
              <a:buNone/>
              <a:defRPr sz="700">
                <a:solidFill>
                  <a:srgbClr val="888888"/>
                </a:solidFill>
              </a:defRPr>
            </a:lvl9pPr>
          </a:lstStyle>
          <a:p/>
        </p:txBody>
      </p:sp>
      <p:sp>
        <p:nvSpPr>
          <p:cNvPr id="75" name="Google Shape;75;p17"/>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6" name="Google Shape;76;p17"/>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7" name="Google Shape;77;p17"/>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0" name="Google Shape;80;p18"/>
          <p:cNvSpPr txBox="1"/>
          <p:nvPr>
            <p:ph idx="1" type="body"/>
          </p:nvPr>
        </p:nvSpPr>
        <p:spPr>
          <a:xfrm>
            <a:off x="2286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1" name="Google Shape;81;p18"/>
          <p:cNvSpPr txBox="1"/>
          <p:nvPr>
            <p:ph idx="2" type="body"/>
          </p:nvPr>
        </p:nvSpPr>
        <p:spPr>
          <a:xfrm>
            <a:off x="23241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2" name="Google Shape;82;p18"/>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3" name="Google Shape;83;p18"/>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4" name="Google Shape;84;p18"/>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7" name="Google Shape;87;p19"/>
          <p:cNvSpPr txBox="1"/>
          <p:nvPr>
            <p:ph idx="1" type="body"/>
          </p:nvPr>
        </p:nvSpPr>
        <p:spPr>
          <a:xfrm>
            <a:off x="228600" y="767556"/>
            <a:ext cx="2020094"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88" name="Google Shape;88;p19"/>
          <p:cNvSpPr txBox="1"/>
          <p:nvPr>
            <p:ph idx="2" type="body"/>
          </p:nvPr>
        </p:nvSpPr>
        <p:spPr>
          <a:xfrm>
            <a:off x="228600" y="1087438"/>
            <a:ext cx="2020094"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89" name="Google Shape;89;p19"/>
          <p:cNvSpPr txBox="1"/>
          <p:nvPr>
            <p:ph idx="3" type="body"/>
          </p:nvPr>
        </p:nvSpPr>
        <p:spPr>
          <a:xfrm>
            <a:off x="2322513" y="767556"/>
            <a:ext cx="2020888"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90" name="Google Shape;90;p19"/>
          <p:cNvSpPr txBox="1"/>
          <p:nvPr>
            <p:ph idx="4" type="body"/>
          </p:nvPr>
        </p:nvSpPr>
        <p:spPr>
          <a:xfrm>
            <a:off x="2322513" y="1087438"/>
            <a:ext cx="2020888"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91" name="Google Shape;91;p19"/>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2" name="Google Shape;92;p19"/>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3" name="Google Shape;93;p19"/>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96" name="Google Shape;96;p20"/>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7" name="Google Shape;97;p20"/>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8" name="Google Shape;98;p20"/>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228600" y="136525"/>
            <a:ext cx="1504157" cy="581025"/>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1" name="Google Shape;101;p21"/>
          <p:cNvSpPr txBox="1"/>
          <p:nvPr>
            <p:ph idx="1" type="body"/>
          </p:nvPr>
        </p:nvSpPr>
        <p:spPr>
          <a:xfrm>
            <a:off x="1787525" y="136525"/>
            <a:ext cx="2555875" cy="2926557"/>
          </a:xfrm>
          <a:prstGeom prst="rect">
            <a:avLst/>
          </a:prstGeom>
          <a:noFill/>
          <a:ln>
            <a:noFill/>
          </a:ln>
        </p:spPr>
        <p:txBody>
          <a:bodyPr anchorCtr="0" anchor="t" bIns="22850" lIns="45725" spcFirstLastPara="1" rIns="45725" wrap="square" tIns="22850">
            <a:normAutofit/>
          </a:bodyPr>
          <a:lstStyle>
            <a:lvl1pPr indent="-330200" lvl="0" marL="457200" algn="l">
              <a:spcBef>
                <a:spcPts val="300"/>
              </a:spcBef>
              <a:spcAft>
                <a:spcPts val="0"/>
              </a:spcAft>
              <a:buClr>
                <a:schemeClr val="dk1"/>
              </a:buClr>
              <a:buSzPts val="1600"/>
              <a:buChar char="•"/>
              <a:defRPr sz="1600"/>
            </a:lvl1pPr>
            <a:lvl2pPr indent="-317500" lvl="1" marL="914400" algn="l">
              <a:spcBef>
                <a:spcPts val="300"/>
              </a:spcBef>
              <a:spcAft>
                <a:spcPts val="0"/>
              </a:spcAft>
              <a:buClr>
                <a:schemeClr val="dk1"/>
              </a:buClr>
              <a:buSzPts val="1400"/>
              <a:buChar char="–"/>
              <a:defRPr sz="1400"/>
            </a:lvl2pPr>
            <a:lvl3pPr indent="-304800" lvl="2" marL="1371600" algn="l">
              <a:spcBef>
                <a:spcPts val="200"/>
              </a:spcBef>
              <a:spcAft>
                <a:spcPts val="0"/>
              </a:spcAft>
              <a:buClr>
                <a:schemeClr val="dk1"/>
              </a:buClr>
              <a:buSzPts val="1200"/>
              <a:buChar char="•"/>
              <a:defRPr sz="1200"/>
            </a:lvl3pPr>
            <a:lvl4pPr indent="-292100" lvl="3" marL="1828800" algn="l">
              <a:spcBef>
                <a:spcPts val="200"/>
              </a:spcBef>
              <a:spcAft>
                <a:spcPts val="0"/>
              </a:spcAft>
              <a:buClr>
                <a:schemeClr val="dk1"/>
              </a:buClr>
              <a:buSzPts val="1000"/>
              <a:buChar char="–"/>
              <a:defRPr sz="1000"/>
            </a:lvl4pPr>
            <a:lvl5pPr indent="-292100" lvl="4" marL="2286000" algn="l">
              <a:spcBef>
                <a:spcPts val="200"/>
              </a:spcBef>
              <a:spcAft>
                <a:spcPts val="0"/>
              </a:spcAft>
              <a:buClr>
                <a:schemeClr val="dk1"/>
              </a:buClr>
              <a:buSzPts val="1000"/>
              <a:buChar char="»"/>
              <a:defRPr sz="1000"/>
            </a:lvl5pPr>
            <a:lvl6pPr indent="-292100" lvl="5" marL="2743200" algn="l">
              <a:spcBef>
                <a:spcPts val="200"/>
              </a:spcBef>
              <a:spcAft>
                <a:spcPts val="0"/>
              </a:spcAft>
              <a:buClr>
                <a:schemeClr val="dk1"/>
              </a:buClr>
              <a:buSzPts val="1000"/>
              <a:buChar char="•"/>
              <a:defRPr sz="1000"/>
            </a:lvl6pPr>
            <a:lvl7pPr indent="-292100" lvl="6" marL="3200400" algn="l">
              <a:spcBef>
                <a:spcPts val="200"/>
              </a:spcBef>
              <a:spcAft>
                <a:spcPts val="0"/>
              </a:spcAft>
              <a:buClr>
                <a:schemeClr val="dk1"/>
              </a:buClr>
              <a:buSzPts val="1000"/>
              <a:buChar char="•"/>
              <a:defRPr sz="1000"/>
            </a:lvl7pPr>
            <a:lvl8pPr indent="-292100" lvl="7" marL="3657600" algn="l">
              <a:spcBef>
                <a:spcPts val="200"/>
              </a:spcBef>
              <a:spcAft>
                <a:spcPts val="0"/>
              </a:spcAft>
              <a:buClr>
                <a:schemeClr val="dk1"/>
              </a:buClr>
              <a:buSzPts val="1000"/>
              <a:buChar char="•"/>
              <a:defRPr sz="1000"/>
            </a:lvl8pPr>
            <a:lvl9pPr indent="-292100" lvl="8" marL="4114800" algn="l">
              <a:spcBef>
                <a:spcPts val="200"/>
              </a:spcBef>
              <a:spcAft>
                <a:spcPts val="0"/>
              </a:spcAft>
              <a:buClr>
                <a:schemeClr val="dk1"/>
              </a:buClr>
              <a:buSzPts val="1000"/>
              <a:buChar char="•"/>
              <a:defRPr sz="1000"/>
            </a:lvl9pPr>
          </a:lstStyle>
          <a:p/>
        </p:txBody>
      </p:sp>
      <p:sp>
        <p:nvSpPr>
          <p:cNvPr id="102" name="Google Shape;102;p21"/>
          <p:cNvSpPr txBox="1"/>
          <p:nvPr>
            <p:ph idx="2" type="body"/>
          </p:nvPr>
        </p:nvSpPr>
        <p:spPr>
          <a:xfrm>
            <a:off x="228600" y="717550"/>
            <a:ext cx="1504157" cy="2345532"/>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03" name="Google Shape;103;p21"/>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4" name="Google Shape;104;p21"/>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5" name="Google Shape;105;p21"/>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896144" y="2400300"/>
            <a:ext cx="2743200" cy="283369"/>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8" name="Google Shape;108;p22"/>
          <p:cNvSpPr/>
          <p:nvPr>
            <p:ph idx="2" type="pic"/>
          </p:nvPr>
        </p:nvSpPr>
        <p:spPr>
          <a:xfrm>
            <a:off x="896144" y="306388"/>
            <a:ext cx="2743200" cy="2057400"/>
          </a:xfrm>
          <a:prstGeom prst="rect">
            <a:avLst/>
          </a:prstGeom>
          <a:noFill/>
          <a:ln>
            <a:noFill/>
          </a:ln>
        </p:spPr>
      </p:sp>
      <p:sp>
        <p:nvSpPr>
          <p:cNvPr id="109" name="Google Shape;109;p22"/>
          <p:cNvSpPr txBox="1"/>
          <p:nvPr>
            <p:ph idx="1" type="body"/>
          </p:nvPr>
        </p:nvSpPr>
        <p:spPr>
          <a:xfrm>
            <a:off x="896144" y="2683669"/>
            <a:ext cx="2743200" cy="402431"/>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10" name="Google Shape;110;p22"/>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1" name="Google Shape;111;p22"/>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2" name="Google Shape;112;p22"/>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15" name="Google Shape;115;p23"/>
          <p:cNvSpPr txBox="1"/>
          <p:nvPr>
            <p:ph idx="1" type="body"/>
          </p:nvPr>
        </p:nvSpPr>
        <p:spPr>
          <a:xfrm rot="5400000">
            <a:off x="1154509" y="-125809"/>
            <a:ext cx="2262982" cy="41148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16" name="Google Shape;116;p2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7" name="Google Shape;117;p2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8" name="Google Shape;118;p2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2366169" y="1085850"/>
            <a:ext cx="2925763" cy="10287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21" name="Google Shape;121;p24"/>
          <p:cNvSpPr txBox="1"/>
          <p:nvPr>
            <p:ph idx="1" type="body"/>
          </p:nvPr>
        </p:nvSpPr>
        <p:spPr>
          <a:xfrm rot="5400000">
            <a:off x="270669" y="95250"/>
            <a:ext cx="2925763" cy="30099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22" name="Google Shape;122;p2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3" name="Google Shape;123;p2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4" name="Google Shape;124;p2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marR="0" rtl="0" algn="ctr">
              <a:spcBef>
                <a:spcPts val="0"/>
              </a:spcBef>
              <a:spcAft>
                <a:spcPts val="0"/>
              </a:spcAft>
              <a:buClr>
                <a:schemeClr val="dk1"/>
              </a:buClr>
              <a:buSzPts val="2200"/>
              <a:buFont typeface="Calibri"/>
              <a:buNone/>
              <a:defRPr b="0" i="0" sz="2200" u="none" cap="none" strike="noStrik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p:txBody>
      </p:sp>
      <p:sp>
        <p:nvSpPr>
          <p:cNvPr id="52" name="Google Shape;52;p13"/>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330200" lvl="0" marL="457200" marR="0" rtl="0" algn="l">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1pPr>
            <a:lvl2pPr indent="-317500" lvl="1" marL="914400" marR="0" rtl="0" algn="l">
              <a:spcBef>
                <a:spcPts val="3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rtl="0" algn="l">
              <a:spcBef>
                <a:spcPts val="2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3pPr>
            <a:lvl4pPr indent="-292100" lvl="3" marL="1828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4pPr>
            <a:lvl5pPr indent="-292100" lvl="4" marL="22860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5pPr>
            <a:lvl6pPr indent="-292100" lvl="5" marL="27432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6pPr>
            <a:lvl7pPr indent="-292100" lvl="6" marL="32004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7pPr>
            <a:lvl8pPr indent="-292100" lvl="7" marL="36576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8pPr>
            <a:lvl9pPr indent="-292100" lvl="8" marL="4114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marR="0" rtl="0" algn="l">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marR="0" rtl="0" algn="ctr">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rtl="0" algn="r">
              <a:spcBef>
                <a:spcPts val="0"/>
              </a:spcBef>
              <a:buNone/>
              <a:defRPr b="0" i="0" sz="600" u="none" cap="none" strike="noStrike">
                <a:solidFill>
                  <a:srgbClr val="888888"/>
                </a:solidFill>
                <a:latin typeface="Calibri"/>
                <a:ea typeface="Calibri"/>
                <a:cs typeface="Calibri"/>
                <a:sym typeface="Calibri"/>
              </a:defRPr>
            </a:lvl1pPr>
            <a:lvl2pPr indent="0" lvl="1" marL="0" marR="0" rtl="0" algn="r">
              <a:spcBef>
                <a:spcPts val="0"/>
              </a:spcBef>
              <a:buNone/>
              <a:defRPr b="0" i="0" sz="600" u="none" cap="none" strike="noStrike">
                <a:solidFill>
                  <a:srgbClr val="888888"/>
                </a:solidFill>
                <a:latin typeface="Calibri"/>
                <a:ea typeface="Calibri"/>
                <a:cs typeface="Calibri"/>
                <a:sym typeface="Calibri"/>
              </a:defRPr>
            </a:lvl2pPr>
            <a:lvl3pPr indent="0" lvl="2" marL="0" marR="0" rtl="0" algn="r">
              <a:spcBef>
                <a:spcPts val="0"/>
              </a:spcBef>
              <a:buNone/>
              <a:defRPr b="0" i="0" sz="600" u="none" cap="none" strike="noStrike">
                <a:solidFill>
                  <a:srgbClr val="888888"/>
                </a:solidFill>
                <a:latin typeface="Calibri"/>
                <a:ea typeface="Calibri"/>
                <a:cs typeface="Calibri"/>
                <a:sym typeface="Calibri"/>
              </a:defRPr>
            </a:lvl3pPr>
            <a:lvl4pPr indent="0" lvl="3" marL="0" marR="0" rtl="0" algn="r">
              <a:spcBef>
                <a:spcPts val="0"/>
              </a:spcBef>
              <a:buNone/>
              <a:defRPr b="0" i="0" sz="600" u="none" cap="none" strike="noStrike">
                <a:solidFill>
                  <a:srgbClr val="888888"/>
                </a:solidFill>
                <a:latin typeface="Calibri"/>
                <a:ea typeface="Calibri"/>
                <a:cs typeface="Calibri"/>
                <a:sym typeface="Calibri"/>
              </a:defRPr>
            </a:lvl4pPr>
            <a:lvl5pPr indent="0" lvl="4" marL="0" marR="0" rtl="0" algn="r">
              <a:spcBef>
                <a:spcPts val="0"/>
              </a:spcBef>
              <a:buNone/>
              <a:defRPr b="0" i="0" sz="600" u="none" cap="none" strike="noStrike">
                <a:solidFill>
                  <a:srgbClr val="888888"/>
                </a:solidFill>
                <a:latin typeface="Calibri"/>
                <a:ea typeface="Calibri"/>
                <a:cs typeface="Calibri"/>
                <a:sym typeface="Calibri"/>
              </a:defRPr>
            </a:lvl5pPr>
            <a:lvl6pPr indent="0" lvl="5" marL="0" marR="0" rtl="0" algn="r">
              <a:spcBef>
                <a:spcPts val="0"/>
              </a:spcBef>
              <a:buNone/>
              <a:defRPr b="0" i="0" sz="600" u="none" cap="none" strike="noStrike">
                <a:solidFill>
                  <a:srgbClr val="888888"/>
                </a:solidFill>
                <a:latin typeface="Calibri"/>
                <a:ea typeface="Calibri"/>
                <a:cs typeface="Calibri"/>
                <a:sym typeface="Calibri"/>
              </a:defRPr>
            </a:lvl6pPr>
            <a:lvl7pPr indent="0" lvl="6" marL="0" marR="0" rtl="0" algn="r">
              <a:spcBef>
                <a:spcPts val="0"/>
              </a:spcBef>
              <a:buNone/>
              <a:defRPr b="0" i="0" sz="600" u="none" cap="none" strike="noStrike">
                <a:solidFill>
                  <a:srgbClr val="888888"/>
                </a:solidFill>
                <a:latin typeface="Calibri"/>
                <a:ea typeface="Calibri"/>
                <a:cs typeface="Calibri"/>
                <a:sym typeface="Calibri"/>
              </a:defRPr>
            </a:lvl7pPr>
            <a:lvl8pPr indent="0" lvl="7" marL="0" marR="0" rtl="0" algn="r">
              <a:spcBef>
                <a:spcPts val="0"/>
              </a:spcBef>
              <a:buNone/>
              <a:defRPr b="0" i="0" sz="600" u="none" cap="none" strike="noStrike">
                <a:solidFill>
                  <a:srgbClr val="888888"/>
                </a:solidFill>
                <a:latin typeface="Calibri"/>
                <a:ea typeface="Calibri"/>
                <a:cs typeface="Calibri"/>
                <a:sym typeface="Calibri"/>
              </a:defRPr>
            </a:lvl8pPr>
            <a:lvl9pPr indent="0" lvl="8" marL="0" marR="0" rtl="0" algn="r">
              <a:spcBef>
                <a:spcPts val="0"/>
              </a:spcBef>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6.png"/><Relationship Id="rId11" Type="http://schemas.openxmlformats.org/officeDocument/2006/relationships/image" Target="../media/image25.png"/><Relationship Id="rId10" Type="http://schemas.openxmlformats.org/officeDocument/2006/relationships/image" Target="../media/image5.png"/><Relationship Id="rId12" Type="http://schemas.openxmlformats.org/officeDocument/2006/relationships/image" Target="../media/image4.png"/><Relationship Id="rId9" Type="http://schemas.openxmlformats.org/officeDocument/2006/relationships/image" Target="../media/image13.png"/><Relationship Id="rId5" Type="http://schemas.openxmlformats.org/officeDocument/2006/relationships/image" Target="../media/image3.png"/><Relationship Id="rId6" Type="http://schemas.openxmlformats.org/officeDocument/2006/relationships/image" Target="../media/image17.png"/><Relationship Id="rId7" Type="http://schemas.openxmlformats.org/officeDocument/2006/relationships/image" Target="../media/image2.png"/><Relationship Id="rId8"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14.png"/><Relationship Id="rId9"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23.png"/><Relationship Id="rId7" Type="http://schemas.openxmlformats.org/officeDocument/2006/relationships/image" Target="../media/image12.png"/><Relationship Id="rId8"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7.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33.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3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2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3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3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2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txBox="1"/>
          <p:nvPr/>
        </p:nvSpPr>
        <p:spPr>
          <a:xfrm>
            <a:off x="2018216" y="931539"/>
            <a:ext cx="5107500" cy="66510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1" lang="en" sz="1800">
                <a:solidFill>
                  <a:srgbClr val="404040"/>
                </a:solidFill>
              </a:rPr>
              <a:t>Impact of Key Factors on CSK Team Success </a:t>
            </a:r>
            <a:endParaRPr b="1" sz="1800">
              <a:solidFill>
                <a:srgbClr val="404040"/>
              </a:solidFill>
            </a:endParaRPr>
          </a:p>
          <a:p>
            <a:pPr indent="0" lvl="0" marL="0" marR="0" rtl="0" algn="ctr">
              <a:lnSpc>
                <a:spcPct val="140011"/>
              </a:lnSpc>
              <a:spcBef>
                <a:spcPts val="0"/>
              </a:spcBef>
              <a:spcAft>
                <a:spcPts val="0"/>
              </a:spcAft>
              <a:buNone/>
            </a:pPr>
            <a:r>
              <a:rPr b="1" lang="en" sz="1800">
                <a:solidFill>
                  <a:srgbClr val="404040"/>
                </a:solidFill>
              </a:rPr>
              <a:t>in India’s Cricket Sport League - IPL</a:t>
            </a:r>
            <a:endParaRPr b="1" sz="1800">
              <a:solidFill>
                <a:srgbClr val="404040"/>
              </a:solidFill>
            </a:endParaRPr>
          </a:p>
        </p:txBody>
      </p:sp>
      <p:sp>
        <p:nvSpPr>
          <p:cNvPr id="130" name="Google Shape;130;p25"/>
          <p:cNvSpPr txBox="1"/>
          <p:nvPr/>
        </p:nvSpPr>
        <p:spPr>
          <a:xfrm>
            <a:off x="6838355" y="3785942"/>
            <a:ext cx="1791300" cy="1112400"/>
          </a:xfrm>
          <a:prstGeom prst="rect">
            <a:avLst/>
          </a:prstGeom>
          <a:noFill/>
          <a:ln>
            <a:noFill/>
          </a:ln>
        </p:spPr>
        <p:txBody>
          <a:bodyPr anchorCtr="0" anchor="t" bIns="0" lIns="0" spcFirstLastPara="1" rIns="0" wrap="square" tIns="0">
            <a:spAutoFit/>
          </a:bodyPr>
          <a:lstStyle/>
          <a:p>
            <a:pPr indent="0" lvl="0" marL="0" marR="0" rtl="0" algn="r">
              <a:lnSpc>
                <a:spcPct val="122011"/>
              </a:lnSpc>
              <a:spcBef>
                <a:spcPts val="0"/>
              </a:spcBef>
              <a:spcAft>
                <a:spcPts val="0"/>
              </a:spcAft>
              <a:buNone/>
            </a:pPr>
            <a:r>
              <a:rPr b="1" i="0" lang="en" sz="900" u="none" cap="none" strike="noStrike">
                <a:solidFill>
                  <a:srgbClr val="000000"/>
                </a:solidFill>
              </a:rPr>
              <a:t>PRESENTED BY</a:t>
            </a:r>
            <a:endParaRPr b="1" sz="700"/>
          </a:p>
          <a:p>
            <a:pPr indent="0" lvl="0" marL="0" marR="0" rtl="0" algn="r">
              <a:lnSpc>
                <a:spcPct val="122011"/>
              </a:lnSpc>
              <a:spcBef>
                <a:spcPts val="0"/>
              </a:spcBef>
              <a:spcAft>
                <a:spcPts val="0"/>
              </a:spcAft>
              <a:buNone/>
            </a:pPr>
            <a:r>
              <a:t/>
            </a:r>
            <a:endParaRPr b="0" i="0" sz="900" u="none" cap="none" strike="noStrike">
              <a:solidFill>
                <a:srgbClr val="000000"/>
              </a:solidFill>
              <a:latin typeface="Arial"/>
              <a:ea typeface="Arial"/>
              <a:cs typeface="Arial"/>
              <a:sym typeface="Arial"/>
            </a:endParaRPr>
          </a:p>
          <a:p>
            <a:pPr indent="0" lvl="0" marL="0" marR="0" rtl="0" algn="r">
              <a:lnSpc>
                <a:spcPct val="152988"/>
              </a:lnSpc>
              <a:spcBef>
                <a:spcPts val="0"/>
              </a:spcBef>
              <a:spcAft>
                <a:spcPts val="0"/>
              </a:spcAft>
              <a:buNone/>
            </a:pPr>
            <a:r>
              <a:rPr lang="en" sz="900"/>
              <a:t>Sai Ashok Madugula</a:t>
            </a:r>
            <a:endParaRPr sz="700"/>
          </a:p>
          <a:p>
            <a:pPr indent="0" lvl="0" marL="0" marR="0" rtl="0" algn="r">
              <a:lnSpc>
                <a:spcPct val="152988"/>
              </a:lnSpc>
              <a:spcBef>
                <a:spcPts val="0"/>
              </a:spcBef>
              <a:spcAft>
                <a:spcPts val="0"/>
              </a:spcAft>
              <a:buNone/>
            </a:pPr>
            <a:r>
              <a:rPr lang="en" sz="900"/>
              <a:t>Tanisha Kishan</a:t>
            </a:r>
            <a:endParaRPr sz="700"/>
          </a:p>
          <a:p>
            <a:pPr indent="0" lvl="0" marL="0" marR="0" rtl="0" algn="r">
              <a:lnSpc>
                <a:spcPct val="152988"/>
              </a:lnSpc>
              <a:spcBef>
                <a:spcPts val="0"/>
              </a:spcBef>
              <a:spcAft>
                <a:spcPts val="0"/>
              </a:spcAft>
              <a:buNone/>
            </a:pPr>
            <a:r>
              <a:rPr lang="en" sz="900"/>
              <a:t>Dheeraj Kumar Kusuma</a:t>
            </a:r>
            <a:endParaRPr sz="700"/>
          </a:p>
          <a:p>
            <a:pPr indent="0" lvl="0" marL="0" marR="0" rtl="0" algn="r">
              <a:lnSpc>
                <a:spcPct val="152988"/>
              </a:lnSpc>
              <a:spcBef>
                <a:spcPts val="0"/>
              </a:spcBef>
              <a:spcAft>
                <a:spcPts val="0"/>
              </a:spcAft>
              <a:buNone/>
            </a:pPr>
            <a:r>
              <a:rPr lang="en" sz="900"/>
              <a:t>Shamsheer Hussain Syed</a:t>
            </a:r>
            <a:endParaRPr b="0" i="0" sz="900" u="none" cap="none" strike="noStrike">
              <a:solidFill>
                <a:srgbClr val="000000"/>
              </a:solidFill>
              <a:latin typeface="Arial"/>
              <a:ea typeface="Arial"/>
              <a:cs typeface="Arial"/>
              <a:sym typeface="Arial"/>
            </a:endParaRPr>
          </a:p>
        </p:txBody>
      </p:sp>
      <p:sp>
        <p:nvSpPr>
          <p:cNvPr id="131" name="Google Shape;131;p25"/>
          <p:cNvSpPr txBox="1"/>
          <p:nvPr/>
        </p:nvSpPr>
        <p:spPr>
          <a:xfrm>
            <a:off x="514350" y="4118190"/>
            <a:ext cx="3256200" cy="645600"/>
          </a:xfrm>
          <a:prstGeom prst="rect">
            <a:avLst/>
          </a:prstGeom>
          <a:noFill/>
          <a:ln>
            <a:noFill/>
          </a:ln>
        </p:spPr>
        <p:txBody>
          <a:bodyPr anchorCtr="0" anchor="t" bIns="0" lIns="0" spcFirstLastPara="1" rIns="0" wrap="square" tIns="0">
            <a:spAutoFit/>
          </a:bodyPr>
          <a:lstStyle/>
          <a:p>
            <a:pPr indent="0" lvl="0" marL="0" marR="0" rtl="0" algn="l">
              <a:lnSpc>
                <a:spcPct val="122011"/>
              </a:lnSpc>
              <a:spcBef>
                <a:spcPts val="0"/>
              </a:spcBef>
              <a:spcAft>
                <a:spcPts val="0"/>
              </a:spcAft>
              <a:buNone/>
            </a:pPr>
            <a:r>
              <a:rPr b="0" i="0" lang="en" sz="900" u="none" cap="none" strike="noStrike">
                <a:solidFill>
                  <a:srgbClr val="000000"/>
                </a:solidFill>
                <a:latin typeface="Arial"/>
                <a:ea typeface="Arial"/>
                <a:cs typeface="Arial"/>
                <a:sym typeface="Arial"/>
              </a:rPr>
              <a:t>Mechanical and Industrial Engineering Department</a:t>
            </a:r>
            <a:endParaRPr sz="700"/>
          </a:p>
          <a:p>
            <a:pPr indent="0" lvl="0" marL="0" marR="0" rtl="0" algn="l">
              <a:lnSpc>
                <a:spcPct val="122011"/>
              </a:lnSpc>
              <a:spcBef>
                <a:spcPts val="0"/>
              </a:spcBef>
              <a:spcAft>
                <a:spcPts val="0"/>
              </a:spcAft>
              <a:buNone/>
            </a:pPr>
            <a:r>
              <a:rPr b="0" i="0" lang="en" sz="900" u="none" cap="none" strike="noStrike">
                <a:solidFill>
                  <a:srgbClr val="000000"/>
                </a:solidFill>
                <a:latin typeface="Arial"/>
                <a:ea typeface="Arial"/>
                <a:cs typeface="Arial"/>
                <a:sym typeface="Arial"/>
              </a:rPr>
              <a:t>IE 6200: Engineering Probability and Statistics</a:t>
            </a:r>
            <a:endParaRPr sz="700"/>
          </a:p>
          <a:p>
            <a:pPr indent="0" lvl="0" marL="0" marR="0" rtl="0" algn="l">
              <a:lnSpc>
                <a:spcPct val="122011"/>
              </a:lnSpc>
              <a:spcBef>
                <a:spcPts val="0"/>
              </a:spcBef>
              <a:spcAft>
                <a:spcPts val="0"/>
              </a:spcAft>
              <a:buNone/>
            </a:pPr>
            <a:r>
              <a:rPr b="0" i="0" lang="en" sz="900" u="none" cap="none" strike="noStrike">
                <a:solidFill>
                  <a:srgbClr val="000000"/>
                </a:solidFill>
                <a:latin typeface="Arial"/>
                <a:ea typeface="Arial"/>
                <a:cs typeface="Arial"/>
                <a:sym typeface="Arial"/>
              </a:rPr>
              <a:t>Prof. Rehab Ali</a:t>
            </a:r>
            <a:endParaRPr sz="700"/>
          </a:p>
          <a:p>
            <a:pPr indent="0" lvl="0" marL="0" marR="0" rtl="0" algn="l">
              <a:lnSpc>
                <a:spcPct val="122011"/>
              </a:lnSpc>
              <a:spcBef>
                <a:spcPts val="0"/>
              </a:spcBef>
              <a:spcAft>
                <a:spcPts val="0"/>
              </a:spcAft>
              <a:buNone/>
            </a:pPr>
            <a:r>
              <a:rPr b="0" i="0" lang="en" sz="900" u="none" cap="none" strike="noStrike">
                <a:solidFill>
                  <a:srgbClr val="000000"/>
                </a:solidFill>
                <a:latin typeface="Arial"/>
                <a:ea typeface="Arial"/>
                <a:cs typeface="Arial"/>
                <a:sym typeface="Arial"/>
              </a:rPr>
              <a:t>Sec </a:t>
            </a:r>
            <a:r>
              <a:rPr lang="en" sz="900"/>
              <a:t>05</a:t>
            </a:r>
            <a:r>
              <a:rPr b="0" i="0" lang="en" sz="900" u="none" cap="none" strike="noStrike">
                <a:solidFill>
                  <a:srgbClr val="000000"/>
                </a:solidFill>
                <a:latin typeface="Arial"/>
                <a:ea typeface="Arial"/>
                <a:cs typeface="Arial"/>
                <a:sym typeface="Arial"/>
              </a:rPr>
              <a:t>- </a:t>
            </a:r>
            <a:r>
              <a:rPr lang="en" sz="900"/>
              <a:t>Spring</a:t>
            </a:r>
            <a:r>
              <a:rPr b="0" i="0" lang="en" sz="900" u="none" cap="none" strike="noStrike">
                <a:solidFill>
                  <a:srgbClr val="000000"/>
                </a:solidFill>
                <a:latin typeface="Arial"/>
                <a:ea typeface="Arial"/>
                <a:cs typeface="Arial"/>
                <a:sym typeface="Arial"/>
              </a:rPr>
              <a:t> 202</a:t>
            </a:r>
            <a:r>
              <a:rPr lang="en" sz="900"/>
              <a:t>5</a:t>
            </a:r>
            <a:endParaRPr sz="700"/>
          </a:p>
        </p:txBody>
      </p:sp>
      <p:grpSp>
        <p:nvGrpSpPr>
          <p:cNvPr id="132" name="Google Shape;132;p25"/>
          <p:cNvGrpSpPr/>
          <p:nvPr/>
        </p:nvGrpSpPr>
        <p:grpSpPr>
          <a:xfrm>
            <a:off x="0" y="5060139"/>
            <a:ext cx="9144000" cy="97649"/>
            <a:chOff x="0" y="-9525"/>
            <a:chExt cx="5051911" cy="51437"/>
          </a:xfrm>
        </p:grpSpPr>
        <p:sp>
          <p:nvSpPr>
            <p:cNvPr id="133" name="Google Shape;133;p25"/>
            <p:cNvSpPr/>
            <p:nvPr/>
          </p:nvSpPr>
          <p:spPr>
            <a:xfrm>
              <a:off x="0" y="0"/>
              <a:ext cx="5051911" cy="41912"/>
            </a:xfrm>
            <a:custGeom>
              <a:rect b="b" l="l" r="r" t="t"/>
              <a:pathLst>
                <a:path extrusionOk="0" h="41912" w="5051911">
                  <a:moveTo>
                    <a:pt x="0" y="0"/>
                  </a:moveTo>
                  <a:lnTo>
                    <a:pt x="5051911" y="0"/>
                  </a:lnTo>
                  <a:lnTo>
                    <a:pt x="5051911" y="41912"/>
                  </a:lnTo>
                  <a:lnTo>
                    <a:pt x="0" y="41912"/>
                  </a:lnTo>
                  <a:close/>
                </a:path>
              </a:pathLst>
            </a:custGeom>
            <a:solidFill>
              <a:srgbClr val="F35C19"/>
            </a:solid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134" name="Google Shape;134;p25"/>
            <p:cNvSpPr txBox="1"/>
            <p:nvPr/>
          </p:nvSpPr>
          <p:spPr>
            <a:xfrm>
              <a:off x="0" y="-9525"/>
              <a:ext cx="5051911" cy="51437"/>
            </a:xfrm>
            <a:prstGeom prst="rect">
              <a:avLst/>
            </a:prstGeom>
            <a:solidFill>
              <a:srgbClr val="F35C19"/>
            </a:solidFill>
            <a:ln>
              <a:noFill/>
            </a:ln>
          </p:spPr>
          <p:txBody>
            <a:bodyPr anchorCtr="0" anchor="ctr" bIns="25400" lIns="25400" spcFirstLastPara="1" rIns="25400" wrap="square" tIns="25400">
              <a:noAutofit/>
            </a:bodyPr>
            <a:lstStyle/>
            <a:p>
              <a:pPr indent="0" lvl="0" marL="0" marR="0" rtl="0" algn="ctr">
                <a:lnSpc>
                  <a:spcPct val="155888"/>
                </a:lnSpc>
                <a:spcBef>
                  <a:spcPts val="0"/>
                </a:spcBef>
                <a:spcAft>
                  <a:spcPts val="0"/>
                </a:spcAft>
                <a:buNone/>
              </a:pPr>
              <a:r>
                <a:t/>
              </a:r>
              <a:endParaRPr sz="900">
                <a:solidFill>
                  <a:schemeClr val="dk1"/>
                </a:solidFill>
                <a:latin typeface="Calibri"/>
                <a:ea typeface="Calibri"/>
                <a:cs typeface="Calibri"/>
                <a:sym typeface="Calibri"/>
              </a:endParaRPr>
            </a:p>
          </p:txBody>
        </p:sp>
      </p:grpSp>
      <p:pic>
        <p:nvPicPr>
          <p:cNvPr id="135" name="Google Shape;135;p25"/>
          <p:cNvPicPr preferRelativeResize="0"/>
          <p:nvPr/>
        </p:nvPicPr>
        <p:blipFill rotWithShape="1">
          <a:blip r:embed="rId3">
            <a:alphaModFix/>
          </a:blip>
          <a:srcRect b="0" l="0" r="0" t="0"/>
          <a:stretch/>
        </p:blipFill>
        <p:spPr>
          <a:xfrm>
            <a:off x="390500" y="328875"/>
            <a:ext cx="997775" cy="997825"/>
          </a:xfrm>
          <a:prstGeom prst="rect">
            <a:avLst/>
          </a:prstGeom>
          <a:noFill/>
          <a:ln>
            <a:noFill/>
          </a:ln>
        </p:spPr>
      </p:pic>
      <p:pic>
        <p:nvPicPr>
          <p:cNvPr id="136" name="Google Shape;136;p25"/>
          <p:cNvPicPr preferRelativeResize="0"/>
          <p:nvPr/>
        </p:nvPicPr>
        <p:blipFill rotWithShape="1">
          <a:blip r:embed="rId4">
            <a:alphaModFix/>
          </a:blip>
          <a:srcRect b="0" l="0" r="0" t="0"/>
          <a:stretch/>
        </p:blipFill>
        <p:spPr>
          <a:xfrm>
            <a:off x="3468974" y="1883747"/>
            <a:ext cx="2086866" cy="172166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grpSp>
        <p:nvGrpSpPr>
          <p:cNvPr id="141" name="Google Shape;141;p26"/>
          <p:cNvGrpSpPr/>
          <p:nvPr/>
        </p:nvGrpSpPr>
        <p:grpSpPr>
          <a:xfrm>
            <a:off x="0" y="5060139"/>
            <a:ext cx="9144120" cy="97648"/>
            <a:chOff x="0" y="-9525"/>
            <a:chExt cx="5052000" cy="51437"/>
          </a:xfrm>
        </p:grpSpPr>
        <p:sp>
          <p:nvSpPr>
            <p:cNvPr id="142" name="Google Shape;142;p26"/>
            <p:cNvSpPr/>
            <p:nvPr/>
          </p:nvSpPr>
          <p:spPr>
            <a:xfrm>
              <a:off x="0" y="0"/>
              <a:ext cx="5051911" cy="41912"/>
            </a:xfrm>
            <a:custGeom>
              <a:rect b="b" l="l" r="r" t="t"/>
              <a:pathLst>
                <a:path extrusionOk="0" h="41912" w="5051911">
                  <a:moveTo>
                    <a:pt x="0" y="0"/>
                  </a:moveTo>
                  <a:lnTo>
                    <a:pt x="5051911" y="0"/>
                  </a:lnTo>
                  <a:lnTo>
                    <a:pt x="5051911" y="41912"/>
                  </a:lnTo>
                  <a:lnTo>
                    <a:pt x="0" y="41912"/>
                  </a:lnTo>
                  <a:close/>
                </a:path>
              </a:pathLst>
            </a:custGeom>
            <a:solidFill>
              <a:srgbClr val="F35C19"/>
            </a:solid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143" name="Google Shape;143;p26"/>
            <p:cNvSpPr txBox="1"/>
            <p:nvPr/>
          </p:nvSpPr>
          <p:spPr>
            <a:xfrm>
              <a:off x="0" y="-9525"/>
              <a:ext cx="5052000" cy="51300"/>
            </a:xfrm>
            <a:prstGeom prst="rect">
              <a:avLst/>
            </a:prstGeom>
            <a:solidFill>
              <a:srgbClr val="F35C19"/>
            </a:solidFill>
            <a:ln>
              <a:noFill/>
            </a:ln>
          </p:spPr>
          <p:txBody>
            <a:bodyPr anchorCtr="0" anchor="ctr" bIns="25400" lIns="25400" spcFirstLastPara="1" rIns="25400" wrap="square" tIns="25400">
              <a:noAutofit/>
            </a:bodyPr>
            <a:lstStyle/>
            <a:p>
              <a:pPr indent="0" lvl="0" marL="0" marR="0" rtl="0" algn="ctr">
                <a:lnSpc>
                  <a:spcPct val="155888"/>
                </a:lnSpc>
                <a:spcBef>
                  <a:spcPts val="0"/>
                </a:spcBef>
                <a:spcAft>
                  <a:spcPts val="0"/>
                </a:spcAft>
                <a:buNone/>
              </a:pPr>
              <a:r>
                <a:t/>
              </a:r>
              <a:endParaRPr sz="900">
                <a:solidFill>
                  <a:schemeClr val="dk1"/>
                </a:solidFill>
                <a:latin typeface="Calibri"/>
                <a:ea typeface="Calibri"/>
                <a:cs typeface="Calibri"/>
                <a:sym typeface="Calibri"/>
              </a:endParaRPr>
            </a:p>
          </p:txBody>
        </p:sp>
      </p:grpSp>
      <p:sp>
        <p:nvSpPr>
          <p:cNvPr id="144" name="Google Shape;144;p26"/>
          <p:cNvSpPr txBox="1"/>
          <p:nvPr/>
        </p:nvSpPr>
        <p:spPr>
          <a:xfrm>
            <a:off x="5585125" y="822625"/>
            <a:ext cx="3576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145" name="Google Shape;145;p26"/>
          <p:cNvSpPr txBox="1"/>
          <p:nvPr/>
        </p:nvSpPr>
        <p:spPr>
          <a:xfrm>
            <a:off x="3186550" y="3195200"/>
            <a:ext cx="4987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146" name="Google Shape;146;p26"/>
          <p:cNvSpPr txBox="1"/>
          <p:nvPr/>
        </p:nvSpPr>
        <p:spPr>
          <a:xfrm>
            <a:off x="315950" y="176825"/>
            <a:ext cx="5948700" cy="431100"/>
          </a:xfrm>
          <a:prstGeom prst="rect">
            <a:avLst/>
          </a:prstGeom>
          <a:noFill/>
          <a:ln>
            <a:noFill/>
          </a:ln>
        </p:spPr>
        <p:txBody>
          <a:bodyPr anchorCtr="0" anchor="t" bIns="91425" lIns="91425" spcFirstLastPara="1" rIns="91425" wrap="square" tIns="91425">
            <a:spAutoFit/>
          </a:bodyPr>
          <a:lstStyle/>
          <a:p>
            <a:pPr indent="0" lvl="0" marL="0" rtl="0" algn="l">
              <a:lnSpc>
                <a:spcPct val="107916"/>
              </a:lnSpc>
              <a:spcBef>
                <a:spcPts val="0"/>
              </a:spcBef>
              <a:spcAft>
                <a:spcPts val="800"/>
              </a:spcAft>
              <a:buNone/>
            </a:pPr>
            <a:r>
              <a:rPr b="1" lang="en" sz="1600">
                <a:solidFill>
                  <a:schemeClr val="dk1"/>
                </a:solidFill>
                <a:latin typeface="Calibri"/>
                <a:ea typeface="Calibri"/>
                <a:cs typeface="Calibri"/>
                <a:sym typeface="Calibri"/>
              </a:rPr>
              <a:t>AGENDA</a:t>
            </a:r>
            <a:endParaRPr b="1" sz="1600">
              <a:solidFill>
                <a:schemeClr val="dk1"/>
              </a:solidFill>
              <a:latin typeface="Calibri"/>
              <a:ea typeface="Calibri"/>
              <a:cs typeface="Calibri"/>
              <a:sym typeface="Calibri"/>
            </a:endParaRPr>
          </a:p>
        </p:txBody>
      </p:sp>
      <p:sp>
        <p:nvSpPr>
          <p:cNvPr id="147" name="Google Shape;147;p26"/>
          <p:cNvSpPr/>
          <p:nvPr/>
        </p:nvSpPr>
        <p:spPr>
          <a:xfrm>
            <a:off x="621650" y="860100"/>
            <a:ext cx="442800" cy="3918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1</a:t>
            </a:r>
            <a:endParaRPr>
              <a:latin typeface="Calibri"/>
              <a:ea typeface="Calibri"/>
              <a:cs typeface="Calibri"/>
              <a:sym typeface="Calibri"/>
            </a:endParaRPr>
          </a:p>
        </p:txBody>
      </p:sp>
      <p:sp>
        <p:nvSpPr>
          <p:cNvPr id="148" name="Google Shape;148;p26"/>
          <p:cNvSpPr/>
          <p:nvPr/>
        </p:nvSpPr>
        <p:spPr>
          <a:xfrm>
            <a:off x="1174750" y="860100"/>
            <a:ext cx="2768400" cy="3918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INTRODUCTION</a:t>
            </a:r>
            <a:endParaRPr>
              <a:latin typeface="Calibri"/>
              <a:ea typeface="Calibri"/>
              <a:cs typeface="Calibri"/>
              <a:sym typeface="Calibri"/>
            </a:endParaRPr>
          </a:p>
        </p:txBody>
      </p:sp>
      <p:sp>
        <p:nvSpPr>
          <p:cNvPr id="149" name="Google Shape;149;p26"/>
          <p:cNvSpPr/>
          <p:nvPr/>
        </p:nvSpPr>
        <p:spPr>
          <a:xfrm>
            <a:off x="621650" y="1369550"/>
            <a:ext cx="442800" cy="3918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2</a:t>
            </a:r>
            <a:endParaRPr>
              <a:latin typeface="Calibri"/>
              <a:ea typeface="Calibri"/>
              <a:cs typeface="Calibri"/>
              <a:sym typeface="Calibri"/>
            </a:endParaRPr>
          </a:p>
        </p:txBody>
      </p:sp>
      <p:sp>
        <p:nvSpPr>
          <p:cNvPr id="150" name="Google Shape;150;p26"/>
          <p:cNvSpPr/>
          <p:nvPr/>
        </p:nvSpPr>
        <p:spPr>
          <a:xfrm>
            <a:off x="1174750" y="1369550"/>
            <a:ext cx="2768400" cy="3918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PROBLEM STATEMENT</a:t>
            </a:r>
            <a:endParaRPr>
              <a:latin typeface="Calibri"/>
              <a:ea typeface="Calibri"/>
              <a:cs typeface="Calibri"/>
              <a:sym typeface="Calibri"/>
            </a:endParaRPr>
          </a:p>
        </p:txBody>
      </p:sp>
      <p:sp>
        <p:nvSpPr>
          <p:cNvPr id="151" name="Google Shape;151;p26"/>
          <p:cNvSpPr/>
          <p:nvPr/>
        </p:nvSpPr>
        <p:spPr>
          <a:xfrm>
            <a:off x="644500" y="1879000"/>
            <a:ext cx="442800" cy="3918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3</a:t>
            </a:r>
            <a:endParaRPr>
              <a:latin typeface="Calibri"/>
              <a:ea typeface="Calibri"/>
              <a:cs typeface="Calibri"/>
              <a:sym typeface="Calibri"/>
            </a:endParaRPr>
          </a:p>
        </p:txBody>
      </p:sp>
      <p:sp>
        <p:nvSpPr>
          <p:cNvPr id="152" name="Google Shape;152;p26"/>
          <p:cNvSpPr/>
          <p:nvPr/>
        </p:nvSpPr>
        <p:spPr>
          <a:xfrm>
            <a:off x="1197600" y="1879000"/>
            <a:ext cx="2768400" cy="3918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DATASET </a:t>
            </a:r>
            <a:endParaRPr>
              <a:latin typeface="Calibri"/>
              <a:ea typeface="Calibri"/>
              <a:cs typeface="Calibri"/>
              <a:sym typeface="Calibri"/>
            </a:endParaRPr>
          </a:p>
        </p:txBody>
      </p:sp>
      <p:sp>
        <p:nvSpPr>
          <p:cNvPr id="153" name="Google Shape;153;p26"/>
          <p:cNvSpPr/>
          <p:nvPr/>
        </p:nvSpPr>
        <p:spPr>
          <a:xfrm>
            <a:off x="644500" y="2388450"/>
            <a:ext cx="442800" cy="3918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4</a:t>
            </a:r>
            <a:endParaRPr>
              <a:latin typeface="Calibri"/>
              <a:ea typeface="Calibri"/>
              <a:cs typeface="Calibri"/>
              <a:sym typeface="Calibri"/>
            </a:endParaRPr>
          </a:p>
        </p:txBody>
      </p:sp>
      <p:sp>
        <p:nvSpPr>
          <p:cNvPr id="154" name="Google Shape;154;p26"/>
          <p:cNvSpPr/>
          <p:nvPr/>
        </p:nvSpPr>
        <p:spPr>
          <a:xfrm>
            <a:off x="1197600" y="2388450"/>
            <a:ext cx="2768400" cy="3918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DATA VISUALIZATION</a:t>
            </a:r>
            <a:endParaRPr>
              <a:latin typeface="Calibri"/>
              <a:ea typeface="Calibri"/>
              <a:cs typeface="Calibri"/>
              <a:sym typeface="Calibri"/>
            </a:endParaRPr>
          </a:p>
        </p:txBody>
      </p:sp>
      <p:sp>
        <p:nvSpPr>
          <p:cNvPr id="155" name="Google Shape;155;p26"/>
          <p:cNvSpPr/>
          <p:nvPr/>
        </p:nvSpPr>
        <p:spPr>
          <a:xfrm>
            <a:off x="644500" y="2897900"/>
            <a:ext cx="442800" cy="3918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5</a:t>
            </a:r>
            <a:endParaRPr>
              <a:latin typeface="Calibri"/>
              <a:ea typeface="Calibri"/>
              <a:cs typeface="Calibri"/>
              <a:sym typeface="Calibri"/>
            </a:endParaRPr>
          </a:p>
        </p:txBody>
      </p:sp>
      <p:sp>
        <p:nvSpPr>
          <p:cNvPr id="156" name="Google Shape;156;p26"/>
          <p:cNvSpPr/>
          <p:nvPr/>
        </p:nvSpPr>
        <p:spPr>
          <a:xfrm>
            <a:off x="1197600" y="2897900"/>
            <a:ext cx="2768400" cy="3918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STATISTICAL ANALYSIS</a:t>
            </a:r>
            <a:endParaRPr>
              <a:latin typeface="Calibri"/>
              <a:ea typeface="Calibri"/>
              <a:cs typeface="Calibri"/>
              <a:sym typeface="Calibri"/>
            </a:endParaRPr>
          </a:p>
        </p:txBody>
      </p:sp>
      <p:sp>
        <p:nvSpPr>
          <p:cNvPr id="157" name="Google Shape;157;p26"/>
          <p:cNvSpPr/>
          <p:nvPr/>
        </p:nvSpPr>
        <p:spPr>
          <a:xfrm>
            <a:off x="667350" y="3407350"/>
            <a:ext cx="442800" cy="3918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6</a:t>
            </a:r>
            <a:endParaRPr>
              <a:latin typeface="Calibri"/>
              <a:ea typeface="Calibri"/>
              <a:cs typeface="Calibri"/>
              <a:sym typeface="Calibri"/>
            </a:endParaRPr>
          </a:p>
        </p:txBody>
      </p:sp>
      <p:sp>
        <p:nvSpPr>
          <p:cNvPr id="158" name="Google Shape;158;p26"/>
          <p:cNvSpPr/>
          <p:nvPr/>
        </p:nvSpPr>
        <p:spPr>
          <a:xfrm>
            <a:off x="1220450" y="3407350"/>
            <a:ext cx="2768400" cy="3918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KEY RESULTS</a:t>
            </a:r>
            <a:endParaRPr>
              <a:latin typeface="Calibri"/>
              <a:ea typeface="Calibri"/>
              <a:cs typeface="Calibri"/>
              <a:sym typeface="Calibri"/>
            </a:endParaRPr>
          </a:p>
        </p:txBody>
      </p:sp>
      <p:sp>
        <p:nvSpPr>
          <p:cNvPr id="159" name="Google Shape;159;p26"/>
          <p:cNvSpPr/>
          <p:nvPr/>
        </p:nvSpPr>
        <p:spPr>
          <a:xfrm>
            <a:off x="667350" y="3916800"/>
            <a:ext cx="442800" cy="3918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7</a:t>
            </a:r>
            <a:endParaRPr>
              <a:latin typeface="Calibri"/>
              <a:ea typeface="Calibri"/>
              <a:cs typeface="Calibri"/>
              <a:sym typeface="Calibri"/>
            </a:endParaRPr>
          </a:p>
        </p:txBody>
      </p:sp>
      <p:sp>
        <p:nvSpPr>
          <p:cNvPr id="160" name="Google Shape;160;p26"/>
          <p:cNvSpPr/>
          <p:nvPr/>
        </p:nvSpPr>
        <p:spPr>
          <a:xfrm>
            <a:off x="1220450" y="3916800"/>
            <a:ext cx="2768400" cy="3918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LIMITATIONS AND FUTURE SCOPE</a:t>
            </a:r>
            <a:endParaRPr>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7"/>
          <p:cNvSpPr txBox="1"/>
          <p:nvPr/>
        </p:nvSpPr>
        <p:spPr>
          <a:xfrm>
            <a:off x="1569055" y="1192892"/>
            <a:ext cx="1472400" cy="107700"/>
          </a:xfrm>
          <a:prstGeom prst="rect">
            <a:avLst/>
          </a:prstGeom>
          <a:noFill/>
          <a:ln>
            <a:noFill/>
          </a:ln>
        </p:spPr>
        <p:txBody>
          <a:bodyPr anchorCtr="0" anchor="t" bIns="0" lIns="0" spcFirstLastPara="1" rIns="0" wrap="square" tIns="0">
            <a:spAutoFit/>
          </a:bodyPr>
          <a:lstStyle/>
          <a:p>
            <a:pPr indent="0" lvl="0" marL="0" marR="0" rtl="0" algn="l">
              <a:lnSpc>
                <a:spcPct val="121967"/>
              </a:lnSpc>
              <a:spcBef>
                <a:spcPts val="0"/>
              </a:spcBef>
              <a:spcAft>
                <a:spcPts val="0"/>
              </a:spcAft>
              <a:buNone/>
            </a:pPr>
            <a:r>
              <a:t/>
            </a:r>
            <a:endParaRPr sz="700"/>
          </a:p>
        </p:txBody>
      </p:sp>
      <p:grpSp>
        <p:nvGrpSpPr>
          <p:cNvPr id="166" name="Google Shape;166;p27"/>
          <p:cNvGrpSpPr/>
          <p:nvPr/>
        </p:nvGrpSpPr>
        <p:grpSpPr>
          <a:xfrm>
            <a:off x="0" y="5060139"/>
            <a:ext cx="9144120" cy="97648"/>
            <a:chOff x="0" y="-9525"/>
            <a:chExt cx="5052000" cy="51437"/>
          </a:xfrm>
        </p:grpSpPr>
        <p:sp>
          <p:nvSpPr>
            <p:cNvPr id="167" name="Google Shape;167;p27"/>
            <p:cNvSpPr/>
            <p:nvPr/>
          </p:nvSpPr>
          <p:spPr>
            <a:xfrm>
              <a:off x="0" y="0"/>
              <a:ext cx="5051911" cy="41912"/>
            </a:xfrm>
            <a:custGeom>
              <a:rect b="b" l="l" r="r" t="t"/>
              <a:pathLst>
                <a:path extrusionOk="0" h="41912" w="5051911">
                  <a:moveTo>
                    <a:pt x="0" y="0"/>
                  </a:moveTo>
                  <a:lnTo>
                    <a:pt x="5051911" y="0"/>
                  </a:lnTo>
                  <a:lnTo>
                    <a:pt x="5051911" y="41912"/>
                  </a:lnTo>
                  <a:lnTo>
                    <a:pt x="0" y="41912"/>
                  </a:lnTo>
                  <a:close/>
                </a:path>
              </a:pathLst>
            </a:custGeom>
            <a:solidFill>
              <a:srgbClr val="F35C19"/>
            </a:solid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168" name="Google Shape;168;p27"/>
            <p:cNvSpPr txBox="1"/>
            <p:nvPr/>
          </p:nvSpPr>
          <p:spPr>
            <a:xfrm>
              <a:off x="0" y="-9525"/>
              <a:ext cx="5052000" cy="51300"/>
            </a:xfrm>
            <a:prstGeom prst="rect">
              <a:avLst/>
            </a:prstGeom>
            <a:solidFill>
              <a:srgbClr val="F35C19"/>
            </a:solidFill>
            <a:ln>
              <a:noFill/>
            </a:ln>
          </p:spPr>
          <p:txBody>
            <a:bodyPr anchorCtr="0" anchor="ctr" bIns="25400" lIns="25400" spcFirstLastPara="1" rIns="25400" wrap="square" tIns="25400">
              <a:noAutofit/>
            </a:bodyPr>
            <a:lstStyle/>
            <a:p>
              <a:pPr indent="0" lvl="0" marL="0" marR="0" rtl="0" algn="ctr">
                <a:lnSpc>
                  <a:spcPct val="155888"/>
                </a:lnSpc>
                <a:spcBef>
                  <a:spcPts val="0"/>
                </a:spcBef>
                <a:spcAft>
                  <a:spcPts val="0"/>
                </a:spcAft>
                <a:buNone/>
              </a:pPr>
              <a:r>
                <a:t/>
              </a:r>
              <a:endParaRPr sz="900">
                <a:solidFill>
                  <a:schemeClr val="dk1"/>
                </a:solidFill>
                <a:latin typeface="Calibri"/>
                <a:ea typeface="Calibri"/>
                <a:cs typeface="Calibri"/>
                <a:sym typeface="Calibri"/>
              </a:endParaRPr>
            </a:p>
          </p:txBody>
        </p:sp>
      </p:grpSp>
      <p:sp>
        <p:nvSpPr>
          <p:cNvPr id="169" name="Google Shape;169;p27"/>
          <p:cNvSpPr txBox="1"/>
          <p:nvPr/>
        </p:nvSpPr>
        <p:spPr>
          <a:xfrm>
            <a:off x="2078300" y="2325450"/>
            <a:ext cx="49875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200">
                <a:solidFill>
                  <a:schemeClr val="dk1"/>
                </a:solidFill>
                <a:latin typeface="Calibri"/>
                <a:ea typeface="Calibri"/>
                <a:cs typeface="Calibri"/>
                <a:sym typeface="Calibri"/>
              </a:rPr>
              <a:t>INTRODUCTION</a:t>
            </a:r>
            <a:endParaRPr b="1" sz="2200">
              <a:solidFill>
                <a:schemeClr val="dk1"/>
              </a:solidFill>
              <a:latin typeface="Calibri"/>
              <a:ea typeface="Calibri"/>
              <a:cs typeface="Calibri"/>
              <a:sym typeface="Calibri"/>
            </a:endParaRPr>
          </a:p>
        </p:txBody>
      </p:sp>
      <p:sp>
        <p:nvSpPr>
          <p:cNvPr id="170" name="Google Shape;170;p27"/>
          <p:cNvSpPr txBox="1"/>
          <p:nvPr/>
        </p:nvSpPr>
        <p:spPr>
          <a:xfrm>
            <a:off x="5585125" y="822625"/>
            <a:ext cx="3576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171" name="Google Shape;171;p27"/>
          <p:cNvSpPr txBox="1"/>
          <p:nvPr/>
        </p:nvSpPr>
        <p:spPr>
          <a:xfrm>
            <a:off x="3186550" y="3195200"/>
            <a:ext cx="4987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6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grpSp>
        <p:nvGrpSpPr>
          <p:cNvPr id="176" name="Google Shape;176;p28"/>
          <p:cNvGrpSpPr/>
          <p:nvPr/>
        </p:nvGrpSpPr>
        <p:grpSpPr>
          <a:xfrm>
            <a:off x="0" y="5060139"/>
            <a:ext cx="9144120" cy="97648"/>
            <a:chOff x="0" y="-9525"/>
            <a:chExt cx="5052000" cy="51437"/>
          </a:xfrm>
        </p:grpSpPr>
        <p:sp>
          <p:nvSpPr>
            <p:cNvPr id="177" name="Google Shape;177;p28"/>
            <p:cNvSpPr/>
            <p:nvPr/>
          </p:nvSpPr>
          <p:spPr>
            <a:xfrm>
              <a:off x="0" y="0"/>
              <a:ext cx="5051911" cy="41912"/>
            </a:xfrm>
            <a:custGeom>
              <a:rect b="b" l="l" r="r" t="t"/>
              <a:pathLst>
                <a:path extrusionOk="0" h="41912" w="5051911">
                  <a:moveTo>
                    <a:pt x="0" y="0"/>
                  </a:moveTo>
                  <a:lnTo>
                    <a:pt x="5051911" y="0"/>
                  </a:lnTo>
                  <a:lnTo>
                    <a:pt x="5051911" y="41912"/>
                  </a:lnTo>
                  <a:lnTo>
                    <a:pt x="0" y="41912"/>
                  </a:lnTo>
                  <a:close/>
                </a:path>
              </a:pathLst>
            </a:custGeom>
            <a:solidFill>
              <a:srgbClr val="F35C19"/>
            </a:solid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178" name="Google Shape;178;p28"/>
            <p:cNvSpPr txBox="1"/>
            <p:nvPr/>
          </p:nvSpPr>
          <p:spPr>
            <a:xfrm>
              <a:off x="0" y="-9525"/>
              <a:ext cx="5052000" cy="51300"/>
            </a:xfrm>
            <a:prstGeom prst="rect">
              <a:avLst/>
            </a:prstGeom>
            <a:solidFill>
              <a:srgbClr val="F35C19"/>
            </a:solidFill>
            <a:ln>
              <a:noFill/>
            </a:ln>
          </p:spPr>
          <p:txBody>
            <a:bodyPr anchorCtr="0" anchor="ctr" bIns="25400" lIns="25400" spcFirstLastPara="1" rIns="25400" wrap="square" tIns="25400">
              <a:noAutofit/>
            </a:bodyPr>
            <a:lstStyle/>
            <a:p>
              <a:pPr indent="0" lvl="0" marL="0" marR="0" rtl="0" algn="ctr">
                <a:lnSpc>
                  <a:spcPct val="155888"/>
                </a:lnSpc>
                <a:spcBef>
                  <a:spcPts val="0"/>
                </a:spcBef>
                <a:spcAft>
                  <a:spcPts val="0"/>
                </a:spcAft>
                <a:buNone/>
              </a:pPr>
              <a:r>
                <a:t/>
              </a:r>
              <a:endParaRPr sz="900">
                <a:solidFill>
                  <a:schemeClr val="dk1"/>
                </a:solidFill>
                <a:latin typeface="Calibri"/>
                <a:ea typeface="Calibri"/>
                <a:cs typeface="Calibri"/>
                <a:sym typeface="Calibri"/>
              </a:endParaRPr>
            </a:p>
          </p:txBody>
        </p:sp>
      </p:grpSp>
      <p:pic>
        <p:nvPicPr>
          <p:cNvPr id="179" name="Google Shape;179;p28"/>
          <p:cNvPicPr preferRelativeResize="0"/>
          <p:nvPr/>
        </p:nvPicPr>
        <p:blipFill>
          <a:blip r:embed="rId3">
            <a:alphaModFix/>
          </a:blip>
          <a:stretch>
            <a:fillRect/>
          </a:stretch>
        </p:blipFill>
        <p:spPr>
          <a:xfrm>
            <a:off x="4987613" y="1622533"/>
            <a:ext cx="3564649" cy="2298906"/>
          </a:xfrm>
          <a:prstGeom prst="rect">
            <a:avLst/>
          </a:prstGeom>
          <a:noFill/>
          <a:ln>
            <a:noFill/>
          </a:ln>
        </p:spPr>
      </p:pic>
      <p:sp>
        <p:nvSpPr>
          <p:cNvPr id="180" name="Google Shape;180;p28"/>
          <p:cNvSpPr/>
          <p:nvPr/>
        </p:nvSpPr>
        <p:spPr>
          <a:xfrm>
            <a:off x="578400" y="875500"/>
            <a:ext cx="37731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800">
                <a:solidFill>
                  <a:schemeClr val="dk1"/>
                </a:solidFill>
                <a:latin typeface="Calibri"/>
                <a:ea typeface="Calibri"/>
                <a:cs typeface="Calibri"/>
                <a:sym typeface="Calibri"/>
              </a:rPr>
              <a:t>1 vs 11 – Bat, Bowl, Win: </a:t>
            </a:r>
            <a:r>
              <a:rPr lang="en" sz="800">
                <a:solidFill>
                  <a:schemeClr val="dk1"/>
                </a:solidFill>
                <a:latin typeface="Calibri"/>
                <a:ea typeface="Calibri"/>
                <a:cs typeface="Calibri"/>
                <a:sym typeface="Calibri"/>
              </a:rPr>
              <a:t>Cricket is played between two teams of 11 players each. One team bats to score runs while the other bowls and fields to restrict them. The team with the most runs wins!</a:t>
            </a:r>
            <a:endParaRPr sz="800">
              <a:solidFill>
                <a:schemeClr val="dk1"/>
              </a:solidFill>
              <a:latin typeface="Calibri"/>
              <a:ea typeface="Calibri"/>
              <a:cs typeface="Calibri"/>
              <a:sym typeface="Calibri"/>
            </a:endParaRPr>
          </a:p>
        </p:txBody>
      </p:sp>
      <p:sp>
        <p:nvSpPr>
          <p:cNvPr id="181" name="Google Shape;181;p28"/>
          <p:cNvSpPr/>
          <p:nvPr/>
        </p:nvSpPr>
        <p:spPr>
          <a:xfrm>
            <a:off x="578400" y="1496275"/>
            <a:ext cx="37731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800">
                <a:solidFill>
                  <a:schemeClr val="dk1"/>
                </a:solidFill>
                <a:latin typeface="Calibri"/>
                <a:ea typeface="Calibri"/>
                <a:cs typeface="Calibri"/>
                <a:sym typeface="Calibri"/>
              </a:rPr>
              <a:t>India's Obsession: </a:t>
            </a:r>
            <a:r>
              <a:rPr lang="en" sz="800">
                <a:solidFill>
                  <a:schemeClr val="dk1"/>
                </a:solidFill>
                <a:latin typeface="Calibri"/>
                <a:ea typeface="Calibri"/>
                <a:cs typeface="Calibri"/>
                <a:sym typeface="Calibri"/>
              </a:rPr>
              <a:t>In India, cricket is more than a sport—it's an emotion. With over 90% of sports fans following cricket, stadiums roar, streets pause, and households unite for every major match.</a:t>
            </a:r>
            <a:endParaRPr sz="800">
              <a:solidFill>
                <a:schemeClr val="dk1"/>
              </a:solidFill>
              <a:latin typeface="Calibri"/>
              <a:ea typeface="Calibri"/>
              <a:cs typeface="Calibri"/>
              <a:sym typeface="Calibri"/>
            </a:endParaRPr>
          </a:p>
        </p:txBody>
      </p:sp>
      <p:sp>
        <p:nvSpPr>
          <p:cNvPr id="182" name="Google Shape;182;p28"/>
          <p:cNvSpPr/>
          <p:nvPr/>
        </p:nvSpPr>
        <p:spPr>
          <a:xfrm>
            <a:off x="578400" y="2117050"/>
            <a:ext cx="37731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800">
                <a:solidFill>
                  <a:schemeClr val="dk1"/>
                </a:solidFill>
                <a:latin typeface="Calibri"/>
                <a:ea typeface="Calibri"/>
                <a:cs typeface="Calibri"/>
                <a:sym typeface="Calibri"/>
              </a:rPr>
              <a:t>Global Fame: </a:t>
            </a:r>
            <a:r>
              <a:rPr lang="en" sz="800">
                <a:solidFill>
                  <a:schemeClr val="dk1"/>
                </a:solidFill>
                <a:latin typeface="Calibri"/>
                <a:ea typeface="Calibri"/>
                <a:cs typeface="Calibri"/>
                <a:sym typeface="Calibri"/>
              </a:rPr>
              <a:t>Played in over 100 countries, cricket has strongholds in nations like England, Australia, South Africa, Pakistan, and Bangladesh. It unites cultures through World Cups, Tests, and global rivalries.</a:t>
            </a:r>
            <a:endParaRPr sz="800">
              <a:solidFill>
                <a:schemeClr val="dk1"/>
              </a:solidFill>
              <a:latin typeface="Calibri"/>
              <a:ea typeface="Calibri"/>
              <a:cs typeface="Calibri"/>
              <a:sym typeface="Calibri"/>
            </a:endParaRPr>
          </a:p>
        </p:txBody>
      </p:sp>
      <p:sp>
        <p:nvSpPr>
          <p:cNvPr id="183" name="Google Shape;183;p28"/>
          <p:cNvSpPr/>
          <p:nvPr/>
        </p:nvSpPr>
        <p:spPr>
          <a:xfrm>
            <a:off x="578400" y="2737825"/>
            <a:ext cx="37731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800">
                <a:solidFill>
                  <a:schemeClr val="dk1"/>
                </a:solidFill>
                <a:latin typeface="Calibri"/>
                <a:ea typeface="Calibri"/>
                <a:cs typeface="Calibri"/>
                <a:sym typeface="Calibri"/>
              </a:rPr>
              <a:t>Billions Watch Worldwide: </a:t>
            </a:r>
            <a:r>
              <a:rPr lang="en" sz="800">
                <a:solidFill>
                  <a:schemeClr val="dk1"/>
                </a:solidFill>
                <a:latin typeface="Calibri"/>
                <a:ea typeface="Calibri"/>
                <a:cs typeface="Calibri"/>
                <a:sym typeface="Calibri"/>
              </a:rPr>
              <a:t>Cricket matches draw over 2.5 billion global viewers, making it the second most-watched sport after football. The 2023 ODI World Cup alone saw record-breaking digital and TV viewership.</a:t>
            </a:r>
            <a:endParaRPr sz="800">
              <a:solidFill>
                <a:schemeClr val="dk1"/>
              </a:solidFill>
              <a:latin typeface="Calibri"/>
              <a:ea typeface="Calibri"/>
              <a:cs typeface="Calibri"/>
              <a:sym typeface="Calibri"/>
            </a:endParaRPr>
          </a:p>
        </p:txBody>
      </p:sp>
      <p:sp>
        <p:nvSpPr>
          <p:cNvPr id="184" name="Google Shape;184;p28"/>
          <p:cNvSpPr/>
          <p:nvPr/>
        </p:nvSpPr>
        <p:spPr>
          <a:xfrm>
            <a:off x="578400" y="3358600"/>
            <a:ext cx="37731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800">
                <a:solidFill>
                  <a:schemeClr val="dk1"/>
                </a:solidFill>
                <a:latin typeface="Calibri"/>
                <a:ea typeface="Calibri"/>
                <a:cs typeface="Calibri"/>
                <a:sym typeface="Calibri"/>
              </a:rPr>
              <a:t>Cricket in the Olympics (2028):</a:t>
            </a:r>
            <a:r>
              <a:rPr lang="en" sz="800">
                <a:solidFill>
                  <a:schemeClr val="dk1"/>
                </a:solidFill>
                <a:latin typeface="Calibri"/>
                <a:ea typeface="Calibri"/>
                <a:cs typeface="Calibri"/>
                <a:sym typeface="Calibri"/>
              </a:rPr>
              <a:t> Cricket is set to return to the Olympics in 2028 (Los Angeles), boosting its global appeal and reach.</a:t>
            </a:r>
            <a:endParaRPr sz="800">
              <a:solidFill>
                <a:schemeClr val="dk1"/>
              </a:solidFill>
              <a:latin typeface="Calibri"/>
              <a:ea typeface="Calibri"/>
              <a:cs typeface="Calibri"/>
              <a:sym typeface="Calibri"/>
            </a:endParaRPr>
          </a:p>
        </p:txBody>
      </p:sp>
      <p:sp>
        <p:nvSpPr>
          <p:cNvPr id="185" name="Google Shape;185;p28"/>
          <p:cNvSpPr txBox="1"/>
          <p:nvPr/>
        </p:nvSpPr>
        <p:spPr>
          <a:xfrm>
            <a:off x="315950" y="176825"/>
            <a:ext cx="5948700" cy="431100"/>
          </a:xfrm>
          <a:prstGeom prst="rect">
            <a:avLst/>
          </a:prstGeom>
          <a:noFill/>
          <a:ln>
            <a:noFill/>
          </a:ln>
        </p:spPr>
        <p:txBody>
          <a:bodyPr anchorCtr="0" anchor="t" bIns="91425" lIns="91425" spcFirstLastPara="1" rIns="91425" wrap="square" tIns="91425">
            <a:spAutoFit/>
          </a:bodyPr>
          <a:lstStyle/>
          <a:p>
            <a:pPr indent="0" lvl="0" marL="0" rtl="0" algn="l">
              <a:lnSpc>
                <a:spcPct val="107916"/>
              </a:lnSpc>
              <a:spcBef>
                <a:spcPts val="0"/>
              </a:spcBef>
              <a:spcAft>
                <a:spcPts val="800"/>
              </a:spcAft>
              <a:buNone/>
            </a:pPr>
            <a:r>
              <a:rPr b="1" lang="en" sz="1600">
                <a:solidFill>
                  <a:schemeClr val="dk1"/>
                </a:solidFill>
                <a:latin typeface="Calibri"/>
                <a:ea typeface="Calibri"/>
                <a:cs typeface="Calibri"/>
                <a:sym typeface="Calibri"/>
              </a:rPr>
              <a:t>CRICKET</a:t>
            </a:r>
            <a:endParaRPr b="1" sz="1600">
              <a:solidFill>
                <a:schemeClr val="dk1"/>
              </a:solidFill>
              <a:latin typeface="Calibri"/>
              <a:ea typeface="Calibri"/>
              <a:cs typeface="Calibri"/>
              <a:sym typeface="Calibri"/>
            </a:endParaRPr>
          </a:p>
        </p:txBody>
      </p:sp>
      <p:sp>
        <p:nvSpPr>
          <p:cNvPr id="186" name="Google Shape;186;p28"/>
          <p:cNvSpPr/>
          <p:nvPr/>
        </p:nvSpPr>
        <p:spPr>
          <a:xfrm>
            <a:off x="578400" y="3979375"/>
            <a:ext cx="37731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800">
                <a:solidFill>
                  <a:schemeClr val="dk1"/>
                </a:solidFill>
                <a:latin typeface="Calibri"/>
                <a:ea typeface="Calibri"/>
                <a:cs typeface="Calibri"/>
                <a:sym typeface="Calibri"/>
              </a:rPr>
              <a:t>IPL – Revolutionizing the Game: </a:t>
            </a:r>
            <a:r>
              <a:rPr lang="en" sz="800">
                <a:solidFill>
                  <a:schemeClr val="dk1"/>
                </a:solidFill>
                <a:latin typeface="Calibri"/>
                <a:ea typeface="Calibri"/>
                <a:cs typeface="Calibri"/>
                <a:sym typeface="Calibri"/>
              </a:rPr>
              <a:t>The IPL transformed cricket with player auctions, global icons, franchise drama, and strategic depth. It introduced cheerleaders, music, and matchday glam—bringing cricket to entertainment’s center stage.</a:t>
            </a:r>
            <a:endParaRPr sz="800">
              <a:solidFill>
                <a:schemeClr val="dk1"/>
              </a:solidFill>
              <a:latin typeface="Calibri"/>
              <a:ea typeface="Calibri"/>
              <a:cs typeface="Calibri"/>
              <a:sym typeface="Calibri"/>
            </a:endParaRPr>
          </a:p>
        </p:txBody>
      </p:sp>
      <p:sp>
        <p:nvSpPr>
          <p:cNvPr id="187" name="Google Shape;187;p28"/>
          <p:cNvSpPr/>
          <p:nvPr/>
        </p:nvSpPr>
        <p:spPr>
          <a:xfrm>
            <a:off x="4987613" y="1181788"/>
            <a:ext cx="1137000" cy="311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Calibri"/>
                <a:ea typeface="Calibri"/>
                <a:cs typeface="Calibri"/>
                <a:sym typeface="Calibri"/>
              </a:rPr>
              <a:t>International</a:t>
            </a:r>
            <a:endParaRPr sz="1200">
              <a:latin typeface="Calibri"/>
              <a:ea typeface="Calibri"/>
              <a:cs typeface="Calibri"/>
              <a:sym typeface="Calibri"/>
            </a:endParaRPr>
          </a:p>
        </p:txBody>
      </p:sp>
      <p:sp>
        <p:nvSpPr>
          <p:cNvPr id="188" name="Google Shape;188;p28"/>
          <p:cNvSpPr/>
          <p:nvPr/>
        </p:nvSpPr>
        <p:spPr>
          <a:xfrm>
            <a:off x="6221044" y="1181788"/>
            <a:ext cx="1097700" cy="311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Calibri"/>
                <a:ea typeface="Calibri"/>
                <a:cs typeface="Calibri"/>
                <a:sym typeface="Calibri"/>
              </a:rPr>
              <a:t>Domestic</a:t>
            </a:r>
            <a:endParaRPr sz="1200">
              <a:latin typeface="Calibri"/>
              <a:ea typeface="Calibri"/>
              <a:cs typeface="Calibri"/>
              <a:sym typeface="Calibri"/>
            </a:endParaRPr>
          </a:p>
        </p:txBody>
      </p:sp>
      <p:sp>
        <p:nvSpPr>
          <p:cNvPr id="189" name="Google Shape;189;p28"/>
          <p:cNvSpPr/>
          <p:nvPr/>
        </p:nvSpPr>
        <p:spPr>
          <a:xfrm>
            <a:off x="7415260" y="1181788"/>
            <a:ext cx="1097700" cy="311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Calibri"/>
                <a:ea typeface="Calibri"/>
                <a:cs typeface="Calibri"/>
                <a:sym typeface="Calibri"/>
              </a:rPr>
              <a:t>Leagues</a:t>
            </a:r>
            <a:endParaRPr sz="1200">
              <a:latin typeface="Calibri"/>
              <a:ea typeface="Calibri"/>
              <a:cs typeface="Calibri"/>
              <a:sym typeface="Calibri"/>
            </a:endParaRPr>
          </a:p>
        </p:txBody>
      </p:sp>
      <p:sp>
        <p:nvSpPr>
          <p:cNvPr id="190" name="Google Shape;190;p28"/>
          <p:cNvSpPr/>
          <p:nvPr/>
        </p:nvSpPr>
        <p:spPr>
          <a:xfrm>
            <a:off x="4987613" y="4018285"/>
            <a:ext cx="721200" cy="311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Calibri"/>
                <a:ea typeface="Calibri"/>
                <a:cs typeface="Calibri"/>
                <a:sym typeface="Calibri"/>
              </a:rPr>
              <a:t>Test</a:t>
            </a:r>
            <a:endParaRPr sz="1200">
              <a:latin typeface="Calibri"/>
              <a:ea typeface="Calibri"/>
              <a:cs typeface="Calibri"/>
              <a:sym typeface="Calibri"/>
            </a:endParaRPr>
          </a:p>
        </p:txBody>
      </p:sp>
      <p:sp>
        <p:nvSpPr>
          <p:cNvPr id="191" name="Google Shape;191;p28"/>
          <p:cNvSpPr/>
          <p:nvPr/>
        </p:nvSpPr>
        <p:spPr>
          <a:xfrm>
            <a:off x="5817996" y="4018285"/>
            <a:ext cx="792600" cy="311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Calibri"/>
                <a:ea typeface="Calibri"/>
                <a:cs typeface="Calibri"/>
                <a:sym typeface="Calibri"/>
              </a:rPr>
              <a:t>50 Overs</a:t>
            </a:r>
            <a:endParaRPr sz="1200">
              <a:latin typeface="Calibri"/>
              <a:ea typeface="Calibri"/>
              <a:cs typeface="Calibri"/>
              <a:sym typeface="Calibri"/>
            </a:endParaRPr>
          </a:p>
        </p:txBody>
      </p:sp>
      <p:sp>
        <p:nvSpPr>
          <p:cNvPr id="192" name="Google Shape;192;p28"/>
          <p:cNvSpPr/>
          <p:nvPr/>
        </p:nvSpPr>
        <p:spPr>
          <a:xfrm>
            <a:off x="6719925" y="4018285"/>
            <a:ext cx="478800" cy="311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Calibri"/>
                <a:ea typeface="Calibri"/>
                <a:cs typeface="Calibri"/>
                <a:sym typeface="Calibri"/>
              </a:rPr>
              <a:t>T20</a:t>
            </a:r>
            <a:endParaRPr sz="1200">
              <a:latin typeface="Calibri"/>
              <a:ea typeface="Calibri"/>
              <a:cs typeface="Calibri"/>
              <a:sym typeface="Calibri"/>
            </a:endParaRPr>
          </a:p>
        </p:txBody>
      </p:sp>
      <p:sp>
        <p:nvSpPr>
          <p:cNvPr id="193" name="Google Shape;193;p28"/>
          <p:cNvSpPr/>
          <p:nvPr/>
        </p:nvSpPr>
        <p:spPr>
          <a:xfrm>
            <a:off x="7308044" y="4018285"/>
            <a:ext cx="1244400" cy="311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Calibri"/>
                <a:ea typeface="Calibri"/>
                <a:cs typeface="Calibri"/>
                <a:sym typeface="Calibri"/>
              </a:rPr>
              <a:t>IPL</a:t>
            </a:r>
            <a:endParaRPr sz="1200">
              <a:latin typeface="Calibri"/>
              <a:ea typeface="Calibri"/>
              <a:cs typeface="Calibri"/>
              <a:sym typeface="Calibri"/>
            </a:endParaRPr>
          </a:p>
        </p:txBody>
      </p:sp>
      <p:sp>
        <p:nvSpPr>
          <p:cNvPr id="194" name="Google Shape;194;p28"/>
          <p:cNvSpPr txBox="1"/>
          <p:nvPr/>
        </p:nvSpPr>
        <p:spPr>
          <a:xfrm>
            <a:off x="4751775" y="493900"/>
            <a:ext cx="4036500" cy="68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latin typeface="Calibri"/>
                <a:ea typeface="Calibri"/>
                <a:cs typeface="Calibri"/>
                <a:sym typeface="Calibri"/>
              </a:rPr>
              <a:t>From Backyard to Big Leagues: Cricket is played in many formats—from timeless Tests to thrilling T20s. Whether it’s international battles, domestic rivalries, or the high-octane IPL, the spirit of the game starts young and echoes across every level.</a:t>
            </a:r>
            <a:endParaRPr sz="9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grpSp>
        <p:nvGrpSpPr>
          <p:cNvPr id="199" name="Google Shape;199;p29"/>
          <p:cNvGrpSpPr/>
          <p:nvPr/>
        </p:nvGrpSpPr>
        <p:grpSpPr>
          <a:xfrm>
            <a:off x="0" y="5060139"/>
            <a:ext cx="9144120" cy="97648"/>
            <a:chOff x="0" y="-9525"/>
            <a:chExt cx="5052000" cy="51437"/>
          </a:xfrm>
        </p:grpSpPr>
        <p:sp>
          <p:nvSpPr>
            <p:cNvPr id="200" name="Google Shape;200;p29"/>
            <p:cNvSpPr/>
            <p:nvPr/>
          </p:nvSpPr>
          <p:spPr>
            <a:xfrm>
              <a:off x="0" y="0"/>
              <a:ext cx="5051911" cy="41912"/>
            </a:xfrm>
            <a:custGeom>
              <a:rect b="b" l="l" r="r" t="t"/>
              <a:pathLst>
                <a:path extrusionOk="0" h="41912" w="5051911">
                  <a:moveTo>
                    <a:pt x="0" y="0"/>
                  </a:moveTo>
                  <a:lnTo>
                    <a:pt x="5051911" y="0"/>
                  </a:lnTo>
                  <a:lnTo>
                    <a:pt x="5051911" y="41912"/>
                  </a:lnTo>
                  <a:lnTo>
                    <a:pt x="0" y="41912"/>
                  </a:lnTo>
                  <a:close/>
                </a:path>
              </a:pathLst>
            </a:custGeom>
            <a:solidFill>
              <a:srgbClr val="F35C19"/>
            </a:solid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01" name="Google Shape;201;p29"/>
            <p:cNvSpPr txBox="1"/>
            <p:nvPr/>
          </p:nvSpPr>
          <p:spPr>
            <a:xfrm>
              <a:off x="0" y="-9525"/>
              <a:ext cx="5052000" cy="51300"/>
            </a:xfrm>
            <a:prstGeom prst="rect">
              <a:avLst/>
            </a:prstGeom>
            <a:solidFill>
              <a:srgbClr val="F35C19"/>
            </a:solidFill>
            <a:ln>
              <a:noFill/>
            </a:ln>
          </p:spPr>
          <p:txBody>
            <a:bodyPr anchorCtr="0" anchor="ctr" bIns="25400" lIns="25400" spcFirstLastPara="1" rIns="25400" wrap="square" tIns="25400">
              <a:noAutofit/>
            </a:bodyPr>
            <a:lstStyle/>
            <a:p>
              <a:pPr indent="0" lvl="0" marL="0" marR="0" rtl="0" algn="ctr">
                <a:lnSpc>
                  <a:spcPct val="155888"/>
                </a:lnSpc>
                <a:spcBef>
                  <a:spcPts val="0"/>
                </a:spcBef>
                <a:spcAft>
                  <a:spcPts val="0"/>
                </a:spcAft>
                <a:buNone/>
              </a:pPr>
              <a:r>
                <a:t/>
              </a:r>
              <a:endParaRPr sz="900">
                <a:solidFill>
                  <a:schemeClr val="dk1"/>
                </a:solidFill>
                <a:latin typeface="Calibri"/>
                <a:ea typeface="Calibri"/>
                <a:cs typeface="Calibri"/>
                <a:sym typeface="Calibri"/>
              </a:endParaRPr>
            </a:p>
          </p:txBody>
        </p:sp>
      </p:grpSp>
      <p:pic>
        <p:nvPicPr>
          <p:cNvPr id="202" name="Google Shape;202;p29"/>
          <p:cNvPicPr preferRelativeResize="0"/>
          <p:nvPr/>
        </p:nvPicPr>
        <p:blipFill rotWithShape="1">
          <a:blip r:embed="rId3">
            <a:alphaModFix/>
          </a:blip>
          <a:srcRect b="1613" l="0" r="0" t="0"/>
          <a:stretch/>
        </p:blipFill>
        <p:spPr>
          <a:xfrm>
            <a:off x="0" y="0"/>
            <a:ext cx="9144125" cy="50601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grpSp>
        <p:nvGrpSpPr>
          <p:cNvPr id="207" name="Google Shape;207;p30"/>
          <p:cNvGrpSpPr/>
          <p:nvPr/>
        </p:nvGrpSpPr>
        <p:grpSpPr>
          <a:xfrm>
            <a:off x="0" y="5060139"/>
            <a:ext cx="9144120" cy="97648"/>
            <a:chOff x="0" y="-9525"/>
            <a:chExt cx="5052000" cy="51437"/>
          </a:xfrm>
        </p:grpSpPr>
        <p:sp>
          <p:nvSpPr>
            <p:cNvPr id="208" name="Google Shape;208;p30"/>
            <p:cNvSpPr/>
            <p:nvPr/>
          </p:nvSpPr>
          <p:spPr>
            <a:xfrm>
              <a:off x="0" y="0"/>
              <a:ext cx="5051911" cy="41912"/>
            </a:xfrm>
            <a:custGeom>
              <a:rect b="b" l="l" r="r" t="t"/>
              <a:pathLst>
                <a:path extrusionOk="0" h="41912" w="5051911">
                  <a:moveTo>
                    <a:pt x="0" y="0"/>
                  </a:moveTo>
                  <a:lnTo>
                    <a:pt x="5051911" y="0"/>
                  </a:lnTo>
                  <a:lnTo>
                    <a:pt x="5051911" y="41912"/>
                  </a:lnTo>
                  <a:lnTo>
                    <a:pt x="0" y="41912"/>
                  </a:lnTo>
                  <a:close/>
                </a:path>
              </a:pathLst>
            </a:custGeom>
            <a:solidFill>
              <a:srgbClr val="F35C19"/>
            </a:solid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09" name="Google Shape;209;p30"/>
            <p:cNvSpPr txBox="1"/>
            <p:nvPr/>
          </p:nvSpPr>
          <p:spPr>
            <a:xfrm>
              <a:off x="0" y="-9525"/>
              <a:ext cx="5052000" cy="51300"/>
            </a:xfrm>
            <a:prstGeom prst="rect">
              <a:avLst/>
            </a:prstGeom>
            <a:solidFill>
              <a:srgbClr val="F35C19"/>
            </a:solidFill>
            <a:ln>
              <a:noFill/>
            </a:ln>
          </p:spPr>
          <p:txBody>
            <a:bodyPr anchorCtr="0" anchor="ctr" bIns="25400" lIns="25400" spcFirstLastPara="1" rIns="25400" wrap="square" tIns="25400">
              <a:noAutofit/>
            </a:bodyPr>
            <a:lstStyle/>
            <a:p>
              <a:pPr indent="0" lvl="0" marL="0" marR="0" rtl="0" algn="ctr">
                <a:lnSpc>
                  <a:spcPct val="155888"/>
                </a:lnSpc>
                <a:spcBef>
                  <a:spcPts val="0"/>
                </a:spcBef>
                <a:spcAft>
                  <a:spcPts val="0"/>
                </a:spcAft>
                <a:buNone/>
              </a:pPr>
              <a:r>
                <a:t/>
              </a:r>
              <a:endParaRPr sz="900">
                <a:solidFill>
                  <a:schemeClr val="dk1"/>
                </a:solidFill>
                <a:latin typeface="Calibri"/>
                <a:ea typeface="Calibri"/>
                <a:cs typeface="Calibri"/>
                <a:sym typeface="Calibri"/>
              </a:endParaRPr>
            </a:p>
          </p:txBody>
        </p:sp>
      </p:grpSp>
      <p:sp>
        <p:nvSpPr>
          <p:cNvPr id="210" name="Google Shape;210;p30"/>
          <p:cNvSpPr txBox="1"/>
          <p:nvPr/>
        </p:nvSpPr>
        <p:spPr>
          <a:xfrm>
            <a:off x="1794900" y="2310150"/>
            <a:ext cx="57066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200">
                <a:solidFill>
                  <a:schemeClr val="dk1"/>
                </a:solidFill>
                <a:latin typeface="Calibri"/>
                <a:ea typeface="Calibri"/>
                <a:cs typeface="Calibri"/>
                <a:sym typeface="Calibri"/>
              </a:rPr>
              <a:t>PROBLEM STATEMENT AND PROJECT GOALS</a:t>
            </a:r>
            <a:endParaRPr b="1" sz="22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grpSp>
        <p:nvGrpSpPr>
          <p:cNvPr id="215" name="Google Shape;215;p31"/>
          <p:cNvGrpSpPr/>
          <p:nvPr/>
        </p:nvGrpSpPr>
        <p:grpSpPr>
          <a:xfrm>
            <a:off x="0" y="5060139"/>
            <a:ext cx="9144120" cy="97648"/>
            <a:chOff x="0" y="-9525"/>
            <a:chExt cx="5052000" cy="51437"/>
          </a:xfrm>
        </p:grpSpPr>
        <p:sp>
          <p:nvSpPr>
            <p:cNvPr id="216" name="Google Shape;216;p31"/>
            <p:cNvSpPr/>
            <p:nvPr/>
          </p:nvSpPr>
          <p:spPr>
            <a:xfrm>
              <a:off x="0" y="0"/>
              <a:ext cx="5051911" cy="41912"/>
            </a:xfrm>
            <a:custGeom>
              <a:rect b="b" l="l" r="r" t="t"/>
              <a:pathLst>
                <a:path extrusionOk="0" h="41912" w="5051911">
                  <a:moveTo>
                    <a:pt x="0" y="0"/>
                  </a:moveTo>
                  <a:lnTo>
                    <a:pt x="5051911" y="0"/>
                  </a:lnTo>
                  <a:lnTo>
                    <a:pt x="5051911" y="41912"/>
                  </a:lnTo>
                  <a:lnTo>
                    <a:pt x="0" y="41912"/>
                  </a:lnTo>
                  <a:close/>
                </a:path>
              </a:pathLst>
            </a:custGeom>
            <a:solidFill>
              <a:srgbClr val="F35C19"/>
            </a:solid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17" name="Google Shape;217;p31"/>
            <p:cNvSpPr txBox="1"/>
            <p:nvPr/>
          </p:nvSpPr>
          <p:spPr>
            <a:xfrm>
              <a:off x="0" y="-9525"/>
              <a:ext cx="5052000" cy="51300"/>
            </a:xfrm>
            <a:prstGeom prst="rect">
              <a:avLst/>
            </a:prstGeom>
            <a:solidFill>
              <a:srgbClr val="F35C19"/>
            </a:solidFill>
            <a:ln>
              <a:noFill/>
            </a:ln>
          </p:spPr>
          <p:txBody>
            <a:bodyPr anchorCtr="0" anchor="ctr" bIns="25400" lIns="25400" spcFirstLastPara="1" rIns="25400" wrap="square" tIns="25400">
              <a:noAutofit/>
            </a:bodyPr>
            <a:lstStyle/>
            <a:p>
              <a:pPr indent="0" lvl="0" marL="0" marR="0" rtl="0" algn="ctr">
                <a:lnSpc>
                  <a:spcPct val="155888"/>
                </a:lnSpc>
                <a:spcBef>
                  <a:spcPts val="0"/>
                </a:spcBef>
                <a:spcAft>
                  <a:spcPts val="0"/>
                </a:spcAft>
                <a:buNone/>
              </a:pPr>
              <a:r>
                <a:t/>
              </a:r>
              <a:endParaRPr sz="900">
                <a:solidFill>
                  <a:schemeClr val="dk1"/>
                </a:solidFill>
                <a:latin typeface="Calibri"/>
                <a:ea typeface="Calibri"/>
                <a:cs typeface="Calibri"/>
                <a:sym typeface="Calibri"/>
              </a:endParaRPr>
            </a:p>
          </p:txBody>
        </p:sp>
      </p:grpSp>
      <p:sp>
        <p:nvSpPr>
          <p:cNvPr id="218" name="Google Shape;218;p31"/>
          <p:cNvSpPr txBox="1"/>
          <p:nvPr/>
        </p:nvSpPr>
        <p:spPr>
          <a:xfrm>
            <a:off x="315950" y="176825"/>
            <a:ext cx="5948700" cy="431100"/>
          </a:xfrm>
          <a:prstGeom prst="rect">
            <a:avLst/>
          </a:prstGeom>
          <a:noFill/>
          <a:ln>
            <a:noFill/>
          </a:ln>
        </p:spPr>
        <p:txBody>
          <a:bodyPr anchorCtr="0" anchor="t" bIns="91425" lIns="91425" spcFirstLastPara="1" rIns="91425" wrap="square" tIns="91425">
            <a:spAutoFit/>
          </a:bodyPr>
          <a:lstStyle/>
          <a:p>
            <a:pPr indent="0" lvl="0" marL="0" rtl="0" algn="l">
              <a:lnSpc>
                <a:spcPct val="107916"/>
              </a:lnSpc>
              <a:spcBef>
                <a:spcPts val="0"/>
              </a:spcBef>
              <a:spcAft>
                <a:spcPts val="800"/>
              </a:spcAft>
              <a:buNone/>
            </a:pPr>
            <a:r>
              <a:rPr b="1" lang="en" sz="1600">
                <a:solidFill>
                  <a:schemeClr val="dk1"/>
                </a:solidFill>
                <a:latin typeface="Calibri"/>
                <a:ea typeface="Calibri"/>
                <a:cs typeface="Calibri"/>
                <a:sym typeface="Calibri"/>
              </a:rPr>
              <a:t>PROBLEM STATEMENT</a:t>
            </a:r>
            <a:endParaRPr b="1" sz="1600">
              <a:solidFill>
                <a:schemeClr val="dk1"/>
              </a:solidFill>
              <a:latin typeface="Calibri"/>
              <a:ea typeface="Calibri"/>
              <a:cs typeface="Calibri"/>
              <a:sym typeface="Calibri"/>
            </a:endParaRPr>
          </a:p>
        </p:txBody>
      </p:sp>
      <p:sp>
        <p:nvSpPr>
          <p:cNvPr id="219" name="Google Shape;219;p31"/>
          <p:cNvSpPr/>
          <p:nvPr/>
        </p:nvSpPr>
        <p:spPr>
          <a:xfrm>
            <a:off x="638025" y="1423088"/>
            <a:ext cx="37731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000">
                <a:solidFill>
                  <a:schemeClr val="dk1"/>
                </a:solidFill>
                <a:latin typeface="Calibri"/>
                <a:ea typeface="Calibri"/>
                <a:cs typeface="Calibri"/>
                <a:sym typeface="Calibri"/>
              </a:rPr>
              <a:t>What key factors drive a team’s success or failure in the IPL Cricket across multiple seasons?</a:t>
            </a:r>
            <a:endParaRPr sz="1000">
              <a:solidFill>
                <a:schemeClr val="dk1"/>
              </a:solidFill>
              <a:latin typeface="Calibri"/>
              <a:ea typeface="Calibri"/>
              <a:cs typeface="Calibri"/>
              <a:sym typeface="Calibri"/>
            </a:endParaRPr>
          </a:p>
        </p:txBody>
      </p:sp>
      <p:pic>
        <p:nvPicPr>
          <p:cNvPr id="220" name="Google Shape;220;p31"/>
          <p:cNvPicPr preferRelativeResize="0"/>
          <p:nvPr/>
        </p:nvPicPr>
        <p:blipFill>
          <a:blip r:embed="rId3">
            <a:alphaModFix/>
          </a:blip>
          <a:stretch>
            <a:fillRect/>
          </a:stretch>
        </p:blipFill>
        <p:spPr>
          <a:xfrm>
            <a:off x="5986350" y="1889172"/>
            <a:ext cx="1843776" cy="1152378"/>
          </a:xfrm>
          <a:prstGeom prst="rect">
            <a:avLst/>
          </a:prstGeom>
          <a:noFill/>
          <a:ln>
            <a:noFill/>
          </a:ln>
        </p:spPr>
      </p:pic>
      <p:pic>
        <p:nvPicPr>
          <p:cNvPr id="221" name="Google Shape;221;p31"/>
          <p:cNvPicPr preferRelativeResize="0"/>
          <p:nvPr/>
        </p:nvPicPr>
        <p:blipFill rotWithShape="1">
          <a:blip r:embed="rId4">
            <a:alphaModFix/>
          </a:blip>
          <a:srcRect b="0" l="0" r="0" t="0"/>
          <a:stretch/>
        </p:blipFill>
        <p:spPr>
          <a:xfrm>
            <a:off x="6817300" y="979275"/>
            <a:ext cx="916626" cy="756199"/>
          </a:xfrm>
          <a:prstGeom prst="rect">
            <a:avLst/>
          </a:prstGeom>
          <a:noFill/>
          <a:ln>
            <a:noFill/>
          </a:ln>
        </p:spPr>
      </p:pic>
      <p:pic>
        <p:nvPicPr>
          <p:cNvPr id="222" name="Google Shape;222;p31"/>
          <p:cNvPicPr preferRelativeResize="0"/>
          <p:nvPr/>
        </p:nvPicPr>
        <p:blipFill>
          <a:blip r:embed="rId5">
            <a:alphaModFix/>
          </a:blip>
          <a:stretch>
            <a:fillRect/>
          </a:stretch>
        </p:blipFill>
        <p:spPr>
          <a:xfrm>
            <a:off x="7051899" y="3195247"/>
            <a:ext cx="916626" cy="690527"/>
          </a:xfrm>
          <a:prstGeom prst="rect">
            <a:avLst/>
          </a:prstGeom>
          <a:noFill/>
          <a:ln>
            <a:noFill/>
          </a:ln>
        </p:spPr>
      </p:pic>
      <p:pic>
        <p:nvPicPr>
          <p:cNvPr id="223" name="Google Shape;223;p31"/>
          <p:cNvPicPr preferRelativeResize="0"/>
          <p:nvPr/>
        </p:nvPicPr>
        <p:blipFill>
          <a:blip r:embed="rId6">
            <a:alphaModFix/>
          </a:blip>
          <a:stretch>
            <a:fillRect/>
          </a:stretch>
        </p:blipFill>
        <p:spPr>
          <a:xfrm>
            <a:off x="8048350" y="1401033"/>
            <a:ext cx="830949" cy="523517"/>
          </a:xfrm>
          <a:prstGeom prst="rect">
            <a:avLst/>
          </a:prstGeom>
          <a:noFill/>
          <a:ln>
            <a:noFill/>
          </a:ln>
        </p:spPr>
      </p:pic>
      <p:pic>
        <p:nvPicPr>
          <p:cNvPr id="224" name="Google Shape;224;p31"/>
          <p:cNvPicPr preferRelativeResize="0"/>
          <p:nvPr/>
        </p:nvPicPr>
        <p:blipFill>
          <a:blip r:embed="rId7">
            <a:alphaModFix/>
          </a:blip>
          <a:stretch>
            <a:fillRect/>
          </a:stretch>
        </p:blipFill>
        <p:spPr>
          <a:xfrm>
            <a:off x="8048348" y="2168173"/>
            <a:ext cx="916626" cy="675250"/>
          </a:xfrm>
          <a:prstGeom prst="rect">
            <a:avLst/>
          </a:prstGeom>
          <a:noFill/>
          <a:ln>
            <a:noFill/>
          </a:ln>
        </p:spPr>
      </p:pic>
      <p:pic>
        <p:nvPicPr>
          <p:cNvPr id="225" name="Google Shape;225;p31"/>
          <p:cNvPicPr preferRelativeResize="0"/>
          <p:nvPr/>
        </p:nvPicPr>
        <p:blipFill>
          <a:blip r:embed="rId8">
            <a:alphaModFix/>
          </a:blip>
          <a:stretch>
            <a:fillRect/>
          </a:stretch>
        </p:blipFill>
        <p:spPr>
          <a:xfrm>
            <a:off x="8125075" y="3087050"/>
            <a:ext cx="677499" cy="599014"/>
          </a:xfrm>
          <a:prstGeom prst="rect">
            <a:avLst/>
          </a:prstGeom>
          <a:noFill/>
          <a:ln>
            <a:noFill/>
          </a:ln>
        </p:spPr>
      </p:pic>
      <p:pic>
        <p:nvPicPr>
          <p:cNvPr id="226" name="Google Shape;226;p31"/>
          <p:cNvPicPr preferRelativeResize="0"/>
          <p:nvPr/>
        </p:nvPicPr>
        <p:blipFill>
          <a:blip r:embed="rId9">
            <a:alphaModFix/>
          </a:blip>
          <a:stretch>
            <a:fillRect/>
          </a:stretch>
        </p:blipFill>
        <p:spPr>
          <a:xfrm>
            <a:off x="5182475" y="2639325"/>
            <a:ext cx="677500" cy="1046762"/>
          </a:xfrm>
          <a:prstGeom prst="rect">
            <a:avLst/>
          </a:prstGeom>
          <a:noFill/>
          <a:ln>
            <a:noFill/>
          </a:ln>
        </p:spPr>
      </p:pic>
      <p:pic>
        <p:nvPicPr>
          <p:cNvPr id="227" name="Google Shape;227;p31"/>
          <p:cNvPicPr preferRelativeResize="0"/>
          <p:nvPr/>
        </p:nvPicPr>
        <p:blipFill>
          <a:blip r:embed="rId10">
            <a:alphaModFix/>
          </a:blip>
          <a:stretch>
            <a:fillRect/>
          </a:stretch>
        </p:blipFill>
        <p:spPr>
          <a:xfrm>
            <a:off x="5011350" y="1701725"/>
            <a:ext cx="588876" cy="756200"/>
          </a:xfrm>
          <a:prstGeom prst="rect">
            <a:avLst/>
          </a:prstGeom>
          <a:noFill/>
          <a:ln>
            <a:noFill/>
          </a:ln>
        </p:spPr>
      </p:pic>
      <p:pic>
        <p:nvPicPr>
          <p:cNvPr id="228" name="Google Shape;228;p31"/>
          <p:cNvPicPr preferRelativeResize="0"/>
          <p:nvPr/>
        </p:nvPicPr>
        <p:blipFill>
          <a:blip r:embed="rId11">
            <a:alphaModFix/>
          </a:blip>
          <a:stretch>
            <a:fillRect/>
          </a:stretch>
        </p:blipFill>
        <p:spPr>
          <a:xfrm>
            <a:off x="5428197" y="1060223"/>
            <a:ext cx="1155954" cy="675251"/>
          </a:xfrm>
          <a:prstGeom prst="rect">
            <a:avLst/>
          </a:prstGeom>
          <a:noFill/>
          <a:ln>
            <a:noFill/>
          </a:ln>
        </p:spPr>
      </p:pic>
      <p:pic>
        <p:nvPicPr>
          <p:cNvPr id="229" name="Google Shape;229;p31"/>
          <p:cNvPicPr preferRelativeResize="0"/>
          <p:nvPr/>
        </p:nvPicPr>
        <p:blipFill>
          <a:blip r:embed="rId12">
            <a:alphaModFix/>
          </a:blip>
          <a:stretch>
            <a:fillRect/>
          </a:stretch>
        </p:blipFill>
        <p:spPr>
          <a:xfrm>
            <a:off x="5986350" y="3297450"/>
            <a:ext cx="830950" cy="830950"/>
          </a:xfrm>
          <a:prstGeom prst="rect">
            <a:avLst/>
          </a:prstGeom>
          <a:noFill/>
          <a:ln>
            <a:noFill/>
          </a:ln>
        </p:spPr>
      </p:pic>
      <p:sp>
        <p:nvSpPr>
          <p:cNvPr id="230" name="Google Shape;230;p31"/>
          <p:cNvSpPr/>
          <p:nvPr/>
        </p:nvSpPr>
        <p:spPr>
          <a:xfrm>
            <a:off x="638025" y="2236888"/>
            <a:ext cx="3773100" cy="1194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000">
                <a:solidFill>
                  <a:schemeClr val="dk1"/>
                </a:solidFill>
                <a:latin typeface="Calibri"/>
                <a:ea typeface="Calibri"/>
                <a:cs typeface="Calibri"/>
                <a:sym typeface="Calibri"/>
              </a:rPr>
              <a:t>Despite the </a:t>
            </a:r>
            <a:r>
              <a:rPr b="1" lang="en" sz="1000">
                <a:solidFill>
                  <a:schemeClr val="dk1"/>
                </a:solidFill>
                <a:latin typeface="Calibri"/>
                <a:ea typeface="Calibri"/>
                <a:cs typeface="Calibri"/>
                <a:sym typeface="Calibri"/>
              </a:rPr>
              <a:t>unpredictability of T20 cricket</a:t>
            </a:r>
            <a:r>
              <a:rPr lang="en" sz="1000">
                <a:solidFill>
                  <a:schemeClr val="dk1"/>
                </a:solidFill>
                <a:latin typeface="Calibri"/>
                <a:ea typeface="Calibri"/>
                <a:cs typeface="Calibri"/>
                <a:sym typeface="Calibri"/>
              </a:rPr>
              <a:t>, are there measurable patterns behind consistent success? </a:t>
            </a:r>
            <a:r>
              <a:rPr b="1" lang="en" sz="1000">
                <a:solidFill>
                  <a:schemeClr val="dk1"/>
                </a:solidFill>
                <a:latin typeface="Calibri"/>
                <a:ea typeface="Calibri"/>
                <a:cs typeface="Calibri"/>
                <a:sym typeface="Calibri"/>
              </a:rPr>
              <a:t>This project explores CSK IPL match data from 2020–2024 </a:t>
            </a:r>
            <a:r>
              <a:rPr lang="en" sz="1000">
                <a:solidFill>
                  <a:schemeClr val="dk1"/>
                </a:solidFill>
                <a:latin typeface="Calibri"/>
                <a:ea typeface="Calibri"/>
                <a:cs typeface="Calibri"/>
                <a:sym typeface="Calibri"/>
              </a:rPr>
              <a:t>to uncover performance trends across batting, bowling, toss decisions, venues, and game phases—helping decode what truly drives wins in the IPL.</a:t>
            </a:r>
            <a:endParaRPr sz="10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2"/>
          <p:cNvSpPr/>
          <p:nvPr/>
        </p:nvSpPr>
        <p:spPr>
          <a:xfrm>
            <a:off x="1515138" y="3432600"/>
            <a:ext cx="61137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chemeClr val="dk1"/>
                </a:solidFill>
                <a:latin typeface="Calibri"/>
                <a:ea typeface="Calibri"/>
                <a:cs typeface="Calibri"/>
                <a:sym typeface="Calibri"/>
              </a:rPr>
              <a:t>Extract actionable insights:</a:t>
            </a:r>
            <a:r>
              <a:rPr lang="en" sz="1000">
                <a:solidFill>
                  <a:schemeClr val="dk1"/>
                </a:solidFill>
                <a:latin typeface="Calibri"/>
                <a:ea typeface="Calibri"/>
                <a:cs typeface="Calibri"/>
                <a:sym typeface="Calibri"/>
              </a:rPr>
              <a:t> Turn data findings into clear strategies to improve decision-making in future matches.</a:t>
            </a:r>
            <a:endParaRPr sz="1000">
              <a:solidFill>
                <a:schemeClr val="dk1"/>
              </a:solidFill>
              <a:latin typeface="Calibri"/>
              <a:ea typeface="Calibri"/>
              <a:cs typeface="Calibri"/>
              <a:sym typeface="Calibri"/>
            </a:endParaRPr>
          </a:p>
        </p:txBody>
      </p:sp>
      <p:grpSp>
        <p:nvGrpSpPr>
          <p:cNvPr id="236" name="Google Shape;236;p32"/>
          <p:cNvGrpSpPr/>
          <p:nvPr/>
        </p:nvGrpSpPr>
        <p:grpSpPr>
          <a:xfrm>
            <a:off x="0" y="5060139"/>
            <a:ext cx="9144120" cy="97648"/>
            <a:chOff x="0" y="-9525"/>
            <a:chExt cx="5052000" cy="51437"/>
          </a:xfrm>
        </p:grpSpPr>
        <p:sp>
          <p:nvSpPr>
            <p:cNvPr id="237" name="Google Shape;237;p32"/>
            <p:cNvSpPr/>
            <p:nvPr/>
          </p:nvSpPr>
          <p:spPr>
            <a:xfrm>
              <a:off x="0" y="0"/>
              <a:ext cx="5051911" cy="41912"/>
            </a:xfrm>
            <a:custGeom>
              <a:rect b="b" l="l" r="r" t="t"/>
              <a:pathLst>
                <a:path extrusionOk="0" h="41912" w="5051911">
                  <a:moveTo>
                    <a:pt x="0" y="0"/>
                  </a:moveTo>
                  <a:lnTo>
                    <a:pt x="5051911" y="0"/>
                  </a:lnTo>
                  <a:lnTo>
                    <a:pt x="5051911" y="41912"/>
                  </a:lnTo>
                  <a:lnTo>
                    <a:pt x="0" y="41912"/>
                  </a:lnTo>
                  <a:close/>
                </a:path>
              </a:pathLst>
            </a:custGeom>
            <a:solidFill>
              <a:srgbClr val="F35C19"/>
            </a:solid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38" name="Google Shape;238;p32"/>
            <p:cNvSpPr txBox="1"/>
            <p:nvPr/>
          </p:nvSpPr>
          <p:spPr>
            <a:xfrm>
              <a:off x="0" y="-9525"/>
              <a:ext cx="5052000" cy="51300"/>
            </a:xfrm>
            <a:prstGeom prst="rect">
              <a:avLst/>
            </a:prstGeom>
            <a:solidFill>
              <a:srgbClr val="F35C19"/>
            </a:solidFill>
            <a:ln>
              <a:noFill/>
            </a:ln>
          </p:spPr>
          <p:txBody>
            <a:bodyPr anchorCtr="0" anchor="ctr" bIns="25400" lIns="25400" spcFirstLastPara="1" rIns="25400" wrap="square" tIns="25400">
              <a:noAutofit/>
            </a:bodyPr>
            <a:lstStyle/>
            <a:p>
              <a:pPr indent="0" lvl="0" marL="0" marR="0" rtl="0" algn="ctr">
                <a:lnSpc>
                  <a:spcPct val="155888"/>
                </a:lnSpc>
                <a:spcBef>
                  <a:spcPts val="0"/>
                </a:spcBef>
                <a:spcAft>
                  <a:spcPts val="0"/>
                </a:spcAft>
                <a:buNone/>
              </a:pPr>
              <a:r>
                <a:t/>
              </a:r>
              <a:endParaRPr sz="900">
                <a:solidFill>
                  <a:schemeClr val="dk1"/>
                </a:solidFill>
                <a:latin typeface="Calibri"/>
                <a:ea typeface="Calibri"/>
                <a:cs typeface="Calibri"/>
                <a:sym typeface="Calibri"/>
              </a:endParaRPr>
            </a:p>
          </p:txBody>
        </p:sp>
      </p:grpSp>
      <p:sp>
        <p:nvSpPr>
          <p:cNvPr id="239" name="Google Shape;239;p32"/>
          <p:cNvSpPr txBox="1"/>
          <p:nvPr/>
        </p:nvSpPr>
        <p:spPr>
          <a:xfrm>
            <a:off x="315950" y="176825"/>
            <a:ext cx="5948700" cy="431100"/>
          </a:xfrm>
          <a:prstGeom prst="rect">
            <a:avLst/>
          </a:prstGeom>
          <a:noFill/>
          <a:ln>
            <a:noFill/>
          </a:ln>
        </p:spPr>
        <p:txBody>
          <a:bodyPr anchorCtr="0" anchor="t" bIns="91425" lIns="91425" spcFirstLastPara="1" rIns="91425" wrap="square" tIns="91425">
            <a:spAutoFit/>
          </a:bodyPr>
          <a:lstStyle/>
          <a:p>
            <a:pPr indent="0" lvl="0" marL="0" rtl="0" algn="l">
              <a:lnSpc>
                <a:spcPct val="107916"/>
              </a:lnSpc>
              <a:spcBef>
                <a:spcPts val="0"/>
              </a:spcBef>
              <a:spcAft>
                <a:spcPts val="800"/>
              </a:spcAft>
              <a:buNone/>
            </a:pPr>
            <a:r>
              <a:rPr b="1" lang="en" sz="1600">
                <a:solidFill>
                  <a:schemeClr val="dk1"/>
                </a:solidFill>
                <a:latin typeface="Calibri"/>
                <a:ea typeface="Calibri"/>
                <a:cs typeface="Calibri"/>
                <a:sym typeface="Calibri"/>
              </a:rPr>
              <a:t>PROJECT GOALS</a:t>
            </a:r>
            <a:endParaRPr b="1" sz="1600">
              <a:solidFill>
                <a:schemeClr val="dk1"/>
              </a:solidFill>
              <a:latin typeface="Calibri"/>
              <a:ea typeface="Calibri"/>
              <a:cs typeface="Calibri"/>
              <a:sym typeface="Calibri"/>
            </a:endParaRPr>
          </a:p>
        </p:txBody>
      </p:sp>
      <p:sp>
        <p:nvSpPr>
          <p:cNvPr id="240" name="Google Shape;240;p32"/>
          <p:cNvSpPr/>
          <p:nvPr/>
        </p:nvSpPr>
        <p:spPr>
          <a:xfrm>
            <a:off x="1515150" y="918000"/>
            <a:ext cx="61137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chemeClr val="dk1"/>
                </a:solidFill>
                <a:latin typeface="Calibri"/>
                <a:ea typeface="Calibri"/>
                <a:cs typeface="Calibri"/>
                <a:sym typeface="Calibri"/>
              </a:rPr>
              <a:t>Understand CSK's performance trends from 2020–2024: </a:t>
            </a:r>
            <a:r>
              <a:rPr lang="en" sz="1000">
                <a:solidFill>
                  <a:schemeClr val="dk1"/>
                </a:solidFill>
                <a:latin typeface="Calibri"/>
                <a:ea typeface="Calibri"/>
                <a:cs typeface="Calibri"/>
                <a:sym typeface="Calibri"/>
              </a:rPr>
              <a:t>Explore match outcomes, scoring patterns, and seasonal changes using available data.</a:t>
            </a:r>
            <a:endParaRPr sz="1000">
              <a:solidFill>
                <a:schemeClr val="dk1"/>
              </a:solidFill>
              <a:latin typeface="Calibri"/>
              <a:ea typeface="Calibri"/>
              <a:cs typeface="Calibri"/>
              <a:sym typeface="Calibri"/>
            </a:endParaRPr>
          </a:p>
        </p:txBody>
      </p:sp>
      <p:sp>
        <p:nvSpPr>
          <p:cNvPr id="241" name="Google Shape;241;p32"/>
          <p:cNvSpPr/>
          <p:nvPr/>
        </p:nvSpPr>
        <p:spPr>
          <a:xfrm>
            <a:off x="1515150" y="1546650"/>
            <a:ext cx="61137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chemeClr val="dk1"/>
                </a:solidFill>
                <a:latin typeface="Calibri"/>
                <a:ea typeface="Calibri"/>
                <a:cs typeface="Calibri"/>
                <a:sym typeface="Calibri"/>
              </a:rPr>
              <a:t>Evaluate key match factors: </a:t>
            </a:r>
            <a:r>
              <a:rPr lang="en" sz="1000">
                <a:solidFill>
                  <a:schemeClr val="dk1"/>
                </a:solidFill>
                <a:latin typeface="Calibri"/>
                <a:ea typeface="Calibri"/>
                <a:cs typeface="Calibri"/>
                <a:sym typeface="Calibri"/>
              </a:rPr>
              <a:t>Study the impact of toss results, batting/bowling performance, and venue influence on match outcomes.</a:t>
            </a:r>
            <a:endParaRPr sz="1000">
              <a:solidFill>
                <a:schemeClr val="dk1"/>
              </a:solidFill>
              <a:latin typeface="Calibri"/>
              <a:ea typeface="Calibri"/>
              <a:cs typeface="Calibri"/>
              <a:sym typeface="Calibri"/>
            </a:endParaRPr>
          </a:p>
        </p:txBody>
      </p:sp>
      <p:sp>
        <p:nvSpPr>
          <p:cNvPr id="242" name="Google Shape;242;p32"/>
          <p:cNvSpPr/>
          <p:nvPr/>
        </p:nvSpPr>
        <p:spPr>
          <a:xfrm>
            <a:off x="1515150" y="2175300"/>
            <a:ext cx="61137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chemeClr val="dk1"/>
                </a:solidFill>
                <a:latin typeface="Calibri"/>
                <a:ea typeface="Calibri"/>
                <a:cs typeface="Calibri"/>
                <a:sym typeface="Calibri"/>
              </a:rPr>
              <a:t>Play with statistics and ask the right questions: </a:t>
            </a:r>
            <a:r>
              <a:rPr lang="en" sz="1000">
                <a:solidFill>
                  <a:schemeClr val="dk1"/>
                </a:solidFill>
                <a:latin typeface="Calibri"/>
                <a:ea typeface="Calibri"/>
                <a:cs typeface="Calibri"/>
                <a:sym typeface="Calibri"/>
              </a:rPr>
              <a:t>Use descriptive and inferential methods to explore data, experiment, and uncover meaningful patterns.</a:t>
            </a:r>
            <a:endParaRPr sz="1000">
              <a:solidFill>
                <a:schemeClr val="dk1"/>
              </a:solidFill>
              <a:latin typeface="Calibri"/>
              <a:ea typeface="Calibri"/>
              <a:cs typeface="Calibri"/>
              <a:sym typeface="Calibri"/>
            </a:endParaRPr>
          </a:p>
        </p:txBody>
      </p:sp>
      <p:sp>
        <p:nvSpPr>
          <p:cNvPr id="243" name="Google Shape;243;p32"/>
          <p:cNvSpPr/>
          <p:nvPr/>
        </p:nvSpPr>
        <p:spPr>
          <a:xfrm>
            <a:off x="1515138" y="2803950"/>
            <a:ext cx="61137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chemeClr val="dk1"/>
                </a:solidFill>
                <a:latin typeface="Calibri"/>
                <a:ea typeface="Calibri"/>
                <a:cs typeface="Calibri"/>
                <a:sym typeface="Calibri"/>
              </a:rPr>
              <a:t>Analyze venue-based performance: </a:t>
            </a:r>
            <a:r>
              <a:rPr lang="en" sz="1000">
                <a:solidFill>
                  <a:schemeClr val="dk1"/>
                </a:solidFill>
                <a:latin typeface="Calibri"/>
                <a:ea typeface="Calibri"/>
                <a:cs typeface="Calibri"/>
                <a:sym typeface="Calibri"/>
              </a:rPr>
              <a:t>Identify how CSK performs across different stadiums to guide location-specific strategies.</a:t>
            </a:r>
            <a:endParaRPr sz="10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grpSp>
        <p:nvGrpSpPr>
          <p:cNvPr id="248" name="Google Shape;248;p33"/>
          <p:cNvGrpSpPr/>
          <p:nvPr/>
        </p:nvGrpSpPr>
        <p:grpSpPr>
          <a:xfrm>
            <a:off x="0" y="5060139"/>
            <a:ext cx="9144120" cy="97648"/>
            <a:chOff x="0" y="-9525"/>
            <a:chExt cx="5052000" cy="51437"/>
          </a:xfrm>
        </p:grpSpPr>
        <p:sp>
          <p:nvSpPr>
            <p:cNvPr id="249" name="Google Shape;249;p33"/>
            <p:cNvSpPr/>
            <p:nvPr/>
          </p:nvSpPr>
          <p:spPr>
            <a:xfrm>
              <a:off x="0" y="0"/>
              <a:ext cx="5051911" cy="41912"/>
            </a:xfrm>
            <a:custGeom>
              <a:rect b="b" l="l" r="r" t="t"/>
              <a:pathLst>
                <a:path extrusionOk="0" h="41912" w="5051911">
                  <a:moveTo>
                    <a:pt x="0" y="0"/>
                  </a:moveTo>
                  <a:lnTo>
                    <a:pt x="5051911" y="0"/>
                  </a:lnTo>
                  <a:lnTo>
                    <a:pt x="5051911" y="41912"/>
                  </a:lnTo>
                  <a:lnTo>
                    <a:pt x="0" y="41912"/>
                  </a:lnTo>
                  <a:close/>
                </a:path>
              </a:pathLst>
            </a:custGeom>
            <a:solidFill>
              <a:srgbClr val="F35C19"/>
            </a:solid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50" name="Google Shape;250;p33"/>
            <p:cNvSpPr txBox="1"/>
            <p:nvPr/>
          </p:nvSpPr>
          <p:spPr>
            <a:xfrm>
              <a:off x="0" y="-9525"/>
              <a:ext cx="5052000" cy="51300"/>
            </a:xfrm>
            <a:prstGeom prst="rect">
              <a:avLst/>
            </a:prstGeom>
            <a:solidFill>
              <a:srgbClr val="F35C19"/>
            </a:solidFill>
            <a:ln>
              <a:noFill/>
            </a:ln>
          </p:spPr>
          <p:txBody>
            <a:bodyPr anchorCtr="0" anchor="ctr" bIns="25400" lIns="25400" spcFirstLastPara="1" rIns="25400" wrap="square" tIns="25400">
              <a:noAutofit/>
            </a:bodyPr>
            <a:lstStyle/>
            <a:p>
              <a:pPr indent="0" lvl="0" marL="0" marR="0" rtl="0" algn="ctr">
                <a:lnSpc>
                  <a:spcPct val="155888"/>
                </a:lnSpc>
                <a:spcBef>
                  <a:spcPts val="0"/>
                </a:spcBef>
                <a:spcAft>
                  <a:spcPts val="0"/>
                </a:spcAft>
                <a:buNone/>
              </a:pPr>
              <a:r>
                <a:t/>
              </a:r>
              <a:endParaRPr sz="900">
                <a:solidFill>
                  <a:schemeClr val="dk1"/>
                </a:solidFill>
                <a:latin typeface="Calibri"/>
                <a:ea typeface="Calibri"/>
                <a:cs typeface="Calibri"/>
                <a:sym typeface="Calibri"/>
              </a:endParaRPr>
            </a:p>
          </p:txBody>
        </p:sp>
      </p:grpSp>
      <p:sp>
        <p:nvSpPr>
          <p:cNvPr id="251" name="Google Shape;251;p33"/>
          <p:cNvSpPr txBox="1"/>
          <p:nvPr/>
        </p:nvSpPr>
        <p:spPr>
          <a:xfrm>
            <a:off x="2078313" y="2325450"/>
            <a:ext cx="49875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200">
                <a:solidFill>
                  <a:schemeClr val="dk1"/>
                </a:solidFill>
                <a:latin typeface="Calibri"/>
                <a:ea typeface="Calibri"/>
                <a:cs typeface="Calibri"/>
                <a:sym typeface="Calibri"/>
              </a:rPr>
              <a:t>DATASET </a:t>
            </a:r>
            <a:endParaRPr b="1" sz="22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grpSp>
        <p:nvGrpSpPr>
          <p:cNvPr id="256" name="Google Shape;256;p34"/>
          <p:cNvGrpSpPr/>
          <p:nvPr/>
        </p:nvGrpSpPr>
        <p:grpSpPr>
          <a:xfrm>
            <a:off x="0" y="5060139"/>
            <a:ext cx="9144120" cy="97648"/>
            <a:chOff x="0" y="-9525"/>
            <a:chExt cx="5052000" cy="51437"/>
          </a:xfrm>
        </p:grpSpPr>
        <p:sp>
          <p:nvSpPr>
            <p:cNvPr id="257" name="Google Shape;257;p34"/>
            <p:cNvSpPr/>
            <p:nvPr/>
          </p:nvSpPr>
          <p:spPr>
            <a:xfrm>
              <a:off x="0" y="0"/>
              <a:ext cx="5051911" cy="41912"/>
            </a:xfrm>
            <a:custGeom>
              <a:rect b="b" l="l" r="r" t="t"/>
              <a:pathLst>
                <a:path extrusionOk="0" h="41912" w="5051911">
                  <a:moveTo>
                    <a:pt x="0" y="0"/>
                  </a:moveTo>
                  <a:lnTo>
                    <a:pt x="5051911" y="0"/>
                  </a:lnTo>
                  <a:lnTo>
                    <a:pt x="5051911" y="41912"/>
                  </a:lnTo>
                  <a:lnTo>
                    <a:pt x="0" y="41912"/>
                  </a:lnTo>
                  <a:close/>
                </a:path>
              </a:pathLst>
            </a:custGeom>
            <a:solidFill>
              <a:srgbClr val="F35C19"/>
            </a:solid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58" name="Google Shape;258;p34"/>
            <p:cNvSpPr txBox="1"/>
            <p:nvPr/>
          </p:nvSpPr>
          <p:spPr>
            <a:xfrm>
              <a:off x="0" y="-9525"/>
              <a:ext cx="5052000" cy="51300"/>
            </a:xfrm>
            <a:prstGeom prst="rect">
              <a:avLst/>
            </a:prstGeom>
            <a:solidFill>
              <a:srgbClr val="F35C19"/>
            </a:solidFill>
            <a:ln>
              <a:noFill/>
            </a:ln>
          </p:spPr>
          <p:txBody>
            <a:bodyPr anchorCtr="0" anchor="ctr" bIns="25400" lIns="25400" spcFirstLastPara="1" rIns="25400" wrap="square" tIns="25400">
              <a:noAutofit/>
            </a:bodyPr>
            <a:lstStyle/>
            <a:p>
              <a:pPr indent="0" lvl="0" marL="0" marR="0" rtl="0" algn="ctr">
                <a:lnSpc>
                  <a:spcPct val="155888"/>
                </a:lnSpc>
                <a:spcBef>
                  <a:spcPts val="0"/>
                </a:spcBef>
                <a:spcAft>
                  <a:spcPts val="0"/>
                </a:spcAft>
                <a:buNone/>
              </a:pPr>
              <a:r>
                <a:t/>
              </a:r>
              <a:endParaRPr sz="900">
                <a:solidFill>
                  <a:schemeClr val="dk1"/>
                </a:solidFill>
                <a:latin typeface="Calibri"/>
                <a:ea typeface="Calibri"/>
                <a:cs typeface="Calibri"/>
                <a:sym typeface="Calibri"/>
              </a:endParaRPr>
            </a:p>
          </p:txBody>
        </p:sp>
      </p:grpSp>
      <p:sp>
        <p:nvSpPr>
          <p:cNvPr id="259" name="Google Shape;259;p34"/>
          <p:cNvSpPr txBox="1"/>
          <p:nvPr/>
        </p:nvSpPr>
        <p:spPr>
          <a:xfrm>
            <a:off x="2078313" y="2325450"/>
            <a:ext cx="49875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b="1" sz="2200">
              <a:solidFill>
                <a:schemeClr val="dk1"/>
              </a:solidFill>
              <a:latin typeface="Calibri"/>
              <a:ea typeface="Calibri"/>
              <a:cs typeface="Calibri"/>
              <a:sym typeface="Calibri"/>
            </a:endParaRPr>
          </a:p>
        </p:txBody>
      </p:sp>
      <p:sp>
        <p:nvSpPr>
          <p:cNvPr id="260" name="Google Shape;260;p34"/>
          <p:cNvSpPr txBox="1"/>
          <p:nvPr/>
        </p:nvSpPr>
        <p:spPr>
          <a:xfrm>
            <a:off x="315950" y="176825"/>
            <a:ext cx="5948700" cy="431100"/>
          </a:xfrm>
          <a:prstGeom prst="rect">
            <a:avLst/>
          </a:prstGeom>
          <a:noFill/>
          <a:ln>
            <a:noFill/>
          </a:ln>
        </p:spPr>
        <p:txBody>
          <a:bodyPr anchorCtr="0" anchor="t" bIns="91425" lIns="91425" spcFirstLastPara="1" rIns="91425" wrap="square" tIns="91425">
            <a:spAutoFit/>
          </a:bodyPr>
          <a:lstStyle/>
          <a:p>
            <a:pPr indent="0" lvl="0" marL="0" rtl="0" algn="l">
              <a:lnSpc>
                <a:spcPct val="107916"/>
              </a:lnSpc>
              <a:spcBef>
                <a:spcPts val="0"/>
              </a:spcBef>
              <a:spcAft>
                <a:spcPts val="800"/>
              </a:spcAft>
              <a:buNone/>
            </a:pPr>
            <a:r>
              <a:rPr b="1" lang="en" sz="1600">
                <a:solidFill>
                  <a:schemeClr val="dk1"/>
                </a:solidFill>
                <a:latin typeface="Calibri"/>
                <a:ea typeface="Calibri"/>
                <a:cs typeface="Calibri"/>
                <a:sym typeface="Calibri"/>
              </a:rPr>
              <a:t>DATA COLLECTION AND PREPARATION</a:t>
            </a:r>
            <a:endParaRPr b="1" sz="1600">
              <a:solidFill>
                <a:schemeClr val="dk1"/>
              </a:solidFill>
              <a:latin typeface="Calibri"/>
              <a:ea typeface="Calibri"/>
              <a:cs typeface="Calibri"/>
              <a:sym typeface="Calibri"/>
            </a:endParaRPr>
          </a:p>
        </p:txBody>
      </p:sp>
      <p:sp>
        <p:nvSpPr>
          <p:cNvPr id="261" name="Google Shape;261;p34"/>
          <p:cNvSpPr/>
          <p:nvPr/>
        </p:nvSpPr>
        <p:spPr>
          <a:xfrm>
            <a:off x="7417200" y="819250"/>
            <a:ext cx="1337100" cy="523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Calibri"/>
                <a:ea typeface="Calibri"/>
                <a:cs typeface="Calibri"/>
                <a:sym typeface="Calibri"/>
              </a:rPr>
              <a:t>Extracting data from Kaggle Website to Excel</a:t>
            </a:r>
            <a:endParaRPr sz="900">
              <a:latin typeface="Calibri"/>
              <a:ea typeface="Calibri"/>
              <a:cs typeface="Calibri"/>
              <a:sym typeface="Calibri"/>
            </a:endParaRPr>
          </a:p>
        </p:txBody>
      </p:sp>
      <p:sp>
        <p:nvSpPr>
          <p:cNvPr id="262" name="Google Shape;262;p34"/>
          <p:cNvSpPr/>
          <p:nvPr/>
        </p:nvSpPr>
        <p:spPr>
          <a:xfrm>
            <a:off x="7417200" y="1661425"/>
            <a:ext cx="1337100" cy="523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Calibri"/>
                <a:ea typeface="Calibri"/>
                <a:cs typeface="Calibri"/>
                <a:sym typeface="Calibri"/>
              </a:rPr>
              <a:t>Comparing and Validating with Howstat and Official IPL Website</a:t>
            </a:r>
            <a:endParaRPr sz="900">
              <a:latin typeface="Calibri"/>
              <a:ea typeface="Calibri"/>
              <a:cs typeface="Calibri"/>
              <a:sym typeface="Calibri"/>
            </a:endParaRPr>
          </a:p>
        </p:txBody>
      </p:sp>
      <p:sp>
        <p:nvSpPr>
          <p:cNvPr id="263" name="Google Shape;263;p34"/>
          <p:cNvSpPr/>
          <p:nvPr/>
        </p:nvSpPr>
        <p:spPr>
          <a:xfrm>
            <a:off x="7417200" y="2503600"/>
            <a:ext cx="1337100" cy="523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Calibri"/>
                <a:ea typeface="Calibri"/>
                <a:cs typeface="Calibri"/>
                <a:sym typeface="Calibri"/>
              </a:rPr>
              <a:t>Data Cleaning and Adding misses</a:t>
            </a:r>
            <a:endParaRPr sz="900">
              <a:latin typeface="Calibri"/>
              <a:ea typeface="Calibri"/>
              <a:cs typeface="Calibri"/>
              <a:sym typeface="Calibri"/>
            </a:endParaRPr>
          </a:p>
        </p:txBody>
      </p:sp>
      <p:sp>
        <p:nvSpPr>
          <p:cNvPr id="264" name="Google Shape;264;p34"/>
          <p:cNvSpPr/>
          <p:nvPr/>
        </p:nvSpPr>
        <p:spPr>
          <a:xfrm>
            <a:off x="7417200" y="3345775"/>
            <a:ext cx="1337100" cy="523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Calibri"/>
                <a:ea typeface="Calibri"/>
                <a:cs typeface="Calibri"/>
                <a:sym typeface="Calibri"/>
              </a:rPr>
              <a:t>Categorical Segmentation of Data</a:t>
            </a:r>
            <a:endParaRPr sz="900">
              <a:latin typeface="Calibri"/>
              <a:ea typeface="Calibri"/>
              <a:cs typeface="Calibri"/>
              <a:sym typeface="Calibri"/>
            </a:endParaRPr>
          </a:p>
        </p:txBody>
      </p:sp>
      <p:sp>
        <p:nvSpPr>
          <p:cNvPr id="265" name="Google Shape;265;p34"/>
          <p:cNvSpPr/>
          <p:nvPr/>
        </p:nvSpPr>
        <p:spPr>
          <a:xfrm>
            <a:off x="7417200" y="4187950"/>
            <a:ext cx="1337100" cy="523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Calibri"/>
                <a:ea typeface="Calibri"/>
                <a:cs typeface="Calibri"/>
                <a:sym typeface="Calibri"/>
              </a:rPr>
              <a:t>Consolidation of data across </a:t>
            </a:r>
            <a:r>
              <a:rPr lang="en" sz="900">
                <a:latin typeface="Calibri"/>
                <a:ea typeface="Calibri"/>
                <a:cs typeface="Calibri"/>
                <a:sym typeface="Calibri"/>
              </a:rPr>
              <a:t>various sheets</a:t>
            </a:r>
            <a:endParaRPr sz="900">
              <a:latin typeface="Calibri"/>
              <a:ea typeface="Calibri"/>
              <a:cs typeface="Calibri"/>
              <a:sym typeface="Calibri"/>
            </a:endParaRPr>
          </a:p>
        </p:txBody>
      </p:sp>
      <p:cxnSp>
        <p:nvCxnSpPr>
          <p:cNvPr id="266" name="Google Shape;266;p34"/>
          <p:cNvCxnSpPr>
            <a:stCxn id="261" idx="2"/>
            <a:endCxn id="262" idx="0"/>
          </p:cNvCxnSpPr>
          <p:nvPr/>
        </p:nvCxnSpPr>
        <p:spPr>
          <a:xfrm>
            <a:off x="8085750" y="1342450"/>
            <a:ext cx="0" cy="318900"/>
          </a:xfrm>
          <a:prstGeom prst="straightConnector1">
            <a:avLst/>
          </a:prstGeom>
          <a:noFill/>
          <a:ln cap="flat" cmpd="sng" w="9525">
            <a:solidFill>
              <a:schemeClr val="dk2"/>
            </a:solidFill>
            <a:prstDash val="solid"/>
            <a:round/>
            <a:headEnd len="med" w="med" type="none"/>
            <a:tailEnd len="med" w="med" type="triangle"/>
          </a:ln>
        </p:spPr>
      </p:cxnSp>
      <p:cxnSp>
        <p:nvCxnSpPr>
          <p:cNvPr id="267" name="Google Shape;267;p34"/>
          <p:cNvCxnSpPr>
            <a:stCxn id="262" idx="2"/>
            <a:endCxn id="263" idx="0"/>
          </p:cNvCxnSpPr>
          <p:nvPr/>
        </p:nvCxnSpPr>
        <p:spPr>
          <a:xfrm>
            <a:off x="8085750" y="2184625"/>
            <a:ext cx="0" cy="318900"/>
          </a:xfrm>
          <a:prstGeom prst="straightConnector1">
            <a:avLst/>
          </a:prstGeom>
          <a:noFill/>
          <a:ln cap="flat" cmpd="sng" w="9525">
            <a:solidFill>
              <a:schemeClr val="dk2"/>
            </a:solidFill>
            <a:prstDash val="solid"/>
            <a:round/>
            <a:headEnd len="med" w="med" type="none"/>
            <a:tailEnd len="med" w="med" type="triangle"/>
          </a:ln>
        </p:spPr>
      </p:cxnSp>
      <p:cxnSp>
        <p:nvCxnSpPr>
          <p:cNvPr id="268" name="Google Shape;268;p34"/>
          <p:cNvCxnSpPr>
            <a:stCxn id="263" idx="2"/>
            <a:endCxn id="264" idx="0"/>
          </p:cNvCxnSpPr>
          <p:nvPr/>
        </p:nvCxnSpPr>
        <p:spPr>
          <a:xfrm>
            <a:off x="8085750" y="3026800"/>
            <a:ext cx="0" cy="318900"/>
          </a:xfrm>
          <a:prstGeom prst="straightConnector1">
            <a:avLst/>
          </a:prstGeom>
          <a:noFill/>
          <a:ln cap="flat" cmpd="sng" w="9525">
            <a:solidFill>
              <a:schemeClr val="dk2"/>
            </a:solidFill>
            <a:prstDash val="solid"/>
            <a:round/>
            <a:headEnd len="med" w="med" type="none"/>
            <a:tailEnd len="med" w="med" type="triangle"/>
          </a:ln>
        </p:spPr>
      </p:cxnSp>
      <p:cxnSp>
        <p:nvCxnSpPr>
          <p:cNvPr id="269" name="Google Shape;269;p34"/>
          <p:cNvCxnSpPr>
            <a:stCxn id="264" idx="2"/>
            <a:endCxn id="265" idx="0"/>
          </p:cNvCxnSpPr>
          <p:nvPr/>
        </p:nvCxnSpPr>
        <p:spPr>
          <a:xfrm>
            <a:off x="8085750" y="3868975"/>
            <a:ext cx="0" cy="318900"/>
          </a:xfrm>
          <a:prstGeom prst="straightConnector1">
            <a:avLst/>
          </a:prstGeom>
          <a:noFill/>
          <a:ln cap="flat" cmpd="sng" w="9525">
            <a:solidFill>
              <a:schemeClr val="dk2"/>
            </a:solidFill>
            <a:prstDash val="solid"/>
            <a:round/>
            <a:headEnd len="med" w="med" type="none"/>
            <a:tailEnd len="med" w="med" type="triangle"/>
          </a:ln>
        </p:spPr>
      </p:cxnSp>
      <p:pic>
        <p:nvPicPr>
          <p:cNvPr id="270" name="Google Shape;270;p34"/>
          <p:cNvPicPr preferRelativeResize="0"/>
          <p:nvPr/>
        </p:nvPicPr>
        <p:blipFill>
          <a:blip r:embed="rId3">
            <a:alphaModFix/>
          </a:blip>
          <a:stretch>
            <a:fillRect/>
          </a:stretch>
        </p:blipFill>
        <p:spPr>
          <a:xfrm>
            <a:off x="510050" y="1153225"/>
            <a:ext cx="6629176" cy="32239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grpSp>
        <p:nvGrpSpPr>
          <p:cNvPr id="275" name="Google Shape;275;p35"/>
          <p:cNvGrpSpPr/>
          <p:nvPr/>
        </p:nvGrpSpPr>
        <p:grpSpPr>
          <a:xfrm>
            <a:off x="0" y="5060139"/>
            <a:ext cx="9144120" cy="97648"/>
            <a:chOff x="0" y="-9525"/>
            <a:chExt cx="5052000" cy="51437"/>
          </a:xfrm>
        </p:grpSpPr>
        <p:sp>
          <p:nvSpPr>
            <p:cNvPr id="276" name="Google Shape;276;p35"/>
            <p:cNvSpPr/>
            <p:nvPr/>
          </p:nvSpPr>
          <p:spPr>
            <a:xfrm>
              <a:off x="0" y="0"/>
              <a:ext cx="5051911" cy="41912"/>
            </a:xfrm>
            <a:custGeom>
              <a:rect b="b" l="l" r="r" t="t"/>
              <a:pathLst>
                <a:path extrusionOk="0" h="41912" w="5051911">
                  <a:moveTo>
                    <a:pt x="0" y="0"/>
                  </a:moveTo>
                  <a:lnTo>
                    <a:pt x="5051911" y="0"/>
                  </a:lnTo>
                  <a:lnTo>
                    <a:pt x="5051911" y="41912"/>
                  </a:lnTo>
                  <a:lnTo>
                    <a:pt x="0" y="41912"/>
                  </a:lnTo>
                  <a:close/>
                </a:path>
              </a:pathLst>
            </a:custGeom>
            <a:solidFill>
              <a:srgbClr val="F35C19"/>
            </a:solid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77" name="Google Shape;277;p35"/>
            <p:cNvSpPr txBox="1"/>
            <p:nvPr/>
          </p:nvSpPr>
          <p:spPr>
            <a:xfrm>
              <a:off x="0" y="-9525"/>
              <a:ext cx="5052000" cy="51300"/>
            </a:xfrm>
            <a:prstGeom prst="rect">
              <a:avLst/>
            </a:prstGeom>
            <a:solidFill>
              <a:srgbClr val="F35C19"/>
            </a:solidFill>
            <a:ln>
              <a:noFill/>
            </a:ln>
          </p:spPr>
          <p:txBody>
            <a:bodyPr anchorCtr="0" anchor="ctr" bIns="25400" lIns="25400" spcFirstLastPara="1" rIns="25400" wrap="square" tIns="25400">
              <a:noAutofit/>
            </a:bodyPr>
            <a:lstStyle/>
            <a:p>
              <a:pPr indent="0" lvl="0" marL="0" marR="0" rtl="0" algn="ctr">
                <a:lnSpc>
                  <a:spcPct val="155888"/>
                </a:lnSpc>
                <a:spcBef>
                  <a:spcPts val="0"/>
                </a:spcBef>
                <a:spcAft>
                  <a:spcPts val="0"/>
                </a:spcAft>
                <a:buNone/>
              </a:pPr>
              <a:r>
                <a:t/>
              </a:r>
              <a:endParaRPr sz="900">
                <a:solidFill>
                  <a:schemeClr val="dk1"/>
                </a:solidFill>
                <a:latin typeface="Calibri"/>
                <a:ea typeface="Calibri"/>
                <a:cs typeface="Calibri"/>
                <a:sym typeface="Calibri"/>
              </a:endParaRPr>
            </a:p>
          </p:txBody>
        </p:sp>
      </p:grpSp>
      <p:sp>
        <p:nvSpPr>
          <p:cNvPr id="278" name="Google Shape;278;p35"/>
          <p:cNvSpPr txBox="1"/>
          <p:nvPr/>
        </p:nvSpPr>
        <p:spPr>
          <a:xfrm>
            <a:off x="2078313" y="2325450"/>
            <a:ext cx="49875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200">
                <a:solidFill>
                  <a:schemeClr val="dk1"/>
                </a:solidFill>
                <a:latin typeface="Calibri"/>
                <a:ea typeface="Calibri"/>
                <a:cs typeface="Calibri"/>
                <a:sym typeface="Calibri"/>
              </a:rPr>
              <a:t>DATA VISUALIZATION</a:t>
            </a:r>
            <a:endParaRPr b="1" sz="22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grpSp>
        <p:nvGrpSpPr>
          <p:cNvPr id="283" name="Google Shape;283;p36"/>
          <p:cNvGrpSpPr/>
          <p:nvPr/>
        </p:nvGrpSpPr>
        <p:grpSpPr>
          <a:xfrm>
            <a:off x="0" y="5060139"/>
            <a:ext cx="9144120" cy="97648"/>
            <a:chOff x="0" y="-9525"/>
            <a:chExt cx="5052000" cy="51437"/>
          </a:xfrm>
        </p:grpSpPr>
        <p:sp>
          <p:nvSpPr>
            <p:cNvPr id="284" name="Google Shape;284;p36"/>
            <p:cNvSpPr/>
            <p:nvPr/>
          </p:nvSpPr>
          <p:spPr>
            <a:xfrm>
              <a:off x="0" y="0"/>
              <a:ext cx="5051911" cy="41912"/>
            </a:xfrm>
            <a:custGeom>
              <a:rect b="b" l="l" r="r" t="t"/>
              <a:pathLst>
                <a:path extrusionOk="0" h="41912" w="5051911">
                  <a:moveTo>
                    <a:pt x="0" y="0"/>
                  </a:moveTo>
                  <a:lnTo>
                    <a:pt x="5051911" y="0"/>
                  </a:lnTo>
                  <a:lnTo>
                    <a:pt x="5051911" y="41912"/>
                  </a:lnTo>
                  <a:lnTo>
                    <a:pt x="0" y="41912"/>
                  </a:lnTo>
                  <a:close/>
                </a:path>
              </a:pathLst>
            </a:custGeom>
            <a:solidFill>
              <a:srgbClr val="F35C19"/>
            </a:solid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85" name="Google Shape;285;p36"/>
            <p:cNvSpPr txBox="1"/>
            <p:nvPr/>
          </p:nvSpPr>
          <p:spPr>
            <a:xfrm>
              <a:off x="0" y="-9525"/>
              <a:ext cx="5052000" cy="51300"/>
            </a:xfrm>
            <a:prstGeom prst="rect">
              <a:avLst/>
            </a:prstGeom>
            <a:solidFill>
              <a:srgbClr val="F35C19"/>
            </a:solidFill>
            <a:ln>
              <a:noFill/>
            </a:ln>
          </p:spPr>
          <p:txBody>
            <a:bodyPr anchorCtr="0" anchor="ctr" bIns="25400" lIns="25400" spcFirstLastPara="1" rIns="25400" wrap="square" tIns="25400">
              <a:noAutofit/>
            </a:bodyPr>
            <a:lstStyle/>
            <a:p>
              <a:pPr indent="0" lvl="0" marL="0" marR="0" rtl="0" algn="ctr">
                <a:lnSpc>
                  <a:spcPct val="155888"/>
                </a:lnSpc>
                <a:spcBef>
                  <a:spcPts val="0"/>
                </a:spcBef>
                <a:spcAft>
                  <a:spcPts val="0"/>
                </a:spcAft>
                <a:buNone/>
              </a:pPr>
              <a:r>
                <a:t/>
              </a:r>
              <a:endParaRPr sz="900">
                <a:solidFill>
                  <a:schemeClr val="dk1"/>
                </a:solidFill>
                <a:latin typeface="Calibri"/>
                <a:ea typeface="Calibri"/>
                <a:cs typeface="Calibri"/>
                <a:sym typeface="Calibri"/>
              </a:endParaRPr>
            </a:p>
          </p:txBody>
        </p:sp>
      </p:grpSp>
      <p:pic>
        <p:nvPicPr>
          <p:cNvPr id="286" name="Google Shape;286;p36"/>
          <p:cNvPicPr preferRelativeResize="0"/>
          <p:nvPr/>
        </p:nvPicPr>
        <p:blipFill rotWithShape="1">
          <a:blip r:embed="rId3">
            <a:alphaModFix/>
          </a:blip>
          <a:srcRect b="0" l="0" r="2780" t="0"/>
          <a:stretch/>
        </p:blipFill>
        <p:spPr>
          <a:xfrm>
            <a:off x="398951" y="1190063"/>
            <a:ext cx="4507599" cy="2763374"/>
          </a:xfrm>
          <a:prstGeom prst="rect">
            <a:avLst/>
          </a:prstGeom>
          <a:noFill/>
          <a:ln>
            <a:noFill/>
          </a:ln>
        </p:spPr>
      </p:pic>
      <p:pic>
        <p:nvPicPr>
          <p:cNvPr id="287" name="Google Shape;287;p36"/>
          <p:cNvPicPr preferRelativeResize="0"/>
          <p:nvPr/>
        </p:nvPicPr>
        <p:blipFill rotWithShape="1">
          <a:blip r:embed="rId4">
            <a:alphaModFix/>
          </a:blip>
          <a:srcRect b="4255" l="22009" r="0" t="24100"/>
          <a:stretch/>
        </p:blipFill>
        <p:spPr>
          <a:xfrm>
            <a:off x="5155125" y="875338"/>
            <a:ext cx="1809276" cy="1109209"/>
          </a:xfrm>
          <a:prstGeom prst="rect">
            <a:avLst/>
          </a:prstGeom>
          <a:noFill/>
          <a:ln>
            <a:noFill/>
          </a:ln>
        </p:spPr>
      </p:pic>
      <p:pic>
        <p:nvPicPr>
          <p:cNvPr id="288" name="Google Shape;288;p36"/>
          <p:cNvPicPr preferRelativeResize="0"/>
          <p:nvPr/>
        </p:nvPicPr>
        <p:blipFill rotWithShape="1">
          <a:blip r:embed="rId5">
            <a:alphaModFix/>
          </a:blip>
          <a:srcRect b="5400" l="0" r="8725" t="5194"/>
          <a:stretch/>
        </p:blipFill>
        <p:spPr>
          <a:xfrm>
            <a:off x="7022425" y="875350"/>
            <a:ext cx="1809242" cy="1109201"/>
          </a:xfrm>
          <a:prstGeom prst="rect">
            <a:avLst/>
          </a:prstGeom>
          <a:noFill/>
          <a:ln>
            <a:noFill/>
          </a:ln>
        </p:spPr>
      </p:pic>
      <p:pic>
        <p:nvPicPr>
          <p:cNvPr id="289" name="Google Shape;289;p36"/>
          <p:cNvPicPr preferRelativeResize="0"/>
          <p:nvPr/>
        </p:nvPicPr>
        <p:blipFill rotWithShape="1">
          <a:blip r:embed="rId6">
            <a:alphaModFix/>
          </a:blip>
          <a:srcRect b="15810" l="0" r="0" t="0"/>
          <a:stretch/>
        </p:blipFill>
        <p:spPr>
          <a:xfrm>
            <a:off x="5155113" y="2045500"/>
            <a:ext cx="1809275" cy="1016549"/>
          </a:xfrm>
          <a:prstGeom prst="rect">
            <a:avLst/>
          </a:prstGeom>
          <a:noFill/>
          <a:ln>
            <a:noFill/>
          </a:ln>
        </p:spPr>
      </p:pic>
      <p:pic>
        <p:nvPicPr>
          <p:cNvPr id="290" name="Google Shape;290;p36"/>
          <p:cNvPicPr preferRelativeResize="0"/>
          <p:nvPr/>
        </p:nvPicPr>
        <p:blipFill rotWithShape="1">
          <a:blip r:embed="rId7">
            <a:alphaModFix/>
          </a:blip>
          <a:srcRect b="2833" l="5195" r="0" t="43901"/>
          <a:stretch/>
        </p:blipFill>
        <p:spPr>
          <a:xfrm>
            <a:off x="7022425" y="2045500"/>
            <a:ext cx="1809250" cy="1016550"/>
          </a:xfrm>
          <a:prstGeom prst="rect">
            <a:avLst/>
          </a:prstGeom>
          <a:noFill/>
          <a:ln>
            <a:noFill/>
          </a:ln>
        </p:spPr>
      </p:pic>
      <p:pic>
        <p:nvPicPr>
          <p:cNvPr id="291" name="Google Shape;291;p36"/>
          <p:cNvPicPr preferRelativeResize="0"/>
          <p:nvPr/>
        </p:nvPicPr>
        <p:blipFill rotWithShape="1">
          <a:blip r:embed="rId8">
            <a:alphaModFix/>
          </a:blip>
          <a:srcRect b="0" l="16687" r="0" t="5159"/>
          <a:stretch/>
        </p:blipFill>
        <p:spPr>
          <a:xfrm>
            <a:off x="5155138" y="3123000"/>
            <a:ext cx="1809249" cy="1145150"/>
          </a:xfrm>
          <a:prstGeom prst="rect">
            <a:avLst/>
          </a:prstGeom>
          <a:noFill/>
          <a:ln>
            <a:noFill/>
          </a:ln>
        </p:spPr>
      </p:pic>
      <p:pic>
        <p:nvPicPr>
          <p:cNvPr id="292" name="Google Shape;292;p36"/>
          <p:cNvPicPr preferRelativeResize="0"/>
          <p:nvPr/>
        </p:nvPicPr>
        <p:blipFill rotWithShape="1">
          <a:blip r:embed="rId9">
            <a:alphaModFix/>
          </a:blip>
          <a:srcRect b="0" l="5264" r="5965" t="0"/>
          <a:stretch/>
        </p:blipFill>
        <p:spPr>
          <a:xfrm>
            <a:off x="7022413" y="3123000"/>
            <a:ext cx="1809276" cy="1145150"/>
          </a:xfrm>
          <a:prstGeom prst="rect">
            <a:avLst/>
          </a:prstGeom>
          <a:noFill/>
          <a:ln>
            <a:noFill/>
          </a:ln>
        </p:spPr>
      </p:pic>
      <p:sp>
        <p:nvSpPr>
          <p:cNvPr id="293" name="Google Shape;293;p36"/>
          <p:cNvSpPr txBox="1"/>
          <p:nvPr/>
        </p:nvSpPr>
        <p:spPr>
          <a:xfrm>
            <a:off x="361500" y="200300"/>
            <a:ext cx="4582500" cy="431100"/>
          </a:xfrm>
          <a:prstGeom prst="rect">
            <a:avLst/>
          </a:prstGeom>
          <a:noFill/>
          <a:ln>
            <a:noFill/>
          </a:ln>
        </p:spPr>
        <p:txBody>
          <a:bodyPr anchorCtr="0" anchor="t" bIns="91425" lIns="91425" spcFirstLastPara="1" rIns="91425" wrap="square" tIns="91425">
            <a:spAutoFit/>
          </a:bodyPr>
          <a:lstStyle/>
          <a:p>
            <a:pPr indent="0" lvl="0" marL="0" rtl="0" algn="l">
              <a:lnSpc>
                <a:spcPct val="107916"/>
              </a:lnSpc>
              <a:spcBef>
                <a:spcPts val="0"/>
              </a:spcBef>
              <a:spcAft>
                <a:spcPts val="800"/>
              </a:spcAft>
              <a:buNone/>
            </a:pPr>
            <a:r>
              <a:rPr b="1" lang="en" sz="1600">
                <a:solidFill>
                  <a:schemeClr val="dk1"/>
                </a:solidFill>
                <a:latin typeface="Calibri"/>
                <a:ea typeface="Calibri"/>
                <a:cs typeface="Calibri"/>
                <a:sym typeface="Calibri"/>
              </a:rPr>
              <a:t>Horizontal Bar Chart - IPL Performance Landscape</a:t>
            </a:r>
            <a:endParaRPr sz="16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7"/>
          <p:cNvSpPr txBox="1"/>
          <p:nvPr/>
        </p:nvSpPr>
        <p:spPr>
          <a:xfrm>
            <a:off x="7658100" y="69127"/>
            <a:ext cx="1428600" cy="107700"/>
          </a:xfrm>
          <a:prstGeom prst="rect">
            <a:avLst/>
          </a:prstGeom>
          <a:noFill/>
          <a:ln>
            <a:noFill/>
          </a:ln>
        </p:spPr>
        <p:txBody>
          <a:bodyPr anchorCtr="0" anchor="t" bIns="0" lIns="0" spcFirstLastPara="1" rIns="0" wrap="square" tIns="0">
            <a:spAutoFit/>
          </a:bodyPr>
          <a:lstStyle/>
          <a:p>
            <a:pPr indent="0" lvl="0" marL="0" marR="0" rtl="0" algn="r">
              <a:lnSpc>
                <a:spcPct val="122000"/>
              </a:lnSpc>
              <a:spcBef>
                <a:spcPts val="0"/>
              </a:spcBef>
              <a:spcAft>
                <a:spcPts val="0"/>
              </a:spcAft>
              <a:buNone/>
            </a:pPr>
            <a:r>
              <a:t/>
            </a:r>
            <a:endParaRPr b="1" sz="700"/>
          </a:p>
        </p:txBody>
      </p:sp>
      <p:grpSp>
        <p:nvGrpSpPr>
          <p:cNvPr id="299" name="Google Shape;299;p37"/>
          <p:cNvGrpSpPr/>
          <p:nvPr/>
        </p:nvGrpSpPr>
        <p:grpSpPr>
          <a:xfrm>
            <a:off x="0" y="5060139"/>
            <a:ext cx="9144120" cy="97648"/>
            <a:chOff x="0" y="-9525"/>
            <a:chExt cx="5052000" cy="51437"/>
          </a:xfrm>
        </p:grpSpPr>
        <p:sp>
          <p:nvSpPr>
            <p:cNvPr id="300" name="Google Shape;300;p37"/>
            <p:cNvSpPr/>
            <p:nvPr/>
          </p:nvSpPr>
          <p:spPr>
            <a:xfrm>
              <a:off x="0" y="0"/>
              <a:ext cx="5051911" cy="41912"/>
            </a:xfrm>
            <a:custGeom>
              <a:rect b="b" l="l" r="r" t="t"/>
              <a:pathLst>
                <a:path extrusionOk="0" h="41912" w="5051911">
                  <a:moveTo>
                    <a:pt x="0" y="0"/>
                  </a:moveTo>
                  <a:lnTo>
                    <a:pt x="5051911" y="0"/>
                  </a:lnTo>
                  <a:lnTo>
                    <a:pt x="5051911" y="41912"/>
                  </a:lnTo>
                  <a:lnTo>
                    <a:pt x="0" y="41912"/>
                  </a:lnTo>
                  <a:close/>
                </a:path>
              </a:pathLst>
            </a:custGeom>
            <a:solidFill>
              <a:srgbClr val="F35C19"/>
            </a:solid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301" name="Google Shape;301;p37"/>
            <p:cNvSpPr txBox="1"/>
            <p:nvPr/>
          </p:nvSpPr>
          <p:spPr>
            <a:xfrm>
              <a:off x="0" y="-9525"/>
              <a:ext cx="5052000" cy="51300"/>
            </a:xfrm>
            <a:prstGeom prst="rect">
              <a:avLst/>
            </a:prstGeom>
            <a:solidFill>
              <a:srgbClr val="F35C19"/>
            </a:solidFill>
            <a:ln>
              <a:noFill/>
            </a:ln>
          </p:spPr>
          <p:txBody>
            <a:bodyPr anchorCtr="0" anchor="ctr" bIns="25400" lIns="25400" spcFirstLastPara="1" rIns="25400" wrap="square" tIns="25400">
              <a:noAutofit/>
            </a:bodyPr>
            <a:lstStyle/>
            <a:p>
              <a:pPr indent="0" lvl="0" marL="0" marR="0" rtl="0" algn="ctr">
                <a:lnSpc>
                  <a:spcPct val="155888"/>
                </a:lnSpc>
                <a:spcBef>
                  <a:spcPts val="0"/>
                </a:spcBef>
                <a:spcAft>
                  <a:spcPts val="0"/>
                </a:spcAft>
                <a:buNone/>
              </a:pPr>
              <a:r>
                <a:t/>
              </a:r>
              <a:endParaRPr sz="900">
                <a:solidFill>
                  <a:schemeClr val="dk1"/>
                </a:solidFill>
                <a:latin typeface="Calibri"/>
                <a:ea typeface="Calibri"/>
                <a:cs typeface="Calibri"/>
                <a:sym typeface="Calibri"/>
              </a:endParaRPr>
            </a:p>
          </p:txBody>
        </p:sp>
      </p:grpSp>
      <p:sp>
        <p:nvSpPr>
          <p:cNvPr id="302" name="Google Shape;302;p37"/>
          <p:cNvSpPr txBox="1"/>
          <p:nvPr/>
        </p:nvSpPr>
        <p:spPr>
          <a:xfrm>
            <a:off x="0" y="495513"/>
            <a:ext cx="6039900" cy="336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sz="1000">
              <a:solidFill>
                <a:schemeClr val="dk1"/>
              </a:solidFill>
            </a:endParaRPr>
          </a:p>
        </p:txBody>
      </p:sp>
      <p:grpSp>
        <p:nvGrpSpPr>
          <p:cNvPr id="303" name="Google Shape;303;p37"/>
          <p:cNvGrpSpPr/>
          <p:nvPr/>
        </p:nvGrpSpPr>
        <p:grpSpPr>
          <a:xfrm>
            <a:off x="532313" y="955722"/>
            <a:ext cx="5705786" cy="3232076"/>
            <a:chOff x="944775" y="1314000"/>
            <a:chExt cx="7102049" cy="3503225"/>
          </a:xfrm>
        </p:grpSpPr>
        <p:pic>
          <p:nvPicPr>
            <p:cNvPr id="304" name="Google Shape;304;p37"/>
            <p:cNvPicPr preferRelativeResize="0"/>
            <p:nvPr/>
          </p:nvPicPr>
          <p:blipFill rotWithShape="1">
            <a:blip r:embed="rId3">
              <a:alphaModFix/>
            </a:blip>
            <a:srcRect b="0" l="0" r="0" t="3855"/>
            <a:stretch/>
          </p:blipFill>
          <p:spPr>
            <a:xfrm>
              <a:off x="944775" y="1366600"/>
              <a:ext cx="7102049" cy="3450625"/>
            </a:xfrm>
            <a:prstGeom prst="rect">
              <a:avLst/>
            </a:prstGeom>
            <a:noFill/>
            <a:ln>
              <a:noFill/>
            </a:ln>
          </p:spPr>
        </p:pic>
        <p:pic>
          <p:nvPicPr>
            <p:cNvPr id="305" name="Google Shape;305;p37"/>
            <p:cNvPicPr preferRelativeResize="0"/>
            <p:nvPr/>
          </p:nvPicPr>
          <p:blipFill>
            <a:blip r:embed="rId4">
              <a:alphaModFix/>
            </a:blip>
            <a:stretch>
              <a:fillRect/>
            </a:stretch>
          </p:blipFill>
          <p:spPr>
            <a:xfrm>
              <a:off x="2208875" y="1656900"/>
              <a:ext cx="239801" cy="239801"/>
            </a:xfrm>
            <a:prstGeom prst="rect">
              <a:avLst/>
            </a:prstGeom>
            <a:noFill/>
            <a:ln>
              <a:noFill/>
            </a:ln>
          </p:spPr>
        </p:pic>
        <p:pic>
          <p:nvPicPr>
            <p:cNvPr id="306" name="Google Shape;306;p37"/>
            <p:cNvPicPr preferRelativeResize="0"/>
            <p:nvPr/>
          </p:nvPicPr>
          <p:blipFill>
            <a:blip r:embed="rId4">
              <a:alphaModFix/>
            </a:blip>
            <a:stretch>
              <a:fillRect/>
            </a:stretch>
          </p:blipFill>
          <p:spPr>
            <a:xfrm>
              <a:off x="2589875" y="1314000"/>
              <a:ext cx="239801" cy="239801"/>
            </a:xfrm>
            <a:prstGeom prst="rect">
              <a:avLst/>
            </a:prstGeom>
            <a:noFill/>
            <a:ln>
              <a:noFill/>
            </a:ln>
          </p:spPr>
        </p:pic>
        <p:pic>
          <p:nvPicPr>
            <p:cNvPr id="307" name="Google Shape;307;p37"/>
            <p:cNvPicPr preferRelativeResize="0"/>
            <p:nvPr/>
          </p:nvPicPr>
          <p:blipFill>
            <a:blip r:embed="rId4">
              <a:alphaModFix/>
            </a:blip>
            <a:stretch>
              <a:fillRect/>
            </a:stretch>
          </p:blipFill>
          <p:spPr>
            <a:xfrm>
              <a:off x="5266400" y="1314000"/>
              <a:ext cx="239801" cy="239801"/>
            </a:xfrm>
            <a:prstGeom prst="rect">
              <a:avLst/>
            </a:prstGeom>
            <a:noFill/>
            <a:ln>
              <a:noFill/>
            </a:ln>
          </p:spPr>
        </p:pic>
        <p:pic>
          <p:nvPicPr>
            <p:cNvPr id="308" name="Google Shape;308;p37"/>
            <p:cNvPicPr preferRelativeResize="0"/>
            <p:nvPr/>
          </p:nvPicPr>
          <p:blipFill>
            <a:blip r:embed="rId4">
              <a:alphaModFix/>
            </a:blip>
            <a:stretch>
              <a:fillRect/>
            </a:stretch>
          </p:blipFill>
          <p:spPr>
            <a:xfrm>
              <a:off x="6409400" y="1314000"/>
              <a:ext cx="239801" cy="239801"/>
            </a:xfrm>
            <a:prstGeom prst="rect">
              <a:avLst/>
            </a:prstGeom>
            <a:noFill/>
            <a:ln>
              <a:noFill/>
            </a:ln>
          </p:spPr>
        </p:pic>
        <p:pic>
          <p:nvPicPr>
            <p:cNvPr id="309" name="Google Shape;309;p37"/>
            <p:cNvPicPr preferRelativeResize="0"/>
            <p:nvPr/>
          </p:nvPicPr>
          <p:blipFill>
            <a:blip r:embed="rId4">
              <a:alphaModFix/>
            </a:blip>
            <a:stretch>
              <a:fillRect/>
            </a:stretch>
          </p:blipFill>
          <p:spPr>
            <a:xfrm>
              <a:off x="7199750" y="1314000"/>
              <a:ext cx="239801" cy="239801"/>
            </a:xfrm>
            <a:prstGeom prst="rect">
              <a:avLst/>
            </a:prstGeom>
            <a:noFill/>
            <a:ln>
              <a:noFill/>
            </a:ln>
          </p:spPr>
        </p:pic>
      </p:grpSp>
      <p:sp>
        <p:nvSpPr>
          <p:cNvPr id="310" name="Google Shape;310;p37"/>
          <p:cNvSpPr txBox="1"/>
          <p:nvPr/>
        </p:nvSpPr>
        <p:spPr>
          <a:xfrm>
            <a:off x="288225" y="176825"/>
            <a:ext cx="4582500" cy="431100"/>
          </a:xfrm>
          <a:prstGeom prst="rect">
            <a:avLst/>
          </a:prstGeom>
          <a:noFill/>
          <a:ln>
            <a:noFill/>
          </a:ln>
        </p:spPr>
        <p:txBody>
          <a:bodyPr anchorCtr="0" anchor="t" bIns="91425" lIns="91425" spcFirstLastPara="1" rIns="91425" wrap="square" tIns="91425">
            <a:spAutoFit/>
          </a:bodyPr>
          <a:lstStyle/>
          <a:p>
            <a:pPr indent="0" lvl="0" marL="0" rtl="0" algn="l">
              <a:lnSpc>
                <a:spcPct val="107916"/>
              </a:lnSpc>
              <a:spcBef>
                <a:spcPts val="0"/>
              </a:spcBef>
              <a:spcAft>
                <a:spcPts val="800"/>
              </a:spcAft>
              <a:buNone/>
            </a:pPr>
            <a:r>
              <a:rPr b="1" lang="en" sz="1600">
                <a:solidFill>
                  <a:schemeClr val="dk1"/>
                </a:solidFill>
                <a:latin typeface="Calibri"/>
                <a:ea typeface="Calibri"/>
                <a:cs typeface="Calibri"/>
                <a:sym typeface="Calibri"/>
              </a:rPr>
              <a:t>Bar Chart - </a:t>
            </a:r>
            <a:r>
              <a:rPr b="1" lang="en" sz="1600">
                <a:solidFill>
                  <a:schemeClr val="dk1"/>
                </a:solidFill>
                <a:latin typeface="Calibri"/>
                <a:ea typeface="Calibri"/>
                <a:cs typeface="Calibri"/>
                <a:sym typeface="Calibri"/>
              </a:rPr>
              <a:t>CSK’s Journey (2008–2024):</a:t>
            </a:r>
            <a:endParaRPr sz="1600"/>
          </a:p>
        </p:txBody>
      </p:sp>
      <p:sp>
        <p:nvSpPr>
          <p:cNvPr id="311" name="Google Shape;311;p37"/>
          <p:cNvSpPr/>
          <p:nvPr/>
        </p:nvSpPr>
        <p:spPr>
          <a:xfrm>
            <a:off x="6640025" y="1024263"/>
            <a:ext cx="2015100" cy="336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5-Time Champions</a:t>
            </a:r>
            <a:endParaRPr>
              <a:latin typeface="Calibri"/>
              <a:ea typeface="Calibri"/>
              <a:cs typeface="Calibri"/>
              <a:sym typeface="Calibri"/>
            </a:endParaRPr>
          </a:p>
        </p:txBody>
      </p:sp>
      <p:sp>
        <p:nvSpPr>
          <p:cNvPr id="312" name="Google Shape;312;p37"/>
          <p:cNvSpPr/>
          <p:nvPr/>
        </p:nvSpPr>
        <p:spPr>
          <a:xfrm>
            <a:off x="6640025" y="1964338"/>
            <a:ext cx="2015100" cy="336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12-Time Qualifier</a:t>
            </a:r>
            <a:endParaRPr>
              <a:latin typeface="Calibri"/>
              <a:ea typeface="Calibri"/>
              <a:cs typeface="Calibri"/>
              <a:sym typeface="Calibri"/>
            </a:endParaRPr>
          </a:p>
        </p:txBody>
      </p:sp>
      <p:sp>
        <p:nvSpPr>
          <p:cNvPr id="313" name="Google Shape;313;p37"/>
          <p:cNvSpPr/>
          <p:nvPr/>
        </p:nvSpPr>
        <p:spPr>
          <a:xfrm>
            <a:off x="6640025" y="2418988"/>
            <a:ext cx="2015100" cy="336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58% Win Rate</a:t>
            </a:r>
            <a:endParaRPr>
              <a:latin typeface="Calibri"/>
              <a:ea typeface="Calibri"/>
              <a:cs typeface="Calibri"/>
              <a:sym typeface="Calibri"/>
            </a:endParaRPr>
          </a:p>
        </p:txBody>
      </p:sp>
      <p:sp>
        <p:nvSpPr>
          <p:cNvPr id="314" name="Google Shape;314;p37"/>
          <p:cNvSpPr/>
          <p:nvPr/>
        </p:nvSpPr>
        <p:spPr>
          <a:xfrm>
            <a:off x="6640025" y="1509688"/>
            <a:ext cx="2015100" cy="336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10-Time Finalists</a:t>
            </a:r>
            <a:endParaRPr>
              <a:latin typeface="Calibri"/>
              <a:ea typeface="Calibri"/>
              <a:cs typeface="Calibri"/>
              <a:sym typeface="Calibri"/>
            </a:endParaRPr>
          </a:p>
        </p:txBody>
      </p:sp>
      <p:sp>
        <p:nvSpPr>
          <p:cNvPr id="315" name="Google Shape;315;p37"/>
          <p:cNvSpPr/>
          <p:nvPr/>
        </p:nvSpPr>
        <p:spPr>
          <a:xfrm>
            <a:off x="6640025" y="2873638"/>
            <a:ext cx="2015100" cy="336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4-Time Table Top</a:t>
            </a:r>
            <a:endParaRPr>
              <a:latin typeface="Calibri"/>
              <a:ea typeface="Calibri"/>
              <a:cs typeface="Calibri"/>
              <a:sym typeface="Calibri"/>
            </a:endParaRPr>
          </a:p>
        </p:txBody>
      </p:sp>
      <p:sp>
        <p:nvSpPr>
          <p:cNvPr id="316" name="Google Shape;316;p37"/>
          <p:cNvSpPr/>
          <p:nvPr/>
        </p:nvSpPr>
        <p:spPr>
          <a:xfrm>
            <a:off x="6640025" y="3328288"/>
            <a:ext cx="2015100" cy="336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Seen Ups &amp; Downs</a:t>
            </a:r>
            <a:endParaRPr>
              <a:latin typeface="Calibri"/>
              <a:ea typeface="Calibri"/>
              <a:cs typeface="Calibri"/>
              <a:sym typeface="Calibri"/>
            </a:endParaRPr>
          </a:p>
        </p:txBody>
      </p:sp>
      <p:sp>
        <p:nvSpPr>
          <p:cNvPr id="317" name="Google Shape;317;p37"/>
          <p:cNvSpPr/>
          <p:nvPr/>
        </p:nvSpPr>
        <p:spPr>
          <a:xfrm>
            <a:off x="6640025" y="3782938"/>
            <a:ext cx="2015100" cy="336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Captain Dhoni</a:t>
            </a:r>
            <a:r>
              <a:rPr lang="en">
                <a:latin typeface="Calibri"/>
                <a:ea typeface="Calibri"/>
                <a:cs typeface="Calibri"/>
                <a:sym typeface="Calibri"/>
              </a:rPr>
              <a:t> Legacy</a:t>
            </a:r>
            <a:endParaRPr>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8"/>
          <p:cNvSpPr txBox="1"/>
          <p:nvPr/>
        </p:nvSpPr>
        <p:spPr>
          <a:xfrm>
            <a:off x="7658100" y="69127"/>
            <a:ext cx="1428600" cy="107700"/>
          </a:xfrm>
          <a:prstGeom prst="rect">
            <a:avLst/>
          </a:prstGeom>
          <a:noFill/>
          <a:ln>
            <a:noFill/>
          </a:ln>
        </p:spPr>
        <p:txBody>
          <a:bodyPr anchorCtr="0" anchor="t" bIns="0" lIns="0" spcFirstLastPara="1" rIns="0" wrap="square" tIns="0">
            <a:spAutoFit/>
          </a:bodyPr>
          <a:lstStyle/>
          <a:p>
            <a:pPr indent="0" lvl="0" marL="0" marR="0" rtl="0" algn="r">
              <a:lnSpc>
                <a:spcPct val="122000"/>
              </a:lnSpc>
              <a:spcBef>
                <a:spcPts val="0"/>
              </a:spcBef>
              <a:spcAft>
                <a:spcPts val="0"/>
              </a:spcAft>
              <a:buNone/>
            </a:pPr>
            <a:r>
              <a:t/>
            </a:r>
            <a:endParaRPr b="1" sz="700"/>
          </a:p>
        </p:txBody>
      </p:sp>
      <p:grpSp>
        <p:nvGrpSpPr>
          <p:cNvPr id="323" name="Google Shape;323;p38"/>
          <p:cNvGrpSpPr/>
          <p:nvPr/>
        </p:nvGrpSpPr>
        <p:grpSpPr>
          <a:xfrm>
            <a:off x="0" y="5060139"/>
            <a:ext cx="9144120" cy="97648"/>
            <a:chOff x="0" y="-9525"/>
            <a:chExt cx="5052000" cy="51437"/>
          </a:xfrm>
        </p:grpSpPr>
        <p:sp>
          <p:nvSpPr>
            <p:cNvPr id="324" name="Google Shape;324;p38"/>
            <p:cNvSpPr/>
            <p:nvPr/>
          </p:nvSpPr>
          <p:spPr>
            <a:xfrm>
              <a:off x="0" y="0"/>
              <a:ext cx="5051911" cy="41912"/>
            </a:xfrm>
            <a:custGeom>
              <a:rect b="b" l="l" r="r" t="t"/>
              <a:pathLst>
                <a:path extrusionOk="0" h="41912" w="5051911">
                  <a:moveTo>
                    <a:pt x="0" y="0"/>
                  </a:moveTo>
                  <a:lnTo>
                    <a:pt x="5051911" y="0"/>
                  </a:lnTo>
                  <a:lnTo>
                    <a:pt x="5051911" y="41912"/>
                  </a:lnTo>
                  <a:lnTo>
                    <a:pt x="0" y="41912"/>
                  </a:lnTo>
                  <a:close/>
                </a:path>
              </a:pathLst>
            </a:custGeom>
            <a:solidFill>
              <a:srgbClr val="F35C19"/>
            </a:solid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325" name="Google Shape;325;p38"/>
            <p:cNvSpPr txBox="1"/>
            <p:nvPr/>
          </p:nvSpPr>
          <p:spPr>
            <a:xfrm>
              <a:off x="0" y="-9525"/>
              <a:ext cx="5052000" cy="51300"/>
            </a:xfrm>
            <a:prstGeom prst="rect">
              <a:avLst/>
            </a:prstGeom>
            <a:solidFill>
              <a:srgbClr val="F35C19"/>
            </a:solidFill>
            <a:ln>
              <a:noFill/>
            </a:ln>
          </p:spPr>
          <p:txBody>
            <a:bodyPr anchorCtr="0" anchor="ctr" bIns="25400" lIns="25400" spcFirstLastPara="1" rIns="25400" wrap="square" tIns="25400">
              <a:noAutofit/>
            </a:bodyPr>
            <a:lstStyle/>
            <a:p>
              <a:pPr indent="0" lvl="0" marL="0" marR="0" rtl="0" algn="ctr">
                <a:lnSpc>
                  <a:spcPct val="155888"/>
                </a:lnSpc>
                <a:spcBef>
                  <a:spcPts val="0"/>
                </a:spcBef>
                <a:spcAft>
                  <a:spcPts val="0"/>
                </a:spcAft>
                <a:buNone/>
              </a:pPr>
              <a:r>
                <a:t/>
              </a:r>
              <a:endParaRPr sz="900">
                <a:solidFill>
                  <a:schemeClr val="dk1"/>
                </a:solidFill>
                <a:latin typeface="Calibri"/>
                <a:ea typeface="Calibri"/>
                <a:cs typeface="Calibri"/>
                <a:sym typeface="Calibri"/>
              </a:endParaRPr>
            </a:p>
          </p:txBody>
        </p:sp>
      </p:grpSp>
      <p:pic>
        <p:nvPicPr>
          <p:cNvPr id="326" name="Google Shape;326;p38"/>
          <p:cNvPicPr preferRelativeResize="0"/>
          <p:nvPr/>
        </p:nvPicPr>
        <p:blipFill rotWithShape="1">
          <a:blip r:embed="rId3">
            <a:alphaModFix/>
          </a:blip>
          <a:srcRect b="1477" l="0" r="970" t="0"/>
          <a:stretch/>
        </p:blipFill>
        <p:spPr>
          <a:xfrm>
            <a:off x="5235374" y="822863"/>
            <a:ext cx="3456481" cy="1702501"/>
          </a:xfrm>
          <a:prstGeom prst="rect">
            <a:avLst/>
          </a:prstGeom>
          <a:noFill/>
          <a:ln>
            <a:noFill/>
          </a:ln>
        </p:spPr>
      </p:pic>
      <p:sp>
        <p:nvSpPr>
          <p:cNvPr id="327" name="Google Shape;327;p38"/>
          <p:cNvSpPr txBox="1"/>
          <p:nvPr/>
        </p:nvSpPr>
        <p:spPr>
          <a:xfrm>
            <a:off x="7862450" y="3740725"/>
            <a:ext cx="1299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600">
              <a:solidFill>
                <a:schemeClr val="dk1"/>
              </a:solidFill>
              <a:latin typeface="Calibri"/>
              <a:ea typeface="Calibri"/>
              <a:cs typeface="Calibri"/>
              <a:sym typeface="Calibri"/>
            </a:endParaRPr>
          </a:p>
        </p:txBody>
      </p:sp>
      <p:pic>
        <p:nvPicPr>
          <p:cNvPr id="328" name="Google Shape;328;p38"/>
          <p:cNvPicPr preferRelativeResize="0"/>
          <p:nvPr/>
        </p:nvPicPr>
        <p:blipFill rotWithShape="1">
          <a:blip r:embed="rId4">
            <a:alphaModFix/>
          </a:blip>
          <a:srcRect b="0" l="0" r="0" t="9543"/>
          <a:stretch/>
        </p:blipFill>
        <p:spPr>
          <a:xfrm>
            <a:off x="478850" y="869238"/>
            <a:ext cx="4419600" cy="1609725"/>
          </a:xfrm>
          <a:prstGeom prst="rect">
            <a:avLst/>
          </a:prstGeom>
          <a:noFill/>
          <a:ln>
            <a:noFill/>
          </a:ln>
        </p:spPr>
      </p:pic>
      <p:sp>
        <p:nvSpPr>
          <p:cNvPr id="329" name="Google Shape;329;p38"/>
          <p:cNvSpPr txBox="1"/>
          <p:nvPr/>
        </p:nvSpPr>
        <p:spPr>
          <a:xfrm>
            <a:off x="577000" y="176825"/>
            <a:ext cx="4321500" cy="431100"/>
          </a:xfrm>
          <a:prstGeom prst="rect">
            <a:avLst/>
          </a:prstGeom>
          <a:noFill/>
          <a:ln>
            <a:noFill/>
          </a:ln>
        </p:spPr>
        <p:txBody>
          <a:bodyPr anchorCtr="0" anchor="t" bIns="91425" lIns="91425" spcFirstLastPara="1" rIns="91425" wrap="square" tIns="91425">
            <a:spAutoFit/>
          </a:bodyPr>
          <a:lstStyle/>
          <a:p>
            <a:pPr indent="0" lvl="0" marL="0" rtl="0" algn="l">
              <a:lnSpc>
                <a:spcPct val="107916"/>
              </a:lnSpc>
              <a:spcBef>
                <a:spcPts val="0"/>
              </a:spcBef>
              <a:spcAft>
                <a:spcPts val="800"/>
              </a:spcAft>
              <a:buNone/>
            </a:pPr>
            <a:r>
              <a:rPr b="1" lang="en" sz="1600">
                <a:solidFill>
                  <a:schemeClr val="dk1"/>
                </a:solidFill>
                <a:latin typeface="Calibri"/>
                <a:ea typeface="Calibri"/>
                <a:cs typeface="Calibri"/>
                <a:sym typeface="Calibri"/>
              </a:rPr>
              <a:t>Grouped</a:t>
            </a:r>
            <a:r>
              <a:rPr b="1" lang="en" sz="1600">
                <a:solidFill>
                  <a:schemeClr val="dk1"/>
                </a:solidFill>
                <a:latin typeface="Calibri"/>
                <a:ea typeface="Calibri"/>
                <a:cs typeface="Calibri"/>
                <a:sym typeface="Calibri"/>
              </a:rPr>
              <a:t> Bar Chart - CSK Performance </a:t>
            </a:r>
            <a:endParaRPr sz="1600"/>
          </a:p>
        </p:txBody>
      </p:sp>
      <p:sp>
        <p:nvSpPr>
          <p:cNvPr id="330" name="Google Shape;330;p38"/>
          <p:cNvSpPr txBox="1"/>
          <p:nvPr/>
        </p:nvSpPr>
        <p:spPr>
          <a:xfrm>
            <a:off x="5412775" y="176825"/>
            <a:ext cx="4217400" cy="431100"/>
          </a:xfrm>
          <a:prstGeom prst="rect">
            <a:avLst/>
          </a:prstGeom>
          <a:noFill/>
          <a:ln>
            <a:noFill/>
          </a:ln>
        </p:spPr>
        <p:txBody>
          <a:bodyPr anchorCtr="0" anchor="t" bIns="91425" lIns="91425" spcFirstLastPara="1" rIns="91425" wrap="square" tIns="91425">
            <a:spAutoFit/>
          </a:bodyPr>
          <a:lstStyle/>
          <a:p>
            <a:pPr indent="0" lvl="0" marL="0" rtl="0" algn="l">
              <a:lnSpc>
                <a:spcPct val="107916"/>
              </a:lnSpc>
              <a:spcBef>
                <a:spcPts val="0"/>
              </a:spcBef>
              <a:spcAft>
                <a:spcPts val="800"/>
              </a:spcAft>
              <a:buNone/>
            </a:pPr>
            <a:r>
              <a:rPr b="1" lang="en" sz="1600">
                <a:solidFill>
                  <a:schemeClr val="dk1"/>
                </a:solidFill>
                <a:latin typeface="Calibri"/>
                <a:ea typeface="Calibri"/>
                <a:cs typeface="Calibri"/>
                <a:sym typeface="Calibri"/>
              </a:rPr>
              <a:t>Dotted</a:t>
            </a:r>
            <a:r>
              <a:rPr b="1" lang="en" sz="1600">
                <a:solidFill>
                  <a:schemeClr val="dk1"/>
                </a:solidFill>
                <a:latin typeface="Calibri"/>
                <a:ea typeface="Calibri"/>
                <a:cs typeface="Calibri"/>
                <a:sym typeface="Calibri"/>
              </a:rPr>
              <a:t> Line</a:t>
            </a:r>
            <a:r>
              <a:rPr b="1" lang="en" sz="1600">
                <a:solidFill>
                  <a:schemeClr val="dk1"/>
                </a:solidFill>
                <a:latin typeface="Calibri"/>
                <a:ea typeface="Calibri"/>
                <a:cs typeface="Calibri"/>
                <a:sym typeface="Calibri"/>
              </a:rPr>
              <a:t> Chart - CSK Performance </a:t>
            </a:r>
            <a:endParaRPr sz="1600"/>
          </a:p>
        </p:txBody>
      </p:sp>
      <p:sp>
        <p:nvSpPr>
          <p:cNvPr id="331" name="Google Shape;331;p38"/>
          <p:cNvSpPr/>
          <p:nvPr/>
        </p:nvSpPr>
        <p:spPr>
          <a:xfrm>
            <a:off x="650250" y="2866650"/>
            <a:ext cx="3456600" cy="431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solidFill>
                  <a:schemeClr val="dk1"/>
                </a:solidFill>
                <a:latin typeface="Calibri"/>
                <a:ea typeface="Calibri"/>
                <a:cs typeface="Calibri"/>
                <a:sym typeface="Calibri"/>
              </a:rPr>
              <a:t>Win-Loss Contrast</a:t>
            </a:r>
            <a:r>
              <a:rPr lang="en" sz="900">
                <a:solidFill>
                  <a:schemeClr val="dk1"/>
                </a:solidFill>
                <a:latin typeface="Calibri"/>
                <a:ea typeface="Calibri"/>
                <a:cs typeface="Calibri"/>
                <a:sym typeface="Calibri"/>
              </a:rPr>
              <a:t>: Clear visual comparison each season</a:t>
            </a:r>
            <a:endParaRPr sz="900">
              <a:latin typeface="Calibri"/>
              <a:ea typeface="Calibri"/>
              <a:cs typeface="Calibri"/>
              <a:sym typeface="Calibri"/>
            </a:endParaRPr>
          </a:p>
        </p:txBody>
      </p:sp>
      <p:sp>
        <p:nvSpPr>
          <p:cNvPr id="332" name="Google Shape;332;p38"/>
          <p:cNvSpPr/>
          <p:nvPr/>
        </p:nvSpPr>
        <p:spPr>
          <a:xfrm>
            <a:off x="650250" y="3449500"/>
            <a:ext cx="3456600" cy="431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solidFill>
                  <a:schemeClr val="dk1"/>
                </a:solidFill>
                <a:latin typeface="Calibri"/>
                <a:ea typeface="Calibri"/>
                <a:cs typeface="Calibri"/>
                <a:sym typeface="Calibri"/>
              </a:rPr>
              <a:t>Dominance Indicator: </a:t>
            </a:r>
            <a:r>
              <a:rPr lang="en" sz="900">
                <a:solidFill>
                  <a:schemeClr val="dk1"/>
                </a:solidFill>
                <a:latin typeface="Calibri"/>
                <a:ea typeface="Calibri"/>
                <a:cs typeface="Calibri"/>
                <a:sym typeface="Calibri"/>
              </a:rPr>
              <a:t>Taller yellow bars reflect strong seasons</a:t>
            </a:r>
            <a:endParaRPr sz="900">
              <a:latin typeface="Calibri"/>
              <a:ea typeface="Calibri"/>
              <a:cs typeface="Calibri"/>
              <a:sym typeface="Calibri"/>
            </a:endParaRPr>
          </a:p>
        </p:txBody>
      </p:sp>
      <p:sp>
        <p:nvSpPr>
          <p:cNvPr id="333" name="Google Shape;333;p38"/>
          <p:cNvSpPr/>
          <p:nvPr/>
        </p:nvSpPr>
        <p:spPr>
          <a:xfrm>
            <a:off x="650250" y="4096450"/>
            <a:ext cx="3456600" cy="431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solidFill>
                  <a:schemeClr val="dk1"/>
                </a:solidFill>
                <a:latin typeface="Calibri"/>
                <a:ea typeface="Calibri"/>
                <a:cs typeface="Calibri"/>
                <a:sym typeface="Calibri"/>
              </a:rPr>
              <a:t>Seasonal Balance: </a:t>
            </a:r>
            <a:r>
              <a:rPr lang="en" sz="900">
                <a:solidFill>
                  <a:schemeClr val="dk1"/>
                </a:solidFill>
                <a:latin typeface="Calibri"/>
                <a:ea typeface="Calibri"/>
                <a:cs typeface="Calibri"/>
                <a:sym typeface="Calibri"/>
              </a:rPr>
              <a:t>Quickly spot seasons with near-equal outcomes</a:t>
            </a:r>
            <a:endParaRPr sz="900">
              <a:latin typeface="Calibri"/>
              <a:ea typeface="Calibri"/>
              <a:cs typeface="Calibri"/>
              <a:sym typeface="Calibri"/>
            </a:endParaRPr>
          </a:p>
        </p:txBody>
      </p:sp>
      <p:sp>
        <p:nvSpPr>
          <p:cNvPr id="334" name="Google Shape;334;p38"/>
          <p:cNvSpPr/>
          <p:nvPr/>
        </p:nvSpPr>
        <p:spPr>
          <a:xfrm>
            <a:off x="5249838" y="2866650"/>
            <a:ext cx="3456600" cy="431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solidFill>
                  <a:schemeClr val="dk1"/>
                </a:solidFill>
                <a:latin typeface="Calibri"/>
                <a:ea typeface="Calibri"/>
                <a:cs typeface="Calibri"/>
                <a:sym typeface="Calibri"/>
              </a:rPr>
              <a:t>Win-Loss Gaps:</a:t>
            </a:r>
            <a:r>
              <a:rPr lang="en" sz="900">
                <a:solidFill>
                  <a:schemeClr val="dk1"/>
                </a:solidFill>
                <a:latin typeface="Calibri"/>
                <a:ea typeface="Calibri"/>
                <a:cs typeface="Calibri"/>
                <a:sym typeface="Calibri"/>
              </a:rPr>
              <a:t> Distance between lines shows performance margin</a:t>
            </a:r>
            <a:endParaRPr sz="900">
              <a:latin typeface="Calibri"/>
              <a:ea typeface="Calibri"/>
              <a:cs typeface="Calibri"/>
              <a:sym typeface="Calibri"/>
            </a:endParaRPr>
          </a:p>
        </p:txBody>
      </p:sp>
      <p:sp>
        <p:nvSpPr>
          <p:cNvPr id="335" name="Google Shape;335;p38"/>
          <p:cNvSpPr/>
          <p:nvPr/>
        </p:nvSpPr>
        <p:spPr>
          <a:xfrm>
            <a:off x="5249838" y="3449500"/>
            <a:ext cx="3456600" cy="431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solidFill>
                  <a:schemeClr val="dk1"/>
                </a:solidFill>
                <a:latin typeface="Calibri"/>
                <a:ea typeface="Calibri"/>
                <a:cs typeface="Calibri"/>
                <a:sym typeface="Calibri"/>
              </a:rPr>
              <a:t>Performance Trends: </a:t>
            </a:r>
            <a:r>
              <a:rPr lang="en" sz="900">
                <a:solidFill>
                  <a:schemeClr val="dk1"/>
                </a:solidFill>
                <a:latin typeface="Calibri"/>
                <a:ea typeface="Calibri"/>
                <a:cs typeface="Calibri"/>
                <a:sym typeface="Calibri"/>
              </a:rPr>
              <a:t>Easy to spot rising/falling form</a:t>
            </a:r>
            <a:endParaRPr sz="1200">
              <a:latin typeface="Calibri"/>
              <a:ea typeface="Calibri"/>
              <a:cs typeface="Calibri"/>
              <a:sym typeface="Calibri"/>
            </a:endParaRPr>
          </a:p>
        </p:txBody>
      </p:sp>
      <p:sp>
        <p:nvSpPr>
          <p:cNvPr id="336" name="Google Shape;336;p38"/>
          <p:cNvSpPr/>
          <p:nvPr/>
        </p:nvSpPr>
        <p:spPr>
          <a:xfrm>
            <a:off x="5249838" y="4096450"/>
            <a:ext cx="3456600" cy="431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solidFill>
                  <a:schemeClr val="dk1"/>
                </a:solidFill>
                <a:latin typeface="Calibri"/>
                <a:ea typeface="Calibri"/>
                <a:cs typeface="Calibri"/>
                <a:sym typeface="Calibri"/>
              </a:rPr>
              <a:t>Sharp Variations: </a:t>
            </a:r>
            <a:r>
              <a:rPr lang="en" sz="900">
                <a:solidFill>
                  <a:schemeClr val="dk1"/>
                </a:solidFill>
                <a:latin typeface="Calibri"/>
                <a:ea typeface="Calibri"/>
                <a:cs typeface="Calibri"/>
                <a:sym typeface="Calibri"/>
              </a:rPr>
              <a:t>Highlights drastic swings between seasons</a:t>
            </a:r>
            <a:endParaRPr sz="900">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grpSp>
        <p:nvGrpSpPr>
          <p:cNvPr id="341" name="Google Shape;341;p39"/>
          <p:cNvGrpSpPr/>
          <p:nvPr/>
        </p:nvGrpSpPr>
        <p:grpSpPr>
          <a:xfrm>
            <a:off x="0" y="5060139"/>
            <a:ext cx="9144120" cy="97648"/>
            <a:chOff x="0" y="-9525"/>
            <a:chExt cx="5052000" cy="51437"/>
          </a:xfrm>
        </p:grpSpPr>
        <p:sp>
          <p:nvSpPr>
            <p:cNvPr id="342" name="Google Shape;342;p39"/>
            <p:cNvSpPr/>
            <p:nvPr/>
          </p:nvSpPr>
          <p:spPr>
            <a:xfrm>
              <a:off x="0" y="0"/>
              <a:ext cx="5051911" cy="41912"/>
            </a:xfrm>
            <a:custGeom>
              <a:rect b="b" l="l" r="r" t="t"/>
              <a:pathLst>
                <a:path extrusionOk="0" h="41912" w="5051911">
                  <a:moveTo>
                    <a:pt x="0" y="0"/>
                  </a:moveTo>
                  <a:lnTo>
                    <a:pt x="5051911" y="0"/>
                  </a:lnTo>
                  <a:lnTo>
                    <a:pt x="5051911" y="41912"/>
                  </a:lnTo>
                  <a:lnTo>
                    <a:pt x="0" y="41912"/>
                  </a:lnTo>
                  <a:close/>
                </a:path>
              </a:pathLst>
            </a:custGeom>
            <a:solidFill>
              <a:srgbClr val="F35C19"/>
            </a:solid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343" name="Google Shape;343;p39"/>
            <p:cNvSpPr txBox="1"/>
            <p:nvPr/>
          </p:nvSpPr>
          <p:spPr>
            <a:xfrm>
              <a:off x="0" y="-9525"/>
              <a:ext cx="5052000" cy="51300"/>
            </a:xfrm>
            <a:prstGeom prst="rect">
              <a:avLst/>
            </a:prstGeom>
            <a:solidFill>
              <a:srgbClr val="F35C19"/>
            </a:solidFill>
            <a:ln>
              <a:noFill/>
            </a:ln>
          </p:spPr>
          <p:txBody>
            <a:bodyPr anchorCtr="0" anchor="ctr" bIns="25400" lIns="25400" spcFirstLastPara="1" rIns="25400" wrap="square" tIns="25400">
              <a:noAutofit/>
            </a:bodyPr>
            <a:lstStyle/>
            <a:p>
              <a:pPr indent="0" lvl="0" marL="0" marR="0" rtl="0" algn="ctr">
                <a:lnSpc>
                  <a:spcPct val="155888"/>
                </a:lnSpc>
                <a:spcBef>
                  <a:spcPts val="0"/>
                </a:spcBef>
                <a:spcAft>
                  <a:spcPts val="0"/>
                </a:spcAft>
                <a:buNone/>
              </a:pPr>
              <a:r>
                <a:t/>
              </a:r>
              <a:endParaRPr sz="900">
                <a:solidFill>
                  <a:schemeClr val="dk1"/>
                </a:solidFill>
                <a:latin typeface="Calibri"/>
                <a:ea typeface="Calibri"/>
                <a:cs typeface="Calibri"/>
                <a:sym typeface="Calibri"/>
              </a:endParaRPr>
            </a:p>
          </p:txBody>
        </p:sp>
      </p:grpSp>
      <p:pic>
        <p:nvPicPr>
          <p:cNvPr id="344" name="Google Shape;344;p39"/>
          <p:cNvPicPr preferRelativeResize="0"/>
          <p:nvPr/>
        </p:nvPicPr>
        <p:blipFill>
          <a:blip r:embed="rId3">
            <a:alphaModFix/>
          </a:blip>
          <a:stretch>
            <a:fillRect/>
          </a:stretch>
        </p:blipFill>
        <p:spPr>
          <a:xfrm>
            <a:off x="5490000" y="888400"/>
            <a:ext cx="3052275" cy="3133675"/>
          </a:xfrm>
          <a:prstGeom prst="rect">
            <a:avLst/>
          </a:prstGeom>
          <a:noFill/>
          <a:ln>
            <a:noFill/>
          </a:ln>
        </p:spPr>
      </p:pic>
      <p:sp>
        <p:nvSpPr>
          <p:cNvPr id="345" name="Google Shape;345;p39"/>
          <p:cNvSpPr txBox="1"/>
          <p:nvPr/>
        </p:nvSpPr>
        <p:spPr>
          <a:xfrm>
            <a:off x="315950" y="176825"/>
            <a:ext cx="4582500" cy="431100"/>
          </a:xfrm>
          <a:prstGeom prst="rect">
            <a:avLst/>
          </a:prstGeom>
          <a:noFill/>
          <a:ln>
            <a:noFill/>
          </a:ln>
        </p:spPr>
        <p:txBody>
          <a:bodyPr anchorCtr="0" anchor="t" bIns="91425" lIns="91425" spcFirstLastPara="1" rIns="91425" wrap="square" tIns="91425">
            <a:spAutoFit/>
          </a:bodyPr>
          <a:lstStyle/>
          <a:p>
            <a:pPr indent="0" lvl="0" marL="0" rtl="0" algn="l">
              <a:lnSpc>
                <a:spcPct val="107916"/>
              </a:lnSpc>
              <a:spcBef>
                <a:spcPts val="0"/>
              </a:spcBef>
              <a:spcAft>
                <a:spcPts val="800"/>
              </a:spcAft>
              <a:buNone/>
            </a:pPr>
            <a:r>
              <a:rPr b="1" lang="en" sz="1600">
                <a:solidFill>
                  <a:schemeClr val="dk1"/>
                </a:solidFill>
                <a:latin typeface="Calibri"/>
                <a:ea typeface="Calibri"/>
                <a:cs typeface="Calibri"/>
                <a:sym typeface="Calibri"/>
              </a:rPr>
              <a:t>Mosaic Plot</a:t>
            </a:r>
            <a:r>
              <a:rPr b="1" lang="en" sz="1600">
                <a:solidFill>
                  <a:schemeClr val="dk1"/>
                </a:solidFill>
                <a:latin typeface="Calibri"/>
                <a:ea typeface="Calibri"/>
                <a:cs typeface="Calibri"/>
                <a:sym typeface="Calibri"/>
              </a:rPr>
              <a:t> - CSK </a:t>
            </a:r>
            <a:r>
              <a:rPr b="1" lang="en" sz="1600">
                <a:solidFill>
                  <a:schemeClr val="dk1"/>
                </a:solidFill>
                <a:latin typeface="Calibri"/>
                <a:ea typeface="Calibri"/>
                <a:cs typeface="Calibri"/>
                <a:sym typeface="Calibri"/>
              </a:rPr>
              <a:t>Toss vs Match Outcome:</a:t>
            </a:r>
            <a:endParaRPr sz="1600"/>
          </a:p>
        </p:txBody>
      </p:sp>
      <p:sp>
        <p:nvSpPr>
          <p:cNvPr id="346" name="Google Shape;346;p39"/>
          <p:cNvSpPr txBox="1"/>
          <p:nvPr/>
        </p:nvSpPr>
        <p:spPr>
          <a:xfrm>
            <a:off x="5538075" y="4022075"/>
            <a:ext cx="3004200" cy="43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latin typeface="Calibri"/>
                <a:ea typeface="Calibri"/>
                <a:cs typeface="Calibri"/>
                <a:sym typeface="Calibri"/>
              </a:rPr>
              <a:t>This graph shows how toss outcomes relate to match results, revealing hidden performance patterns.</a:t>
            </a:r>
            <a:endParaRPr sz="900">
              <a:solidFill>
                <a:schemeClr val="dk1"/>
              </a:solidFill>
              <a:latin typeface="Calibri"/>
              <a:ea typeface="Calibri"/>
              <a:cs typeface="Calibri"/>
              <a:sym typeface="Calibri"/>
            </a:endParaRPr>
          </a:p>
        </p:txBody>
      </p:sp>
      <p:sp>
        <p:nvSpPr>
          <p:cNvPr id="347" name="Google Shape;347;p39"/>
          <p:cNvSpPr/>
          <p:nvPr/>
        </p:nvSpPr>
        <p:spPr>
          <a:xfrm>
            <a:off x="576975" y="1064700"/>
            <a:ext cx="44772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900">
                <a:solidFill>
                  <a:schemeClr val="dk1"/>
                </a:solidFill>
                <a:latin typeface="Calibri"/>
                <a:ea typeface="Calibri"/>
                <a:cs typeface="Calibri"/>
                <a:sym typeface="Calibri"/>
              </a:rPr>
              <a:t>No Toss Advantage: </a:t>
            </a:r>
            <a:r>
              <a:rPr lang="en" sz="900">
                <a:solidFill>
                  <a:schemeClr val="dk1"/>
                </a:solidFill>
                <a:latin typeface="Calibri"/>
                <a:ea typeface="Calibri"/>
                <a:cs typeface="Calibri"/>
                <a:sym typeface="Calibri"/>
              </a:rPr>
              <a:t>Winning the toss didn’t guarantee a match win (18 wins vs 15 losses)</a:t>
            </a:r>
            <a:endParaRPr sz="900">
              <a:latin typeface="Calibri"/>
              <a:ea typeface="Calibri"/>
              <a:cs typeface="Calibri"/>
              <a:sym typeface="Calibri"/>
            </a:endParaRPr>
          </a:p>
        </p:txBody>
      </p:sp>
      <p:sp>
        <p:nvSpPr>
          <p:cNvPr id="348" name="Google Shape;348;p39"/>
          <p:cNvSpPr/>
          <p:nvPr/>
        </p:nvSpPr>
        <p:spPr>
          <a:xfrm>
            <a:off x="576975" y="1665875"/>
            <a:ext cx="44772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900">
                <a:solidFill>
                  <a:schemeClr val="dk1"/>
                </a:solidFill>
                <a:latin typeface="Calibri"/>
                <a:ea typeface="Calibri"/>
                <a:cs typeface="Calibri"/>
                <a:sym typeface="Calibri"/>
              </a:rPr>
              <a:t>Stronger After Toss Loss: </a:t>
            </a:r>
            <a:r>
              <a:rPr lang="en" sz="900">
                <a:solidFill>
                  <a:schemeClr val="dk1"/>
                </a:solidFill>
                <a:latin typeface="Calibri"/>
                <a:ea typeface="Calibri"/>
                <a:cs typeface="Calibri"/>
                <a:sym typeface="Calibri"/>
              </a:rPr>
              <a:t>CSK won more matches (22) after losing the toss than when they won it (18).</a:t>
            </a:r>
            <a:endParaRPr sz="900">
              <a:latin typeface="Calibri"/>
              <a:ea typeface="Calibri"/>
              <a:cs typeface="Calibri"/>
              <a:sym typeface="Calibri"/>
            </a:endParaRPr>
          </a:p>
        </p:txBody>
      </p:sp>
      <p:sp>
        <p:nvSpPr>
          <p:cNvPr id="349" name="Google Shape;349;p39"/>
          <p:cNvSpPr/>
          <p:nvPr/>
        </p:nvSpPr>
        <p:spPr>
          <a:xfrm>
            <a:off x="576975" y="2267050"/>
            <a:ext cx="44772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900">
                <a:solidFill>
                  <a:schemeClr val="dk1"/>
                </a:solidFill>
                <a:latin typeface="Calibri"/>
                <a:ea typeface="Calibri"/>
                <a:cs typeface="Calibri"/>
                <a:sym typeface="Calibri"/>
              </a:rPr>
              <a:t>Balanced When Toss Lost: </a:t>
            </a:r>
            <a:r>
              <a:rPr lang="en" sz="900">
                <a:solidFill>
                  <a:schemeClr val="dk1"/>
                </a:solidFill>
                <a:latin typeface="Calibri"/>
                <a:ea typeface="Calibri"/>
                <a:cs typeface="Calibri"/>
                <a:sym typeface="Calibri"/>
              </a:rPr>
              <a:t>Equal number of wins and losses (22 each) when toss was lost</a:t>
            </a:r>
            <a:endParaRPr sz="900">
              <a:latin typeface="Calibri"/>
              <a:ea typeface="Calibri"/>
              <a:cs typeface="Calibri"/>
              <a:sym typeface="Calibri"/>
            </a:endParaRPr>
          </a:p>
        </p:txBody>
      </p:sp>
      <p:sp>
        <p:nvSpPr>
          <p:cNvPr id="350" name="Google Shape;350;p39"/>
          <p:cNvSpPr/>
          <p:nvPr/>
        </p:nvSpPr>
        <p:spPr>
          <a:xfrm>
            <a:off x="576975" y="2868225"/>
            <a:ext cx="44772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900">
                <a:solidFill>
                  <a:schemeClr val="dk1"/>
                </a:solidFill>
                <a:latin typeface="Calibri"/>
                <a:ea typeface="Calibri"/>
                <a:cs typeface="Calibri"/>
                <a:sym typeface="Calibri"/>
              </a:rPr>
              <a:t>Psychological Edge? </a:t>
            </a:r>
            <a:r>
              <a:rPr lang="en" sz="900">
                <a:solidFill>
                  <a:schemeClr val="dk1"/>
                </a:solidFill>
                <a:latin typeface="Calibri"/>
                <a:ea typeface="Calibri"/>
                <a:cs typeface="Calibri"/>
                <a:sym typeface="Calibri"/>
              </a:rPr>
              <a:t>Possibly better under pressure or chasing unplanned situations</a:t>
            </a:r>
            <a:endParaRPr sz="900">
              <a:latin typeface="Calibri"/>
              <a:ea typeface="Calibri"/>
              <a:cs typeface="Calibri"/>
              <a:sym typeface="Calibri"/>
            </a:endParaRPr>
          </a:p>
        </p:txBody>
      </p:sp>
      <p:sp>
        <p:nvSpPr>
          <p:cNvPr id="351" name="Google Shape;351;p39"/>
          <p:cNvSpPr/>
          <p:nvPr/>
        </p:nvSpPr>
        <p:spPr>
          <a:xfrm>
            <a:off x="576975" y="3469400"/>
            <a:ext cx="44772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900">
                <a:solidFill>
                  <a:schemeClr val="dk1"/>
                </a:solidFill>
                <a:latin typeface="Calibri"/>
                <a:ea typeface="Calibri"/>
                <a:cs typeface="Calibri"/>
                <a:sym typeface="Calibri"/>
              </a:rPr>
              <a:t>Strategic Independence: </a:t>
            </a:r>
            <a:r>
              <a:rPr lang="en" sz="900">
                <a:solidFill>
                  <a:schemeClr val="dk1"/>
                </a:solidFill>
                <a:latin typeface="Calibri"/>
                <a:ea typeface="Calibri"/>
                <a:cs typeface="Calibri"/>
                <a:sym typeface="Calibri"/>
              </a:rPr>
              <a:t>Team performance doesn’t rely heavily on toss outcome</a:t>
            </a:r>
            <a:endParaRPr sz="900">
              <a:latin typeface="Calibri"/>
              <a:ea typeface="Calibri"/>
              <a:cs typeface="Calibri"/>
              <a:sym typeface="Calibri"/>
            </a:endParaRPr>
          </a:p>
        </p:txBody>
      </p:sp>
      <p:sp>
        <p:nvSpPr>
          <p:cNvPr id="352" name="Google Shape;352;p39"/>
          <p:cNvSpPr txBox="1"/>
          <p:nvPr/>
        </p:nvSpPr>
        <p:spPr>
          <a:xfrm>
            <a:off x="5757850" y="299300"/>
            <a:ext cx="2829600" cy="48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dk1"/>
                </a:solidFill>
                <a:latin typeface="Calibri"/>
                <a:ea typeface="Calibri"/>
                <a:cs typeface="Calibri"/>
                <a:sym typeface="Calibri"/>
              </a:rPr>
              <a:t>Does winning the toss influence CSK’s match outcomes, or is their performance independent of toss results?</a:t>
            </a:r>
            <a:endParaRPr b="1" sz="9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grpSp>
        <p:nvGrpSpPr>
          <p:cNvPr id="357" name="Google Shape;357;p40"/>
          <p:cNvGrpSpPr/>
          <p:nvPr/>
        </p:nvGrpSpPr>
        <p:grpSpPr>
          <a:xfrm>
            <a:off x="0" y="5060139"/>
            <a:ext cx="9144120" cy="97648"/>
            <a:chOff x="0" y="-9525"/>
            <a:chExt cx="5052000" cy="51437"/>
          </a:xfrm>
        </p:grpSpPr>
        <p:sp>
          <p:nvSpPr>
            <p:cNvPr id="358" name="Google Shape;358;p40"/>
            <p:cNvSpPr/>
            <p:nvPr/>
          </p:nvSpPr>
          <p:spPr>
            <a:xfrm>
              <a:off x="0" y="0"/>
              <a:ext cx="5051911" cy="41912"/>
            </a:xfrm>
            <a:custGeom>
              <a:rect b="b" l="l" r="r" t="t"/>
              <a:pathLst>
                <a:path extrusionOk="0" h="41912" w="5051911">
                  <a:moveTo>
                    <a:pt x="0" y="0"/>
                  </a:moveTo>
                  <a:lnTo>
                    <a:pt x="5051911" y="0"/>
                  </a:lnTo>
                  <a:lnTo>
                    <a:pt x="5051911" y="41912"/>
                  </a:lnTo>
                  <a:lnTo>
                    <a:pt x="0" y="41912"/>
                  </a:lnTo>
                  <a:close/>
                </a:path>
              </a:pathLst>
            </a:custGeom>
            <a:solidFill>
              <a:srgbClr val="F35C19"/>
            </a:solid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359" name="Google Shape;359;p40"/>
            <p:cNvSpPr txBox="1"/>
            <p:nvPr/>
          </p:nvSpPr>
          <p:spPr>
            <a:xfrm>
              <a:off x="0" y="-9525"/>
              <a:ext cx="5052000" cy="51300"/>
            </a:xfrm>
            <a:prstGeom prst="rect">
              <a:avLst/>
            </a:prstGeom>
            <a:solidFill>
              <a:srgbClr val="F35C19"/>
            </a:solidFill>
            <a:ln>
              <a:noFill/>
            </a:ln>
          </p:spPr>
          <p:txBody>
            <a:bodyPr anchorCtr="0" anchor="ctr" bIns="25400" lIns="25400" spcFirstLastPara="1" rIns="25400" wrap="square" tIns="25400">
              <a:noAutofit/>
            </a:bodyPr>
            <a:lstStyle/>
            <a:p>
              <a:pPr indent="0" lvl="0" marL="0" marR="0" rtl="0" algn="ctr">
                <a:lnSpc>
                  <a:spcPct val="155888"/>
                </a:lnSpc>
                <a:spcBef>
                  <a:spcPts val="0"/>
                </a:spcBef>
                <a:spcAft>
                  <a:spcPts val="0"/>
                </a:spcAft>
                <a:buNone/>
              </a:pPr>
              <a:r>
                <a:t/>
              </a:r>
              <a:endParaRPr sz="900">
                <a:solidFill>
                  <a:schemeClr val="dk1"/>
                </a:solidFill>
                <a:latin typeface="Calibri"/>
                <a:ea typeface="Calibri"/>
                <a:cs typeface="Calibri"/>
                <a:sym typeface="Calibri"/>
              </a:endParaRPr>
            </a:p>
          </p:txBody>
        </p:sp>
      </p:grpSp>
      <p:pic>
        <p:nvPicPr>
          <p:cNvPr id="360" name="Google Shape;360;p40"/>
          <p:cNvPicPr preferRelativeResize="0"/>
          <p:nvPr/>
        </p:nvPicPr>
        <p:blipFill>
          <a:blip r:embed="rId3">
            <a:alphaModFix/>
          </a:blip>
          <a:stretch>
            <a:fillRect/>
          </a:stretch>
        </p:blipFill>
        <p:spPr>
          <a:xfrm>
            <a:off x="4826625" y="1027438"/>
            <a:ext cx="4077300" cy="2775193"/>
          </a:xfrm>
          <a:prstGeom prst="rect">
            <a:avLst/>
          </a:prstGeom>
          <a:noFill/>
          <a:ln>
            <a:noFill/>
          </a:ln>
        </p:spPr>
      </p:pic>
      <p:sp>
        <p:nvSpPr>
          <p:cNvPr id="361" name="Google Shape;361;p40"/>
          <p:cNvSpPr txBox="1"/>
          <p:nvPr/>
        </p:nvSpPr>
        <p:spPr>
          <a:xfrm>
            <a:off x="315950" y="176825"/>
            <a:ext cx="4582500" cy="431100"/>
          </a:xfrm>
          <a:prstGeom prst="rect">
            <a:avLst/>
          </a:prstGeom>
          <a:noFill/>
          <a:ln>
            <a:noFill/>
          </a:ln>
        </p:spPr>
        <p:txBody>
          <a:bodyPr anchorCtr="0" anchor="t" bIns="91425" lIns="91425" spcFirstLastPara="1" rIns="91425" wrap="square" tIns="91425">
            <a:spAutoFit/>
          </a:bodyPr>
          <a:lstStyle/>
          <a:p>
            <a:pPr indent="0" lvl="0" marL="0" rtl="0" algn="l">
              <a:lnSpc>
                <a:spcPct val="107916"/>
              </a:lnSpc>
              <a:spcBef>
                <a:spcPts val="0"/>
              </a:spcBef>
              <a:spcAft>
                <a:spcPts val="800"/>
              </a:spcAft>
              <a:buNone/>
            </a:pPr>
            <a:r>
              <a:rPr b="1" lang="en" sz="1600">
                <a:solidFill>
                  <a:schemeClr val="dk1"/>
                </a:solidFill>
                <a:latin typeface="Calibri"/>
                <a:ea typeface="Calibri"/>
                <a:cs typeface="Calibri"/>
                <a:sym typeface="Calibri"/>
              </a:rPr>
              <a:t>Box</a:t>
            </a:r>
            <a:r>
              <a:rPr b="1" lang="en" sz="1600">
                <a:solidFill>
                  <a:schemeClr val="dk1"/>
                </a:solidFill>
                <a:latin typeface="Calibri"/>
                <a:ea typeface="Calibri"/>
                <a:cs typeface="Calibri"/>
                <a:sym typeface="Calibri"/>
              </a:rPr>
              <a:t> Plot - </a:t>
            </a:r>
            <a:r>
              <a:rPr b="1" lang="en" sz="1600">
                <a:solidFill>
                  <a:schemeClr val="dk1"/>
                </a:solidFill>
                <a:latin typeface="Calibri"/>
                <a:ea typeface="Calibri"/>
                <a:cs typeface="Calibri"/>
                <a:sym typeface="Calibri"/>
              </a:rPr>
              <a:t>Powerplay Scores (Wins vs Losses)</a:t>
            </a:r>
            <a:endParaRPr sz="1600"/>
          </a:p>
        </p:txBody>
      </p:sp>
      <p:sp>
        <p:nvSpPr>
          <p:cNvPr id="362" name="Google Shape;362;p40"/>
          <p:cNvSpPr txBox="1"/>
          <p:nvPr/>
        </p:nvSpPr>
        <p:spPr>
          <a:xfrm>
            <a:off x="4898450" y="3910750"/>
            <a:ext cx="3901500" cy="43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latin typeface="Calibri"/>
                <a:ea typeface="Calibri"/>
                <a:cs typeface="Calibri"/>
                <a:sym typeface="Calibri"/>
              </a:rPr>
              <a:t>This box plot shows how higher powerplay scores are linked to winning more matches.</a:t>
            </a:r>
            <a:endParaRPr sz="900">
              <a:solidFill>
                <a:schemeClr val="dk1"/>
              </a:solidFill>
              <a:latin typeface="Calibri"/>
              <a:ea typeface="Calibri"/>
              <a:cs typeface="Calibri"/>
              <a:sym typeface="Calibri"/>
            </a:endParaRPr>
          </a:p>
        </p:txBody>
      </p:sp>
      <p:sp>
        <p:nvSpPr>
          <p:cNvPr id="363" name="Google Shape;363;p40"/>
          <p:cNvSpPr/>
          <p:nvPr/>
        </p:nvSpPr>
        <p:spPr>
          <a:xfrm>
            <a:off x="466675" y="1080725"/>
            <a:ext cx="38472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900">
                <a:solidFill>
                  <a:schemeClr val="dk1"/>
                </a:solidFill>
                <a:latin typeface="Calibri"/>
                <a:ea typeface="Calibri"/>
                <a:cs typeface="Calibri"/>
                <a:sym typeface="Calibri"/>
              </a:rPr>
              <a:t>Higher Median in Wins: </a:t>
            </a:r>
            <a:r>
              <a:rPr lang="en" sz="900">
                <a:solidFill>
                  <a:schemeClr val="dk1"/>
                </a:solidFill>
                <a:latin typeface="Calibri"/>
                <a:ea typeface="Calibri"/>
                <a:cs typeface="Calibri"/>
                <a:sym typeface="Calibri"/>
              </a:rPr>
              <a:t>Matches won have a median powerplay score of 50.6, compared to 43.3 in losses.</a:t>
            </a:r>
            <a:endParaRPr sz="900">
              <a:latin typeface="Calibri"/>
              <a:ea typeface="Calibri"/>
              <a:cs typeface="Calibri"/>
              <a:sym typeface="Calibri"/>
            </a:endParaRPr>
          </a:p>
        </p:txBody>
      </p:sp>
      <p:sp>
        <p:nvSpPr>
          <p:cNvPr id="364" name="Google Shape;364;p40"/>
          <p:cNvSpPr/>
          <p:nvPr/>
        </p:nvSpPr>
        <p:spPr>
          <a:xfrm>
            <a:off x="466675" y="1663600"/>
            <a:ext cx="38472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900">
                <a:solidFill>
                  <a:schemeClr val="dk1"/>
                </a:solidFill>
                <a:latin typeface="Calibri"/>
                <a:ea typeface="Calibri"/>
                <a:cs typeface="Calibri"/>
                <a:sym typeface="Calibri"/>
              </a:rPr>
              <a:t>More Consistent in Wins: </a:t>
            </a:r>
            <a:r>
              <a:rPr lang="en" sz="900">
                <a:solidFill>
                  <a:schemeClr val="dk1"/>
                </a:solidFill>
                <a:latin typeface="Calibri"/>
                <a:ea typeface="Calibri"/>
                <a:cs typeface="Calibri"/>
                <a:sym typeface="Calibri"/>
              </a:rPr>
              <a:t>The interquartile range (IQR) is narrower in wins, suggesting steadier starts.</a:t>
            </a:r>
            <a:endParaRPr sz="900">
              <a:latin typeface="Calibri"/>
              <a:ea typeface="Calibri"/>
              <a:cs typeface="Calibri"/>
              <a:sym typeface="Calibri"/>
            </a:endParaRPr>
          </a:p>
        </p:txBody>
      </p:sp>
      <p:sp>
        <p:nvSpPr>
          <p:cNvPr id="365" name="Google Shape;365;p40"/>
          <p:cNvSpPr/>
          <p:nvPr/>
        </p:nvSpPr>
        <p:spPr>
          <a:xfrm>
            <a:off x="466675" y="2246475"/>
            <a:ext cx="38472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900">
                <a:solidFill>
                  <a:schemeClr val="dk1"/>
                </a:solidFill>
                <a:latin typeface="Calibri"/>
                <a:ea typeface="Calibri"/>
                <a:cs typeface="Calibri"/>
                <a:sym typeface="Calibri"/>
              </a:rPr>
              <a:t>Lower Bound in Losses: </a:t>
            </a:r>
            <a:r>
              <a:rPr lang="en" sz="900">
                <a:solidFill>
                  <a:schemeClr val="dk1"/>
                </a:solidFill>
                <a:latin typeface="Calibri"/>
                <a:ea typeface="Calibri"/>
                <a:cs typeface="Calibri"/>
                <a:sym typeface="Calibri"/>
              </a:rPr>
              <a:t>Q1 for losses drops to 39.3, indicating slow starts often lead to defeats.</a:t>
            </a:r>
            <a:endParaRPr sz="900">
              <a:latin typeface="Calibri"/>
              <a:ea typeface="Calibri"/>
              <a:cs typeface="Calibri"/>
              <a:sym typeface="Calibri"/>
            </a:endParaRPr>
          </a:p>
        </p:txBody>
      </p:sp>
      <p:sp>
        <p:nvSpPr>
          <p:cNvPr id="366" name="Google Shape;366;p40"/>
          <p:cNvSpPr/>
          <p:nvPr/>
        </p:nvSpPr>
        <p:spPr>
          <a:xfrm>
            <a:off x="466675" y="2829350"/>
            <a:ext cx="38472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900">
                <a:solidFill>
                  <a:schemeClr val="dk1"/>
                </a:solidFill>
                <a:latin typeface="Calibri"/>
                <a:ea typeface="Calibri"/>
                <a:cs typeface="Calibri"/>
                <a:sym typeface="Calibri"/>
              </a:rPr>
              <a:t>Upper Potential is Key: </a:t>
            </a:r>
            <a:r>
              <a:rPr lang="en" sz="900">
                <a:solidFill>
                  <a:schemeClr val="dk1"/>
                </a:solidFill>
                <a:latin typeface="Calibri"/>
                <a:ea typeface="Calibri"/>
                <a:cs typeface="Calibri"/>
                <a:sym typeface="Calibri"/>
              </a:rPr>
              <a:t>Winning games show a higher Q3 of 54.6, showing aggressive starts contribute.</a:t>
            </a:r>
            <a:endParaRPr sz="900">
              <a:latin typeface="Calibri"/>
              <a:ea typeface="Calibri"/>
              <a:cs typeface="Calibri"/>
              <a:sym typeface="Calibri"/>
            </a:endParaRPr>
          </a:p>
        </p:txBody>
      </p:sp>
      <p:sp>
        <p:nvSpPr>
          <p:cNvPr id="367" name="Google Shape;367;p40"/>
          <p:cNvSpPr/>
          <p:nvPr/>
        </p:nvSpPr>
        <p:spPr>
          <a:xfrm>
            <a:off x="466675" y="3412225"/>
            <a:ext cx="38472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900">
                <a:solidFill>
                  <a:schemeClr val="dk1"/>
                </a:solidFill>
                <a:latin typeface="Calibri"/>
                <a:ea typeface="Calibri"/>
                <a:cs typeface="Calibri"/>
                <a:sym typeface="Calibri"/>
              </a:rPr>
              <a:t>Visual Impact: </a:t>
            </a:r>
            <a:r>
              <a:rPr lang="en" sz="900">
                <a:solidFill>
                  <a:schemeClr val="dk1"/>
                </a:solidFill>
                <a:latin typeface="Calibri"/>
                <a:ea typeface="Calibri"/>
                <a:cs typeface="Calibri"/>
                <a:sym typeface="Calibri"/>
              </a:rPr>
              <a:t>The color contrast clearly differentiates match outcomes by powerplay performance.</a:t>
            </a:r>
            <a:endParaRPr sz="900">
              <a:latin typeface="Calibri"/>
              <a:ea typeface="Calibri"/>
              <a:cs typeface="Calibri"/>
              <a:sym typeface="Calibri"/>
            </a:endParaRPr>
          </a:p>
        </p:txBody>
      </p:sp>
      <p:sp>
        <p:nvSpPr>
          <p:cNvPr id="368" name="Google Shape;368;p40"/>
          <p:cNvSpPr txBox="1"/>
          <p:nvPr/>
        </p:nvSpPr>
        <p:spPr>
          <a:xfrm>
            <a:off x="5302850" y="375500"/>
            <a:ext cx="3360900" cy="48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dk1"/>
                </a:solidFill>
                <a:latin typeface="Calibri"/>
                <a:ea typeface="Calibri"/>
                <a:cs typeface="Calibri"/>
                <a:sym typeface="Calibri"/>
              </a:rPr>
              <a:t>Do higher and more consistent Powerplay scores increase CSK’s chances of winning matches?</a:t>
            </a:r>
            <a:endParaRPr b="1" sz="9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grpSp>
        <p:nvGrpSpPr>
          <p:cNvPr id="373" name="Google Shape;373;p41"/>
          <p:cNvGrpSpPr/>
          <p:nvPr/>
        </p:nvGrpSpPr>
        <p:grpSpPr>
          <a:xfrm>
            <a:off x="0" y="5060139"/>
            <a:ext cx="9144120" cy="97648"/>
            <a:chOff x="0" y="-9525"/>
            <a:chExt cx="5052000" cy="51437"/>
          </a:xfrm>
        </p:grpSpPr>
        <p:sp>
          <p:nvSpPr>
            <p:cNvPr id="374" name="Google Shape;374;p41"/>
            <p:cNvSpPr/>
            <p:nvPr/>
          </p:nvSpPr>
          <p:spPr>
            <a:xfrm>
              <a:off x="0" y="0"/>
              <a:ext cx="5051911" cy="41912"/>
            </a:xfrm>
            <a:custGeom>
              <a:rect b="b" l="l" r="r" t="t"/>
              <a:pathLst>
                <a:path extrusionOk="0" h="41912" w="5051911">
                  <a:moveTo>
                    <a:pt x="0" y="0"/>
                  </a:moveTo>
                  <a:lnTo>
                    <a:pt x="5051911" y="0"/>
                  </a:lnTo>
                  <a:lnTo>
                    <a:pt x="5051911" y="41912"/>
                  </a:lnTo>
                  <a:lnTo>
                    <a:pt x="0" y="41912"/>
                  </a:lnTo>
                  <a:close/>
                </a:path>
              </a:pathLst>
            </a:custGeom>
            <a:solidFill>
              <a:srgbClr val="F35C19"/>
            </a:solid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375" name="Google Shape;375;p41"/>
            <p:cNvSpPr txBox="1"/>
            <p:nvPr/>
          </p:nvSpPr>
          <p:spPr>
            <a:xfrm>
              <a:off x="0" y="-9525"/>
              <a:ext cx="5052000" cy="51300"/>
            </a:xfrm>
            <a:prstGeom prst="rect">
              <a:avLst/>
            </a:prstGeom>
            <a:solidFill>
              <a:srgbClr val="F35C19"/>
            </a:solidFill>
            <a:ln>
              <a:noFill/>
            </a:ln>
          </p:spPr>
          <p:txBody>
            <a:bodyPr anchorCtr="0" anchor="ctr" bIns="25400" lIns="25400" spcFirstLastPara="1" rIns="25400" wrap="square" tIns="25400">
              <a:noAutofit/>
            </a:bodyPr>
            <a:lstStyle/>
            <a:p>
              <a:pPr indent="0" lvl="0" marL="0" marR="0" rtl="0" algn="ctr">
                <a:lnSpc>
                  <a:spcPct val="155888"/>
                </a:lnSpc>
                <a:spcBef>
                  <a:spcPts val="0"/>
                </a:spcBef>
                <a:spcAft>
                  <a:spcPts val="0"/>
                </a:spcAft>
                <a:buNone/>
              </a:pPr>
              <a:r>
                <a:t/>
              </a:r>
              <a:endParaRPr sz="900">
                <a:solidFill>
                  <a:schemeClr val="dk1"/>
                </a:solidFill>
                <a:latin typeface="Calibri"/>
                <a:ea typeface="Calibri"/>
                <a:cs typeface="Calibri"/>
                <a:sym typeface="Calibri"/>
              </a:endParaRPr>
            </a:p>
          </p:txBody>
        </p:sp>
      </p:grpSp>
      <p:pic>
        <p:nvPicPr>
          <p:cNvPr id="376" name="Google Shape;376;p41"/>
          <p:cNvPicPr preferRelativeResize="0"/>
          <p:nvPr/>
        </p:nvPicPr>
        <p:blipFill rotWithShape="1">
          <a:blip r:embed="rId3">
            <a:alphaModFix/>
          </a:blip>
          <a:srcRect b="0" l="0" r="0" t="2104"/>
          <a:stretch/>
        </p:blipFill>
        <p:spPr>
          <a:xfrm>
            <a:off x="4572000" y="1288426"/>
            <a:ext cx="4187550" cy="2305155"/>
          </a:xfrm>
          <a:prstGeom prst="rect">
            <a:avLst/>
          </a:prstGeom>
          <a:noFill/>
          <a:ln>
            <a:noFill/>
          </a:ln>
        </p:spPr>
      </p:pic>
      <p:sp>
        <p:nvSpPr>
          <p:cNvPr id="377" name="Google Shape;377;p41"/>
          <p:cNvSpPr txBox="1"/>
          <p:nvPr/>
        </p:nvSpPr>
        <p:spPr>
          <a:xfrm>
            <a:off x="315950" y="176825"/>
            <a:ext cx="4582500" cy="431100"/>
          </a:xfrm>
          <a:prstGeom prst="rect">
            <a:avLst/>
          </a:prstGeom>
          <a:noFill/>
          <a:ln>
            <a:noFill/>
          </a:ln>
        </p:spPr>
        <p:txBody>
          <a:bodyPr anchorCtr="0" anchor="t" bIns="91425" lIns="91425" spcFirstLastPara="1" rIns="91425" wrap="square" tIns="91425">
            <a:spAutoFit/>
          </a:bodyPr>
          <a:lstStyle/>
          <a:p>
            <a:pPr indent="0" lvl="0" marL="0" rtl="0" algn="l">
              <a:lnSpc>
                <a:spcPct val="107916"/>
              </a:lnSpc>
              <a:spcBef>
                <a:spcPts val="0"/>
              </a:spcBef>
              <a:spcAft>
                <a:spcPts val="800"/>
              </a:spcAft>
              <a:buNone/>
            </a:pPr>
            <a:r>
              <a:rPr b="1" lang="en" sz="1600">
                <a:solidFill>
                  <a:schemeClr val="dk1"/>
                </a:solidFill>
                <a:latin typeface="Calibri"/>
                <a:ea typeface="Calibri"/>
                <a:cs typeface="Calibri"/>
                <a:sym typeface="Calibri"/>
              </a:rPr>
              <a:t>Box Plot - </a:t>
            </a:r>
            <a:r>
              <a:rPr b="1" lang="en" sz="1600">
                <a:solidFill>
                  <a:schemeClr val="dk1"/>
                </a:solidFill>
                <a:latin typeface="Calibri"/>
                <a:ea typeface="Calibri"/>
                <a:cs typeface="Calibri"/>
                <a:sym typeface="Calibri"/>
              </a:rPr>
              <a:t>First Innings Scores (2020–2024)</a:t>
            </a:r>
            <a:endParaRPr sz="1600"/>
          </a:p>
        </p:txBody>
      </p:sp>
      <p:sp>
        <p:nvSpPr>
          <p:cNvPr id="378" name="Google Shape;378;p41"/>
          <p:cNvSpPr txBox="1"/>
          <p:nvPr/>
        </p:nvSpPr>
        <p:spPr>
          <a:xfrm>
            <a:off x="4649025" y="3755025"/>
            <a:ext cx="4187700" cy="59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latin typeface="Calibri"/>
                <a:ea typeface="Calibri"/>
                <a:cs typeface="Calibri"/>
                <a:sym typeface="Calibri"/>
              </a:rPr>
              <a:t>This box plot shows a steady rise in first innings scores from 2020 to 2024, with 2023 having the highest scoring variability and 2020 being the most consistent season.</a:t>
            </a:r>
            <a:endParaRPr sz="900">
              <a:solidFill>
                <a:schemeClr val="dk1"/>
              </a:solidFill>
              <a:latin typeface="Calibri"/>
              <a:ea typeface="Calibri"/>
              <a:cs typeface="Calibri"/>
              <a:sym typeface="Calibri"/>
            </a:endParaRPr>
          </a:p>
          <a:p>
            <a:pPr indent="0" lvl="0" marL="0" rtl="0" algn="l">
              <a:spcBef>
                <a:spcPts val="0"/>
              </a:spcBef>
              <a:spcAft>
                <a:spcPts val="0"/>
              </a:spcAft>
              <a:buNone/>
            </a:pPr>
            <a:r>
              <a:t/>
            </a:r>
            <a:endParaRPr sz="900">
              <a:solidFill>
                <a:schemeClr val="dk1"/>
              </a:solidFill>
              <a:latin typeface="Calibri"/>
              <a:ea typeface="Calibri"/>
              <a:cs typeface="Calibri"/>
              <a:sym typeface="Calibri"/>
            </a:endParaRPr>
          </a:p>
          <a:p>
            <a:pPr indent="0" lvl="0" marL="0" rtl="0" algn="l">
              <a:spcBef>
                <a:spcPts val="0"/>
              </a:spcBef>
              <a:spcAft>
                <a:spcPts val="0"/>
              </a:spcAft>
              <a:buNone/>
            </a:pPr>
            <a:r>
              <a:t/>
            </a:r>
            <a:endParaRPr sz="900">
              <a:solidFill>
                <a:schemeClr val="dk1"/>
              </a:solidFill>
              <a:latin typeface="Calibri"/>
              <a:ea typeface="Calibri"/>
              <a:cs typeface="Calibri"/>
              <a:sym typeface="Calibri"/>
            </a:endParaRPr>
          </a:p>
          <a:p>
            <a:pPr indent="0" lvl="0" marL="0" rtl="0" algn="l">
              <a:spcBef>
                <a:spcPts val="0"/>
              </a:spcBef>
              <a:spcAft>
                <a:spcPts val="0"/>
              </a:spcAft>
              <a:buNone/>
            </a:pPr>
            <a:r>
              <a:t/>
            </a:r>
            <a:endParaRPr sz="900">
              <a:solidFill>
                <a:schemeClr val="dk1"/>
              </a:solidFill>
              <a:latin typeface="Calibri"/>
              <a:ea typeface="Calibri"/>
              <a:cs typeface="Calibri"/>
              <a:sym typeface="Calibri"/>
            </a:endParaRPr>
          </a:p>
          <a:p>
            <a:pPr indent="0" lvl="0" marL="0" rtl="0" algn="l">
              <a:spcBef>
                <a:spcPts val="0"/>
              </a:spcBef>
              <a:spcAft>
                <a:spcPts val="0"/>
              </a:spcAft>
              <a:buNone/>
            </a:pPr>
            <a:r>
              <a:t/>
            </a:r>
            <a:endParaRPr sz="900">
              <a:solidFill>
                <a:schemeClr val="dk1"/>
              </a:solidFill>
              <a:latin typeface="Calibri"/>
              <a:ea typeface="Calibri"/>
              <a:cs typeface="Calibri"/>
              <a:sym typeface="Calibri"/>
            </a:endParaRPr>
          </a:p>
          <a:p>
            <a:pPr indent="0" lvl="0" marL="0" rtl="0" algn="l">
              <a:spcBef>
                <a:spcPts val="0"/>
              </a:spcBef>
              <a:spcAft>
                <a:spcPts val="0"/>
              </a:spcAft>
              <a:buNone/>
            </a:pPr>
            <a:r>
              <a:t/>
            </a:r>
            <a:endParaRPr sz="900">
              <a:solidFill>
                <a:schemeClr val="dk1"/>
              </a:solidFill>
              <a:latin typeface="Calibri"/>
              <a:ea typeface="Calibri"/>
              <a:cs typeface="Calibri"/>
              <a:sym typeface="Calibri"/>
            </a:endParaRPr>
          </a:p>
          <a:p>
            <a:pPr indent="0" lvl="0" marL="0" rtl="0" algn="l">
              <a:spcBef>
                <a:spcPts val="0"/>
              </a:spcBef>
              <a:spcAft>
                <a:spcPts val="0"/>
              </a:spcAft>
              <a:buNone/>
            </a:pPr>
            <a:r>
              <a:t/>
            </a:r>
            <a:endParaRPr sz="900">
              <a:solidFill>
                <a:schemeClr val="dk1"/>
              </a:solidFill>
              <a:latin typeface="Calibri"/>
              <a:ea typeface="Calibri"/>
              <a:cs typeface="Calibri"/>
              <a:sym typeface="Calibri"/>
            </a:endParaRPr>
          </a:p>
          <a:p>
            <a:pPr indent="0" lvl="0" marL="0" rtl="0" algn="l">
              <a:spcBef>
                <a:spcPts val="0"/>
              </a:spcBef>
              <a:spcAft>
                <a:spcPts val="0"/>
              </a:spcAft>
              <a:buNone/>
            </a:pPr>
            <a:r>
              <a:t/>
            </a:r>
            <a:endParaRPr sz="900">
              <a:solidFill>
                <a:schemeClr val="dk1"/>
              </a:solidFill>
              <a:latin typeface="Calibri"/>
              <a:ea typeface="Calibri"/>
              <a:cs typeface="Calibri"/>
              <a:sym typeface="Calibri"/>
            </a:endParaRPr>
          </a:p>
          <a:p>
            <a:pPr indent="0" lvl="0" marL="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379" name="Google Shape;379;p41"/>
          <p:cNvSpPr/>
          <p:nvPr/>
        </p:nvSpPr>
        <p:spPr>
          <a:xfrm>
            <a:off x="466675" y="1080725"/>
            <a:ext cx="38472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900">
                <a:solidFill>
                  <a:schemeClr val="dk1"/>
                </a:solidFill>
                <a:latin typeface="Calibri"/>
                <a:ea typeface="Calibri"/>
                <a:cs typeface="Calibri"/>
                <a:sym typeface="Calibri"/>
              </a:rPr>
              <a:t>Upward Trend: </a:t>
            </a:r>
            <a:r>
              <a:rPr lang="en" sz="900">
                <a:solidFill>
                  <a:schemeClr val="dk1"/>
                </a:solidFill>
                <a:latin typeface="Calibri"/>
                <a:ea typeface="Calibri"/>
                <a:cs typeface="Calibri"/>
                <a:sym typeface="Calibri"/>
              </a:rPr>
              <a:t>Median scores rise steadily from 2020 to 2024, indicating more aggressive starts.</a:t>
            </a:r>
            <a:endParaRPr sz="900">
              <a:solidFill>
                <a:schemeClr val="dk1"/>
              </a:solidFill>
              <a:latin typeface="Calibri"/>
              <a:ea typeface="Calibri"/>
              <a:cs typeface="Calibri"/>
              <a:sym typeface="Calibri"/>
            </a:endParaRPr>
          </a:p>
        </p:txBody>
      </p:sp>
      <p:sp>
        <p:nvSpPr>
          <p:cNvPr id="380" name="Google Shape;380;p41"/>
          <p:cNvSpPr/>
          <p:nvPr/>
        </p:nvSpPr>
        <p:spPr>
          <a:xfrm>
            <a:off x="466675" y="1663600"/>
            <a:ext cx="38472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900">
                <a:solidFill>
                  <a:schemeClr val="dk1"/>
                </a:solidFill>
                <a:latin typeface="Calibri"/>
                <a:ea typeface="Calibri"/>
                <a:cs typeface="Calibri"/>
                <a:sym typeface="Calibri"/>
              </a:rPr>
              <a:t>2023 Highest Spread: </a:t>
            </a:r>
            <a:r>
              <a:rPr lang="en" sz="900">
                <a:solidFill>
                  <a:schemeClr val="dk1"/>
                </a:solidFill>
                <a:latin typeface="Calibri"/>
                <a:ea typeface="Calibri"/>
                <a:cs typeface="Calibri"/>
                <a:sym typeface="Calibri"/>
              </a:rPr>
              <a:t>Season-2023 has the widest range (low to high), showing high scoring volatility.</a:t>
            </a:r>
            <a:endParaRPr sz="900">
              <a:latin typeface="Calibri"/>
              <a:ea typeface="Calibri"/>
              <a:cs typeface="Calibri"/>
              <a:sym typeface="Calibri"/>
            </a:endParaRPr>
          </a:p>
        </p:txBody>
      </p:sp>
      <p:sp>
        <p:nvSpPr>
          <p:cNvPr id="381" name="Google Shape;381;p41"/>
          <p:cNvSpPr/>
          <p:nvPr/>
        </p:nvSpPr>
        <p:spPr>
          <a:xfrm>
            <a:off x="466675" y="2246475"/>
            <a:ext cx="38472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900">
                <a:solidFill>
                  <a:schemeClr val="dk1"/>
                </a:solidFill>
                <a:latin typeface="Calibri"/>
                <a:ea typeface="Calibri"/>
                <a:cs typeface="Calibri"/>
                <a:sym typeface="Calibri"/>
              </a:rPr>
              <a:t>2020 Most Consistent: </a:t>
            </a:r>
            <a:r>
              <a:rPr lang="en" sz="900">
                <a:solidFill>
                  <a:schemeClr val="dk1"/>
                </a:solidFill>
                <a:latin typeface="Calibri"/>
                <a:ea typeface="Calibri"/>
                <a:cs typeface="Calibri"/>
                <a:sym typeface="Calibri"/>
              </a:rPr>
              <a:t>Season-2020 has the tightest IQR, reflecting stable first innings scores.</a:t>
            </a:r>
            <a:endParaRPr sz="900">
              <a:latin typeface="Calibri"/>
              <a:ea typeface="Calibri"/>
              <a:cs typeface="Calibri"/>
              <a:sym typeface="Calibri"/>
            </a:endParaRPr>
          </a:p>
        </p:txBody>
      </p:sp>
      <p:sp>
        <p:nvSpPr>
          <p:cNvPr id="382" name="Google Shape;382;p41"/>
          <p:cNvSpPr/>
          <p:nvPr/>
        </p:nvSpPr>
        <p:spPr>
          <a:xfrm>
            <a:off x="466675" y="2829350"/>
            <a:ext cx="38472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900">
                <a:solidFill>
                  <a:schemeClr val="dk1"/>
                </a:solidFill>
                <a:latin typeface="Calibri"/>
                <a:ea typeface="Calibri"/>
                <a:cs typeface="Calibri"/>
                <a:sym typeface="Calibri"/>
              </a:rPr>
              <a:t>Outliers in 2020: </a:t>
            </a:r>
            <a:r>
              <a:rPr lang="en" sz="900">
                <a:solidFill>
                  <a:schemeClr val="dk1"/>
                </a:solidFill>
                <a:latin typeface="Calibri"/>
                <a:ea typeface="Calibri"/>
                <a:cs typeface="Calibri"/>
                <a:sym typeface="Calibri"/>
              </a:rPr>
              <a:t>Two low outliers show a couple of very poor starts that season.</a:t>
            </a:r>
            <a:endParaRPr sz="900">
              <a:latin typeface="Calibri"/>
              <a:ea typeface="Calibri"/>
              <a:cs typeface="Calibri"/>
              <a:sym typeface="Calibri"/>
            </a:endParaRPr>
          </a:p>
        </p:txBody>
      </p:sp>
      <p:sp>
        <p:nvSpPr>
          <p:cNvPr id="383" name="Google Shape;383;p41"/>
          <p:cNvSpPr/>
          <p:nvPr/>
        </p:nvSpPr>
        <p:spPr>
          <a:xfrm>
            <a:off x="466675" y="3412225"/>
            <a:ext cx="38472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900">
                <a:solidFill>
                  <a:schemeClr val="dk1"/>
                </a:solidFill>
                <a:latin typeface="Calibri"/>
                <a:ea typeface="Calibri"/>
                <a:cs typeface="Calibri"/>
                <a:sym typeface="Calibri"/>
              </a:rPr>
              <a:t>Improved Baseline: </a:t>
            </a:r>
            <a:r>
              <a:rPr lang="en" sz="900">
                <a:solidFill>
                  <a:schemeClr val="dk1"/>
                </a:solidFill>
                <a:latin typeface="Calibri"/>
                <a:ea typeface="Calibri"/>
                <a:cs typeface="Calibri"/>
                <a:sym typeface="Calibri"/>
              </a:rPr>
              <a:t>The lower bounds have shifted upward since 2020, reflecting better minimum performances.</a:t>
            </a:r>
            <a:endParaRPr sz="900">
              <a:latin typeface="Calibri"/>
              <a:ea typeface="Calibri"/>
              <a:cs typeface="Calibri"/>
              <a:sym typeface="Calibri"/>
            </a:endParaRPr>
          </a:p>
        </p:txBody>
      </p:sp>
      <p:sp>
        <p:nvSpPr>
          <p:cNvPr id="384" name="Google Shape;384;p41"/>
          <p:cNvSpPr txBox="1"/>
          <p:nvPr/>
        </p:nvSpPr>
        <p:spPr>
          <a:xfrm>
            <a:off x="4898450" y="375500"/>
            <a:ext cx="3765600" cy="48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dk1"/>
                </a:solidFill>
                <a:latin typeface="Calibri"/>
                <a:ea typeface="Calibri"/>
                <a:cs typeface="Calibri"/>
                <a:sym typeface="Calibri"/>
              </a:rPr>
              <a:t>How have CSK’s first innings scores evolved over the last five seasons, and what does the variability reveal about their performance trends?</a:t>
            </a:r>
            <a:endParaRPr b="1" sz="9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grpSp>
        <p:nvGrpSpPr>
          <p:cNvPr id="389" name="Google Shape;389;p42"/>
          <p:cNvGrpSpPr/>
          <p:nvPr/>
        </p:nvGrpSpPr>
        <p:grpSpPr>
          <a:xfrm>
            <a:off x="0" y="5060139"/>
            <a:ext cx="9144120" cy="97648"/>
            <a:chOff x="0" y="-9525"/>
            <a:chExt cx="5052000" cy="51437"/>
          </a:xfrm>
        </p:grpSpPr>
        <p:sp>
          <p:nvSpPr>
            <p:cNvPr id="390" name="Google Shape;390;p42"/>
            <p:cNvSpPr/>
            <p:nvPr/>
          </p:nvSpPr>
          <p:spPr>
            <a:xfrm>
              <a:off x="0" y="0"/>
              <a:ext cx="5051911" cy="41912"/>
            </a:xfrm>
            <a:custGeom>
              <a:rect b="b" l="l" r="r" t="t"/>
              <a:pathLst>
                <a:path extrusionOk="0" h="41912" w="5051911">
                  <a:moveTo>
                    <a:pt x="0" y="0"/>
                  </a:moveTo>
                  <a:lnTo>
                    <a:pt x="5051911" y="0"/>
                  </a:lnTo>
                  <a:lnTo>
                    <a:pt x="5051911" y="41912"/>
                  </a:lnTo>
                  <a:lnTo>
                    <a:pt x="0" y="41912"/>
                  </a:lnTo>
                  <a:close/>
                </a:path>
              </a:pathLst>
            </a:custGeom>
            <a:solidFill>
              <a:srgbClr val="F35C19"/>
            </a:solid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391" name="Google Shape;391;p42"/>
            <p:cNvSpPr txBox="1"/>
            <p:nvPr/>
          </p:nvSpPr>
          <p:spPr>
            <a:xfrm>
              <a:off x="0" y="-9525"/>
              <a:ext cx="5052000" cy="51300"/>
            </a:xfrm>
            <a:prstGeom prst="rect">
              <a:avLst/>
            </a:prstGeom>
            <a:solidFill>
              <a:srgbClr val="F35C19"/>
            </a:solidFill>
            <a:ln>
              <a:noFill/>
            </a:ln>
          </p:spPr>
          <p:txBody>
            <a:bodyPr anchorCtr="0" anchor="ctr" bIns="25400" lIns="25400" spcFirstLastPara="1" rIns="25400" wrap="square" tIns="25400">
              <a:noAutofit/>
            </a:bodyPr>
            <a:lstStyle/>
            <a:p>
              <a:pPr indent="0" lvl="0" marL="0" marR="0" rtl="0" algn="ctr">
                <a:lnSpc>
                  <a:spcPct val="155888"/>
                </a:lnSpc>
                <a:spcBef>
                  <a:spcPts val="0"/>
                </a:spcBef>
                <a:spcAft>
                  <a:spcPts val="0"/>
                </a:spcAft>
                <a:buNone/>
              </a:pPr>
              <a:r>
                <a:t/>
              </a:r>
              <a:endParaRPr sz="900">
                <a:solidFill>
                  <a:schemeClr val="dk1"/>
                </a:solidFill>
                <a:latin typeface="Calibri"/>
                <a:ea typeface="Calibri"/>
                <a:cs typeface="Calibri"/>
                <a:sym typeface="Calibri"/>
              </a:endParaRPr>
            </a:p>
          </p:txBody>
        </p:sp>
      </p:grpSp>
      <p:pic>
        <p:nvPicPr>
          <p:cNvPr id="392" name="Google Shape;392;p42"/>
          <p:cNvPicPr preferRelativeResize="0"/>
          <p:nvPr/>
        </p:nvPicPr>
        <p:blipFill rotWithShape="1">
          <a:blip r:embed="rId3">
            <a:alphaModFix/>
          </a:blip>
          <a:srcRect b="3075" l="4304" r="7488" t="6745"/>
          <a:stretch/>
        </p:blipFill>
        <p:spPr>
          <a:xfrm>
            <a:off x="4572000" y="835300"/>
            <a:ext cx="4182350" cy="3212510"/>
          </a:xfrm>
          <a:prstGeom prst="rect">
            <a:avLst/>
          </a:prstGeom>
          <a:noFill/>
          <a:ln>
            <a:noFill/>
          </a:ln>
        </p:spPr>
      </p:pic>
      <p:sp>
        <p:nvSpPr>
          <p:cNvPr id="393" name="Google Shape;393;p42"/>
          <p:cNvSpPr txBox="1"/>
          <p:nvPr/>
        </p:nvSpPr>
        <p:spPr>
          <a:xfrm>
            <a:off x="315950" y="176825"/>
            <a:ext cx="4582500" cy="431100"/>
          </a:xfrm>
          <a:prstGeom prst="rect">
            <a:avLst/>
          </a:prstGeom>
          <a:noFill/>
          <a:ln>
            <a:noFill/>
          </a:ln>
        </p:spPr>
        <p:txBody>
          <a:bodyPr anchorCtr="0" anchor="t" bIns="91425" lIns="91425" spcFirstLastPara="1" rIns="91425" wrap="square" tIns="91425">
            <a:spAutoFit/>
          </a:bodyPr>
          <a:lstStyle/>
          <a:p>
            <a:pPr indent="0" lvl="0" marL="0" rtl="0" algn="l">
              <a:lnSpc>
                <a:spcPct val="107916"/>
              </a:lnSpc>
              <a:spcBef>
                <a:spcPts val="0"/>
              </a:spcBef>
              <a:spcAft>
                <a:spcPts val="800"/>
              </a:spcAft>
              <a:buNone/>
            </a:pPr>
            <a:r>
              <a:rPr b="1" lang="en" sz="1600">
                <a:solidFill>
                  <a:schemeClr val="dk1"/>
                </a:solidFill>
                <a:latin typeface="Calibri"/>
                <a:ea typeface="Calibri"/>
                <a:cs typeface="Calibri"/>
                <a:sym typeface="Calibri"/>
              </a:rPr>
              <a:t>Scatter Plot – Powerplay vs First Innings Scores</a:t>
            </a:r>
            <a:endParaRPr sz="1600"/>
          </a:p>
        </p:txBody>
      </p:sp>
      <p:sp>
        <p:nvSpPr>
          <p:cNvPr id="394" name="Google Shape;394;p42"/>
          <p:cNvSpPr txBox="1"/>
          <p:nvPr/>
        </p:nvSpPr>
        <p:spPr>
          <a:xfrm>
            <a:off x="4817450" y="4185500"/>
            <a:ext cx="3773400" cy="54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latin typeface="Calibri"/>
                <a:ea typeface="Calibri"/>
                <a:cs typeface="Calibri"/>
                <a:sym typeface="Calibri"/>
              </a:rPr>
              <a:t>This scatter plot shows a moderate positive correlation (r = 0.46) between powerplay scores and first innings totals, suggesting that strong starts generally lead to higher team scores.</a:t>
            </a:r>
            <a:endParaRPr sz="900">
              <a:solidFill>
                <a:schemeClr val="dk1"/>
              </a:solidFill>
              <a:latin typeface="Calibri"/>
              <a:ea typeface="Calibri"/>
              <a:cs typeface="Calibri"/>
              <a:sym typeface="Calibri"/>
            </a:endParaRPr>
          </a:p>
          <a:p>
            <a:pPr indent="0" lvl="0" marL="0" rtl="0" algn="l">
              <a:spcBef>
                <a:spcPts val="0"/>
              </a:spcBef>
              <a:spcAft>
                <a:spcPts val="0"/>
              </a:spcAft>
              <a:buNone/>
            </a:pPr>
            <a:r>
              <a:t/>
            </a:r>
            <a:endParaRPr sz="900">
              <a:solidFill>
                <a:schemeClr val="dk1"/>
              </a:solidFill>
              <a:latin typeface="Calibri"/>
              <a:ea typeface="Calibri"/>
              <a:cs typeface="Calibri"/>
              <a:sym typeface="Calibri"/>
            </a:endParaRPr>
          </a:p>
          <a:p>
            <a:pPr indent="0" lvl="0" marL="0" rtl="0" algn="l">
              <a:spcBef>
                <a:spcPts val="0"/>
              </a:spcBef>
              <a:spcAft>
                <a:spcPts val="0"/>
              </a:spcAft>
              <a:buNone/>
            </a:pPr>
            <a:r>
              <a:t/>
            </a:r>
            <a:endParaRPr sz="900">
              <a:solidFill>
                <a:schemeClr val="dk1"/>
              </a:solidFill>
              <a:latin typeface="Calibri"/>
              <a:ea typeface="Calibri"/>
              <a:cs typeface="Calibri"/>
              <a:sym typeface="Calibri"/>
            </a:endParaRPr>
          </a:p>
          <a:p>
            <a:pPr indent="0" lvl="0" marL="0" rtl="0" algn="l">
              <a:spcBef>
                <a:spcPts val="0"/>
              </a:spcBef>
              <a:spcAft>
                <a:spcPts val="0"/>
              </a:spcAft>
              <a:buNone/>
            </a:pPr>
            <a:r>
              <a:t/>
            </a:r>
            <a:endParaRPr sz="900">
              <a:solidFill>
                <a:schemeClr val="dk1"/>
              </a:solidFill>
              <a:latin typeface="Calibri"/>
              <a:ea typeface="Calibri"/>
              <a:cs typeface="Calibri"/>
              <a:sym typeface="Calibri"/>
            </a:endParaRPr>
          </a:p>
          <a:p>
            <a:pPr indent="0" lvl="0" marL="0" rtl="0" algn="l">
              <a:spcBef>
                <a:spcPts val="0"/>
              </a:spcBef>
              <a:spcAft>
                <a:spcPts val="0"/>
              </a:spcAft>
              <a:buNone/>
            </a:pPr>
            <a:r>
              <a:t/>
            </a:r>
            <a:endParaRPr sz="900">
              <a:solidFill>
                <a:schemeClr val="dk1"/>
              </a:solidFill>
              <a:latin typeface="Calibri"/>
              <a:ea typeface="Calibri"/>
              <a:cs typeface="Calibri"/>
              <a:sym typeface="Calibri"/>
            </a:endParaRPr>
          </a:p>
          <a:p>
            <a:pPr indent="0" lvl="0" marL="0" rtl="0" algn="l">
              <a:spcBef>
                <a:spcPts val="0"/>
              </a:spcBef>
              <a:spcAft>
                <a:spcPts val="0"/>
              </a:spcAft>
              <a:buNone/>
            </a:pPr>
            <a:r>
              <a:t/>
            </a:r>
            <a:endParaRPr sz="900">
              <a:solidFill>
                <a:schemeClr val="dk1"/>
              </a:solidFill>
              <a:latin typeface="Calibri"/>
              <a:ea typeface="Calibri"/>
              <a:cs typeface="Calibri"/>
              <a:sym typeface="Calibri"/>
            </a:endParaRPr>
          </a:p>
          <a:p>
            <a:pPr indent="0" lvl="0" marL="0" rtl="0" algn="l">
              <a:spcBef>
                <a:spcPts val="0"/>
              </a:spcBef>
              <a:spcAft>
                <a:spcPts val="0"/>
              </a:spcAft>
              <a:buNone/>
            </a:pPr>
            <a:r>
              <a:t/>
            </a:r>
            <a:endParaRPr sz="900">
              <a:solidFill>
                <a:schemeClr val="dk1"/>
              </a:solidFill>
              <a:latin typeface="Calibri"/>
              <a:ea typeface="Calibri"/>
              <a:cs typeface="Calibri"/>
              <a:sym typeface="Calibri"/>
            </a:endParaRPr>
          </a:p>
          <a:p>
            <a:pPr indent="0" lvl="0" marL="0" rtl="0" algn="l">
              <a:spcBef>
                <a:spcPts val="0"/>
              </a:spcBef>
              <a:spcAft>
                <a:spcPts val="0"/>
              </a:spcAft>
              <a:buNone/>
            </a:pPr>
            <a:r>
              <a:t/>
            </a:r>
            <a:endParaRPr sz="900">
              <a:solidFill>
                <a:schemeClr val="dk1"/>
              </a:solidFill>
              <a:latin typeface="Calibri"/>
              <a:ea typeface="Calibri"/>
              <a:cs typeface="Calibri"/>
              <a:sym typeface="Calibri"/>
            </a:endParaRPr>
          </a:p>
          <a:p>
            <a:pPr indent="0" lvl="0" marL="0" rtl="0" algn="l">
              <a:spcBef>
                <a:spcPts val="0"/>
              </a:spcBef>
              <a:spcAft>
                <a:spcPts val="0"/>
              </a:spcAft>
              <a:buNone/>
            </a:pPr>
            <a:r>
              <a:t/>
            </a:r>
            <a:endParaRPr sz="900">
              <a:solidFill>
                <a:schemeClr val="dk1"/>
              </a:solidFill>
              <a:latin typeface="Calibri"/>
              <a:ea typeface="Calibri"/>
              <a:cs typeface="Calibri"/>
              <a:sym typeface="Calibri"/>
            </a:endParaRPr>
          </a:p>
          <a:p>
            <a:pPr indent="0" lvl="0" marL="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395" name="Google Shape;395;p42"/>
          <p:cNvSpPr/>
          <p:nvPr/>
        </p:nvSpPr>
        <p:spPr>
          <a:xfrm>
            <a:off x="466675" y="1166300"/>
            <a:ext cx="38472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900">
                <a:solidFill>
                  <a:schemeClr val="dk1"/>
                </a:solidFill>
                <a:latin typeface="Calibri"/>
                <a:ea typeface="Calibri"/>
                <a:cs typeface="Calibri"/>
                <a:sym typeface="Calibri"/>
              </a:rPr>
              <a:t>Positive Correlation: </a:t>
            </a:r>
            <a:r>
              <a:rPr lang="en" sz="900">
                <a:solidFill>
                  <a:schemeClr val="dk1"/>
                </a:solidFill>
                <a:latin typeface="Calibri"/>
                <a:ea typeface="Calibri"/>
                <a:cs typeface="Calibri"/>
                <a:sym typeface="Calibri"/>
              </a:rPr>
              <a:t>As powerplay scores increase, first innings totals tend to rise (r = 0.46)</a:t>
            </a:r>
            <a:endParaRPr sz="900">
              <a:solidFill>
                <a:schemeClr val="dk1"/>
              </a:solidFill>
              <a:latin typeface="Calibri"/>
              <a:ea typeface="Calibri"/>
              <a:cs typeface="Calibri"/>
              <a:sym typeface="Calibri"/>
            </a:endParaRPr>
          </a:p>
        </p:txBody>
      </p:sp>
      <p:sp>
        <p:nvSpPr>
          <p:cNvPr id="396" name="Google Shape;396;p42"/>
          <p:cNvSpPr/>
          <p:nvPr/>
        </p:nvSpPr>
        <p:spPr>
          <a:xfrm>
            <a:off x="466675" y="1749175"/>
            <a:ext cx="38472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900">
                <a:solidFill>
                  <a:schemeClr val="dk1"/>
                </a:solidFill>
                <a:latin typeface="Calibri"/>
                <a:ea typeface="Calibri"/>
                <a:cs typeface="Calibri"/>
                <a:sym typeface="Calibri"/>
              </a:rPr>
              <a:t>Moderate Strength: </a:t>
            </a:r>
            <a:r>
              <a:rPr lang="en" sz="900">
                <a:solidFill>
                  <a:schemeClr val="dk1"/>
                </a:solidFill>
                <a:latin typeface="Calibri"/>
                <a:ea typeface="Calibri"/>
                <a:cs typeface="Calibri"/>
                <a:sym typeface="Calibri"/>
              </a:rPr>
              <a:t>With r² = 0.21, about 21% of the variation in total score is explained by powerplay performance.</a:t>
            </a:r>
            <a:endParaRPr sz="900">
              <a:latin typeface="Calibri"/>
              <a:ea typeface="Calibri"/>
              <a:cs typeface="Calibri"/>
              <a:sym typeface="Calibri"/>
            </a:endParaRPr>
          </a:p>
        </p:txBody>
      </p:sp>
      <p:sp>
        <p:nvSpPr>
          <p:cNvPr id="397" name="Google Shape;397;p42"/>
          <p:cNvSpPr/>
          <p:nvPr/>
        </p:nvSpPr>
        <p:spPr>
          <a:xfrm>
            <a:off x="466675" y="2332050"/>
            <a:ext cx="38472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900">
                <a:solidFill>
                  <a:schemeClr val="dk1"/>
                </a:solidFill>
                <a:latin typeface="Calibri"/>
                <a:ea typeface="Calibri"/>
                <a:cs typeface="Calibri"/>
                <a:sym typeface="Calibri"/>
              </a:rPr>
              <a:t>Spread of Data: </a:t>
            </a:r>
            <a:r>
              <a:rPr lang="en" sz="900">
                <a:solidFill>
                  <a:schemeClr val="dk1"/>
                </a:solidFill>
                <a:latin typeface="Calibri"/>
                <a:ea typeface="Calibri"/>
                <a:cs typeface="Calibri"/>
                <a:sym typeface="Calibri"/>
              </a:rPr>
              <a:t>While the trend is upward, there’s significant variability, showing not all high starts guarantee big totals.</a:t>
            </a:r>
            <a:endParaRPr sz="900">
              <a:latin typeface="Calibri"/>
              <a:ea typeface="Calibri"/>
              <a:cs typeface="Calibri"/>
              <a:sym typeface="Calibri"/>
            </a:endParaRPr>
          </a:p>
        </p:txBody>
      </p:sp>
      <p:sp>
        <p:nvSpPr>
          <p:cNvPr id="398" name="Google Shape;398;p42"/>
          <p:cNvSpPr/>
          <p:nvPr/>
        </p:nvSpPr>
        <p:spPr>
          <a:xfrm>
            <a:off x="466675" y="2914925"/>
            <a:ext cx="38472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900">
                <a:solidFill>
                  <a:schemeClr val="dk1"/>
                </a:solidFill>
                <a:latin typeface="Calibri"/>
                <a:ea typeface="Calibri"/>
                <a:cs typeface="Calibri"/>
                <a:sym typeface="Calibri"/>
              </a:rPr>
              <a:t>Strategic Insight: </a:t>
            </a:r>
            <a:r>
              <a:rPr lang="en" sz="900">
                <a:solidFill>
                  <a:schemeClr val="dk1"/>
                </a:solidFill>
                <a:latin typeface="Calibri"/>
                <a:ea typeface="Calibri"/>
                <a:cs typeface="Calibri"/>
                <a:sym typeface="Calibri"/>
              </a:rPr>
              <a:t>Improving </a:t>
            </a:r>
            <a:r>
              <a:rPr lang="en" sz="900">
                <a:solidFill>
                  <a:schemeClr val="dk1"/>
                </a:solidFill>
                <a:latin typeface="Calibri"/>
                <a:ea typeface="Calibri"/>
                <a:cs typeface="Calibri"/>
                <a:sym typeface="Calibri"/>
              </a:rPr>
              <a:t>power play</a:t>
            </a:r>
            <a:r>
              <a:rPr lang="en" sz="900">
                <a:solidFill>
                  <a:schemeClr val="dk1"/>
                </a:solidFill>
                <a:latin typeface="Calibri"/>
                <a:ea typeface="Calibri"/>
                <a:cs typeface="Calibri"/>
                <a:sym typeface="Calibri"/>
              </a:rPr>
              <a:t> scoring could meaningfully impact overall innings outcomes.</a:t>
            </a:r>
            <a:endParaRPr sz="900">
              <a:latin typeface="Calibri"/>
              <a:ea typeface="Calibri"/>
              <a:cs typeface="Calibri"/>
              <a:sym typeface="Calibri"/>
            </a:endParaRPr>
          </a:p>
        </p:txBody>
      </p:sp>
      <p:sp>
        <p:nvSpPr>
          <p:cNvPr id="399" name="Google Shape;399;p42"/>
          <p:cNvSpPr/>
          <p:nvPr/>
        </p:nvSpPr>
        <p:spPr>
          <a:xfrm>
            <a:off x="466675" y="3497800"/>
            <a:ext cx="38472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900">
                <a:solidFill>
                  <a:schemeClr val="dk1"/>
                </a:solidFill>
                <a:latin typeface="Calibri"/>
                <a:ea typeface="Calibri"/>
                <a:cs typeface="Calibri"/>
                <a:sym typeface="Calibri"/>
              </a:rPr>
              <a:t>Predictive Value: </a:t>
            </a:r>
            <a:r>
              <a:rPr lang="en" sz="900">
                <a:solidFill>
                  <a:schemeClr val="dk1"/>
                </a:solidFill>
                <a:latin typeface="Calibri"/>
                <a:ea typeface="Calibri"/>
                <a:cs typeface="Calibri"/>
                <a:sym typeface="Calibri"/>
              </a:rPr>
              <a:t>The regression line and shaded area show a predictive trend for estimating first innings scores from powerplay runs.</a:t>
            </a:r>
            <a:endParaRPr sz="900">
              <a:latin typeface="Calibri"/>
              <a:ea typeface="Calibri"/>
              <a:cs typeface="Calibri"/>
              <a:sym typeface="Calibri"/>
            </a:endParaRPr>
          </a:p>
        </p:txBody>
      </p:sp>
      <p:sp>
        <p:nvSpPr>
          <p:cNvPr id="400" name="Google Shape;400;p42"/>
          <p:cNvSpPr txBox="1"/>
          <p:nvPr/>
        </p:nvSpPr>
        <p:spPr>
          <a:xfrm>
            <a:off x="5099025" y="237725"/>
            <a:ext cx="3381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latin typeface="Calibri"/>
                <a:ea typeface="Calibri"/>
                <a:cs typeface="Calibri"/>
                <a:sym typeface="Calibri"/>
              </a:rPr>
              <a:t>Does a strong Powerplay performance lead to higher first innings scores for CSK?</a:t>
            </a:r>
            <a:endParaRPr b="1" sz="900">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grpSp>
        <p:nvGrpSpPr>
          <p:cNvPr id="405" name="Google Shape;405;p43"/>
          <p:cNvGrpSpPr/>
          <p:nvPr/>
        </p:nvGrpSpPr>
        <p:grpSpPr>
          <a:xfrm>
            <a:off x="0" y="5060139"/>
            <a:ext cx="9144120" cy="97648"/>
            <a:chOff x="0" y="-9525"/>
            <a:chExt cx="5052000" cy="51437"/>
          </a:xfrm>
        </p:grpSpPr>
        <p:sp>
          <p:nvSpPr>
            <p:cNvPr id="406" name="Google Shape;406;p43"/>
            <p:cNvSpPr/>
            <p:nvPr/>
          </p:nvSpPr>
          <p:spPr>
            <a:xfrm>
              <a:off x="0" y="0"/>
              <a:ext cx="5051911" cy="41912"/>
            </a:xfrm>
            <a:custGeom>
              <a:rect b="b" l="l" r="r" t="t"/>
              <a:pathLst>
                <a:path extrusionOk="0" h="41912" w="5051911">
                  <a:moveTo>
                    <a:pt x="0" y="0"/>
                  </a:moveTo>
                  <a:lnTo>
                    <a:pt x="5051911" y="0"/>
                  </a:lnTo>
                  <a:lnTo>
                    <a:pt x="5051911" y="41912"/>
                  </a:lnTo>
                  <a:lnTo>
                    <a:pt x="0" y="41912"/>
                  </a:lnTo>
                  <a:close/>
                </a:path>
              </a:pathLst>
            </a:custGeom>
            <a:solidFill>
              <a:srgbClr val="F35C19"/>
            </a:solid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407" name="Google Shape;407;p43"/>
            <p:cNvSpPr txBox="1"/>
            <p:nvPr/>
          </p:nvSpPr>
          <p:spPr>
            <a:xfrm>
              <a:off x="0" y="-9525"/>
              <a:ext cx="5052000" cy="51300"/>
            </a:xfrm>
            <a:prstGeom prst="rect">
              <a:avLst/>
            </a:prstGeom>
            <a:solidFill>
              <a:srgbClr val="F35C19"/>
            </a:solidFill>
            <a:ln>
              <a:noFill/>
            </a:ln>
          </p:spPr>
          <p:txBody>
            <a:bodyPr anchorCtr="0" anchor="ctr" bIns="25400" lIns="25400" spcFirstLastPara="1" rIns="25400" wrap="square" tIns="25400">
              <a:noAutofit/>
            </a:bodyPr>
            <a:lstStyle/>
            <a:p>
              <a:pPr indent="0" lvl="0" marL="0" marR="0" rtl="0" algn="ctr">
                <a:lnSpc>
                  <a:spcPct val="155888"/>
                </a:lnSpc>
                <a:spcBef>
                  <a:spcPts val="0"/>
                </a:spcBef>
                <a:spcAft>
                  <a:spcPts val="0"/>
                </a:spcAft>
                <a:buNone/>
              </a:pPr>
              <a:r>
                <a:t/>
              </a:r>
              <a:endParaRPr sz="900">
                <a:solidFill>
                  <a:schemeClr val="dk1"/>
                </a:solidFill>
                <a:latin typeface="Calibri"/>
                <a:ea typeface="Calibri"/>
                <a:cs typeface="Calibri"/>
                <a:sym typeface="Calibri"/>
              </a:endParaRPr>
            </a:p>
          </p:txBody>
        </p:sp>
      </p:grpSp>
      <p:sp>
        <p:nvSpPr>
          <p:cNvPr id="408" name="Google Shape;408;p43"/>
          <p:cNvSpPr txBox="1"/>
          <p:nvPr/>
        </p:nvSpPr>
        <p:spPr>
          <a:xfrm>
            <a:off x="2078250" y="2356200"/>
            <a:ext cx="49875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200">
                <a:solidFill>
                  <a:schemeClr val="dk1"/>
                </a:solidFill>
                <a:latin typeface="Calibri"/>
                <a:ea typeface="Calibri"/>
                <a:cs typeface="Calibri"/>
                <a:sym typeface="Calibri"/>
              </a:rPr>
              <a:t>STATISTICAL ANALYSIS</a:t>
            </a:r>
            <a:endParaRPr b="1" sz="22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grpSp>
        <p:nvGrpSpPr>
          <p:cNvPr id="413" name="Google Shape;413;p44"/>
          <p:cNvGrpSpPr/>
          <p:nvPr/>
        </p:nvGrpSpPr>
        <p:grpSpPr>
          <a:xfrm>
            <a:off x="0" y="5060139"/>
            <a:ext cx="9144120" cy="97648"/>
            <a:chOff x="0" y="-9525"/>
            <a:chExt cx="5052000" cy="51437"/>
          </a:xfrm>
        </p:grpSpPr>
        <p:sp>
          <p:nvSpPr>
            <p:cNvPr id="414" name="Google Shape;414;p44"/>
            <p:cNvSpPr/>
            <p:nvPr/>
          </p:nvSpPr>
          <p:spPr>
            <a:xfrm>
              <a:off x="0" y="0"/>
              <a:ext cx="5051911" cy="41912"/>
            </a:xfrm>
            <a:custGeom>
              <a:rect b="b" l="l" r="r" t="t"/>
              <a:pathLst>
                <a:path extrusionOk="0" h="41912" w="5051911">
                  <a:moveTo>
                    <a:pt x="0" y="0"/>
                  </a:moveTo>
                  <a:lnTo>
                    <a:pt x="5051911" y="0"/>
                  </a:lnTo>
                  <a:lnTo>
                    <a:pt x="5051911" y="41912"/>
                  </a:lnTo>
                  <a:lnTo>
                    <a:pt x="0" y="41912"/>
                  </a:lnTo>
                  <a:close/>
                </a:path>
              </a:pathLst>
            </a:custGeom>
            <a:solidFill>
              <a:srgbClr val="F35C19"/>
            </a:solid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415" name="Google Shape;415;p44"/>
            <p:cNvSpPr txBox="1"/>
            <p:nvPr/>
          </p:nvSpPr>
          <p:spPr>
            <a:xfrm>
              <a:off x="0" y="-9525"/>
              <a:ext cx="5052000" cy="51300"/>
            </a:xfrm>
            <a:prstGeom prst="rect">
              <a:avLst/>
            </a:prstGeom>
            <a:solidFill>
              <a:srgbClr val="F35C19"/>
            </a:solidFill>
            <a:ln>
              <a:noFill/>
            </a:ln>
          </p:spPr>
          <p:txBody>
            <a:bodyPr anchorCtr="0" anchor="ctr" bIns="25400" lIns="25400" spcFirstLastPara="1" rIns="25400" wrap="square" tIns="25400">
              <a:noAutofit/>
            </a:bodyPr>
            <a:lstStyle/>
            <a:p>
              <a:pPr indent="0" lvl="0" marL="0" marR="0" rtl="0" algn="ctr">
                <a:lnSpc>
                  <a:spcPct val="155888"/>
                </a:lnSpc>
                <a:spcBef>
                  <a:spcPts val="0"/>
                </a:spcBef>
                <a:spcAft>
                  <a:spcPts val="0"/>
                </a:spcAft>
                <a:buNone/>
              </a:pPr>
              <a:r>
                <a:t/>
              </a:r>
              <a:endParaRPr sz="900">
                <a:solidFill>
                  <a:schemeClr val="dk1"/>
                </a:solidFill>
                <a:latin typeface="Calibri"/>
                <a:ea typeface="Calibri"/>
                <a:cs typeface="Calibri"/>
                <a:sym typeface="Calibri"/>
              </a:endParaRPr>
            </a:p>
          </p:txBody>
        </p:sp>
      </p:grpSp>
      <p:pic>
        <p:nvPicPr>
          <p:cNvPr id="416" name="Google Shape;416;p44"/>
          <p:cNvPicPr preferRelativeResize="0"/>
          <p:nvPr/>
        </p:nvPicPr>
        <p:blipFill rotWithShape="1">
          <a:blip r:embed="rId3">
            <a:alphaModFix/>
          </a:blip>
          <a:srcRect b="0" l="0" r="0" t="9453"/>
          <a:stretch/>
        </p:blipFill>
        <p:spPr>
          <a:xfrm>
            <a:off x="403070" y="1684892"/>
            <a:ext cx="4560661" cy="2693407"/>
          </a:xfrm>
          <a:prstGeom prst="rect">
            <a:avLst/>
          </a:prstGeom>
          <a:noFill/>
          <a:ln>
            <a:noFill/>
          </a:ln>
        </p:spPr>
      </p:pic>
      <p:sp>
        <p:nvSpPr>
          <p:cNvPr id="417" name="Google Shape;417;p44"/>
          <p:cNvSpPr txBox="1"/>
          <p:nvPr/>
        </p:nvSpPr>
        <p:spPr>
          <a:xfrm>
            <a:off x="315950" y="176825"/>
            <a:ext cx="4582500" cy="431100"/>
          </a:xfrm>
          <a:prstGeom prst="rect">
            <a:avLst/>
          </a:prstGeom>
          <a:noFill/>
          <a:ln>
            <a:noFill/>
          </a:ln>
        </p:spPr>
        <p:txBody>
          <a:bodyPr anchorCtr="0" anchor="t" bIns="91425" lIns="91425" spcFirstLastPara="1" rIns="91425" wrap="square" tIns="91425">
            <a:spAutoFit/>
          </a:bodyPr>
          <a:lstStyle/>
          <a:p>
            <a:pPr indent="0" lvl="0" marL="0" rtl="0" algn="l">
              <a:lnSpc>
                <a:spcPct val="107916"/>
              </a:lnSpc>
              <a:spcBef>
                <a:spcPts val="0"/>
              </a:spcBef>
              <a:spcAft>
                <a:spcPts val="800"/>
              </a:spcAft>
              <a:buNone/>
            </a:pPr>
            <a:r>
              <a:rPr b="1" lang="en" sz="1600">
                <a:solidFill>
                  <a:schemeClr val="dk1"/>
                </a:solidFill>
                <a:latin typeface="Calibri"/>
                <a:ea typeface="Calibri"/>
                <a:cs typeface="Calibri"/>
                <a:sym typeface="Calibri"/>
              </a:rPr>
              <a:t>Sampling Distribution of Means – Powerplay Scores</a:t>
            </a:r>
            <a:endParaRPr sz="1600"/>
          </a:p>
        </p:txBody>
      </p:sp>
      <p:sp>
        <p:nvSpPr>
          <p:cNvPr id="418" name="Google Shape;418;p44"/>
          <p:cNvSpPr txBox="1"/>
          <p:nvPr/>
        </p:nvSpPr>
        <p:spPr>
          <a:xfrm>
            <a:off x="586100" y="4392100"/>
            <a:ext cx="4194600" cy="43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latin typeface="Calibri"/>
                <a:ea typeface="Calibri"/>
                <a:cs typeface="Calibri"/>
                <a:sym typeface="Calibri"/>
              </a:rPr>
              <a:t>This histogram shows the sampling distribution of CSK’s mean Powerplay scores, forming a normal curve centered around 48, aligning with the Central Limit Theorem.</a:t>
            </a:r>
            <a:endParaRPr sz="900">
              <a:solidFill>
                <a:schemeClr val="dk1"/>
              </a:solidFill>
              <a:latin typeface="Calibri"/>
              <a:ea typeface="Calibri"/>
              <a:cs typeface="Calibri"/>
              <a:sym typeface="Calibri"/>
            </a:endParaRPr>
          </a:p>
        </p:txBody>
      </p:sp>
      <p:sp>
        <p:nvSpPr>
          <p:cNvPr id="419" name="Google Shape;419;p44"/>
          <p:cNvSpPr/>
          <p:nvPr/>
        </p:nvSpPr>
        <p:spPr>
          <a:xfrm>
            <a:off x="475850" y="757225"/>
            <a:ext cx="4369200" cy="741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900">
                <a:solidFill>
                  <a:schemeClr val="dk1"/>
                </a:solidFill>
                <a:latin typeface="Calibri"/>
                <a:ea typeface="Calibri"/>
                <a:cs typeface="Calibri"/>
                <a:sym typeface="Calibri"/>
              </a:rPr>
              <a:t>Simulated 1000 random samples (n=30) of CSK’s Powerplay scores to examine the distribution of sample means. This was done to validate the Central Limit Theorem and assess CSK’s Powerplay consistency.</a:t>
            </a:r>
            <a:endParaRPr sz="900">
              <a:solidFill>
                <a:schemeClr val="dk1"/>
              </a:solidFill>
              <a:latin typeface="Calibri"/>
              <a:ea typeface="Calibri"/>
              <a:cs typeface="Calibri"/>
              <a:sym typeface="Calibri"/>
            </a:endParaRPr>
          </a:p>
        </p:txBody>
      </p:sp>
      <p:sp>
        <p:nvSpPr>
          <p:cNvPr id="420" name="Google Shape;420;p44"/>
          <p:cNvSpPr/>
          <p:nvPr/>
        </p:nvSpPr>
        <p:spPr>
          <a:xfrm>
            <a:off x="5215625" y="1283438"/>
            <a:ext cx="34026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900">
                <a:solidFill>
                  <a:schemeClr val="dk1"/>
                </a:solidFill>
                <a:latin typeface="Calibri"/>
                <a:ea typeface="Calibri"/>
                <a:cs typeface="Calibri"/>
                <a:sym typeface="Calibri"/>
              </a:rPr>
              <a:t>Normal Shape: </a:t>
            </a:r>
            <a:r>
              <a:rPr lang="en" sz="900">
                <a:solidFill>
                  <a:schemeClr val="dk1"/>
                </a:solidFill>
                <a:latin typeface="Calibri"/>
                <a:ea typeface="Calibri"/>
                <a:cs typeface="Calibri"/>
                <a:sym typeface="Calibri"/>
              </a:rPr>
              <a:t>Distribution is bell-shaped, confirming Central Limit Theorem</a:t>
            </a:r>
            <a:endParaRPr sz="900">
              <a:solidFill>
                <a:schemeClr val="dk1"/>
              </a:solidFill>
              <a:latin typeface="Calibri"/>
              <a:ea typeface="Calibri"/>
              <a:cs typeface="Calibri"/>
              <a:sym typeface="Calibri"/>
            </a:endParaRPr>
          </a:p>
        </p:txBody>
      </p:sp>
      <p:sp>
        <p:nvSpPr>
          <p:cNvPr id="421" name="Google Shape;421;p44"/>
          <p:cNvSpPr/>
          <p:nvPr/>
        </p:nvSpPr>
        <p:spPr>
          <a:xfrm>
            <a:off x="5215625" y="1866313"/>
            <a:ext cx="34026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900">
                <a:solidFill>
                  <a:schemeClr val="dk1"/>
                </a:solidFill>
                <a:latin typeface="Calibri"/>
                <a:ea typeface="Calibri"/>
                <a:cs typeface="Calibri"/>
                <a:sym typeface="Calibri"/>
              </a:rPr>
              <a:t>Stable Mean: </a:t>
            </a:r>
            <a:r>
              <a:rPr lang="en" sz="900">
                <a:solidFill>
                  <a:schemeClr val="dk1"/>
                </a:solidFill>
                <a:latin typeface="Calibri"/>
                <a:ea typeface="Calibri"/>
                <a:cs typeface="Calibri"/>
                <a:sym typeface="Calibri"/>
              </a:rPr>
              <a:t>Most sample means fall between 46 and 50, centered at ~48.</a:t>
            </a:r>
            <a:endParaRPr sz="900">
              <a:latin typeface="Calibri"/>
              <a:ea typeface="Calibri"/>
              <a:cs typeface="Calibri"/>
              <a:sym typeface="Calibri"/>
            </a:endParaRPr>
          </a:p>
        </p:txBody>
      </p:sp>
      <p:sp>
        <p:nvSpPr>
          <p:cNvPr id="422" name="Google Shape;422;p44"/>
          <p:cNvSpPr/>
          <p:nvPr/>
        </p:nvSpPr>
        <p:spPr>
          <a:xfrm>
            <a:off x="5215625" y="2449188"/>
            <a:ext cx="34026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900">
                <a:solidFill>
                  <a:schemeClr val="dk1"/>
                </a:solidFill>
                <a:latin typeface="Calibri"/>
                <a:ea typeface="Calibri"/>
                <a:cs typeface="Calibri"/>
                <a:sym typeface="Calibri"/>
              </a:rPr>
              <a:t>Low Variability: </a:t>
            </a:r>
            <a:r>
              <a:rPr lang="en" sz="900">
                <a:solidFill>
                  <a:schemeClr val="dk1"/>
                </a:solidFill>
                <a:latin typeface="Calibri"/>
                <a:ea typeface="Calibri"/>
                <a:cs typeface="Calibri"/>
                <a:sym typeface="Calibri"/>
              </a:rPr>
              <a:t>Narrow spread implies consistent Powerplay performance.</a:t>
            </a:r>
            <a:endParaRPr sz="900">
              <a:latin typeface="Calibri"/>
              <a:ea typeface="Calibri"/>
              <a:cs typeface="Calibri"/>
              <a:sym typeface="Calibri"/>
            </a:endParaRPr>
          </a:p>
        </p:txBody>
      </p:sp>
      <p:sp>
        <p:nvSpPr>
          <p:cNvPr id="423" name="Google Shape;423;p44"/>
          <p:cNvSpPr/>
          <p:nvPr/>
        </p:nvSpPr>
        <p:spPr>
          <a:xfrm>
            <a:off x="5215625" y="3032063"/>
            <a:ext cx="34026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900">
                <a:solidFill>
                  <a:schemeClr val="dk1"/>
                </a:solidFill>
                <a:latin typeface="Calibri"/>
                <a:ea typeface="Calibri"/>
                <a:cs typeface="Calibri"/>
                <a:sym typeface="Calibri"/>
              </a:rPr>
              <a:t>Few Outliers: </a:t>
            </a:r>
            <a:r>
              <a:rPr lang="en" sz="900">
                <a:solidFill>
                  <a:schemeClr val="dk1"/>
                </a:solidFill>
                <a:latin typeface="Calibri"/>
                <a:ea typeface="Calibri"/>
                <a:cs typeface="Calibri"/>
                <a:sym typeface="Calibri"/>
              </a:rPr>
              <a:t>Minimal extreme values suggest reliable starts by CSK.</a:t>
            </a:r>
            <a:endParaRPr sz="900">
              <a:latin typeface="Calibri"/>
              <a:ea typeface="Calibri"/>
              <a:cs typeface="Calibri"/>
              <a:sym typeface="Calibri"/>
            </a:endParaRPr>
          </a:p>
        </p:txBody>
      </p:sp>
      <p:sp>
        <p:nvSpPr>
          <p:cNvPr id="424" name="Google Shape;424;p44"/>
          <p:cNvSpPr/>
          <p:nvPr/>
        </p:nvSpPr>
        <p:spPr>
          <a:xfrm>
            <a:off x="5215625" y="3614938"/>
            <a:ext cx="34026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900">
                <a:solidFill>
                  <a:schemeClr val="dk1"/>
                </a:solidFill>
                <a:latin typeface="Calibri"/>
                <a:ea typeface="Calibri"/>
                <a:cs typeface="Calibri"/>
                <a:sym typeface="Calibri"/>
              </a:rPr>
              <a:t>Strategic Insight: </a:t>
            </a:r>
            <a:r>
              <a:rPr lang="en" sz="900">
                <a:solidFill>
                  <a:schemeClr val="dk1"/>
                </a:solidFill>
                <a:latin typeface="Calibri"/>
                <a:ea typeface="Calibri"/>
                <a:cs typeface="Calibri"/>
                <a:sym typeface="Calibri"/>
              </a:rPr>
              <a:t>Indicates a predictable scoring pattern in the first 6 overs, useful for planning.</a:t>
            </a:r>
            <a:endParaRPr sz="900">
              <a:latin typeface="Calibri"/>
              <a:ea typeface="Calibri"/>
              <a:cs typeface="Calibri"/>
              <a:sym typeface="Calibri"/>
            </a:endParaRPr>
          </a:p>
        </p:txBody>
      </p:sp>
      <p:sp>
        <p:nvSpPr>
          <p:cNvPr id="425" name="Google Shape;425;p44"/>
          <p:cNvSpPr txBox="1"/>
          <p:nvPr/>
        </p:nvSpPr>
        <p:spPr>
          <a:xfrm>
            <a:off x="5284325" y="592375"/>
            <a:ext cx="3265200" cy="3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dk1"/>
                </a:solidFill>
                <a:latin typeface="Calibri"/>
                <a:ea typeface="Calibri"/>
                <a:cs typeface="Calibri"/>
                <a:sym typeface="Calibri"/>
              </a:rPr>
              <a:t>Is CSK’s Powerplay performance consistent, and does it follow a normal distribution suitable for strategic planning?</a:t>
            </a:r>
            <a:endParaRPr b="1" sz="9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grpSp>
        <p:nvGrpSpPr>
          <p:cNvPr id="430" name="Google Shape;430;p45"/>
          <p:cNvGrpSpPr/>
          <p:nvPr/>
        </p:nvGrpSpPr>
        <p:grpSpPr>
          <a:xfrm>
            <a:off x="0" y="5060139"/>
            <a:ext cx="9144120" cy="97648"/>
            <a:chOff x="0" y="-9525"/>
            <a:chExt cx="5052000" cy="51437"/>
          </a:xfrm>
        </p:grpSpPr>
        <p:sp>
          <p:nvSpPr>
            <p:cNvPr id="431" name="Google Shape;431;p45"/>
            <p:cNvSpPr/>
            <p:nvPr/>
          </p:nvSpPr>
          <p:spPr>
            <a:xfrm>
              <a:off x="0" y="0"/>
              <a:ext cx="5051911" cy="41912"/>
            </a:xfrm>
            <a:custGeom>
              <a:rect b="b" l="l" r="r" t="t"/>
              <a:pathLst>
                <a:path extrusionOk="0" h="41912" w="5051911">
                  <a:moveTo>
                    <a:pt x="0" y="0"/>
                  </a:moveTo>
                  <a:lnTo>
                    <a:pt x="5051911" y="0"/>
                  </a:lnTo>
                  <a:lnTo>
                    <a:pt x="5051911" y="41912"/>
                  </a:lnTo>
                  <a:lnTo>
                    <a:pt x="0" y="41912"/>
                  </a:lnTo>
                  <a:close/>
                </a:path>
              </a:pathLst>
            </a:custGeom>
            <a:solidFill>
              <a:srgbClr val="F35C19"/>
            </a:solid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432" name="Google Shape;432;p45"/>
            <p:cNvSpPr txBox="1"/>
            <p:nvPr/>
          </p:nvSpPr>
          <p:spPr>
            <a:xfrm>
              <a:off x="0" y="-9525"/>
              <a:ext cx="5052000" cy="51300"/>
            </a:xfrm>
            <a:prstGeom prst="rect">
              <a:avLst/>
            </a:prstGeom>
            <a:solidFill>
              <a:srgbClr val="F35C19"/>
            </a:solidFill>
            <a:ln>
              <a:noFill/>
            </a:ln>
          </p:spPr>
          <p:txBody>
            <a:bodyPr anchorCtr="0" anchor="ctr" bIns="25400" lIns="25400" spcFirstLastPara="1" rIns="25400" wrap="square" tIns="25400">
              <a:noAutofit/>
            </a:bodyPr>
            <a:lstStyle/>
            <a:p>
              <a:pPr indent="0" lvl="0" marL="0" marR="0" rtl="0" algn="ctr">
                <a:lnSpc>
                  <a:spcPct val="155888"/>
                </a:lnSpc>
                <a:spcBef>
                  <a:spcPts val="0"/>
                </a:spcBef>
                <a:spcAft>
                  <a:spcPts val="0"/>
                </a:spcAft>
                <a:buNone/>
              </a:pPr>
              <a:r>
                <a:t/>
              </a:r>
              <a:endParaRPr sz="900">
                <a:solidFill>
                  <a:schemeClr val="dk1"/>
                </a:solidFill>
                <a:latin typeface="Calibri"/>
                <a:ea typeface="Calibri"/>
                <a:cs typeface="Calibri"/>
                <a:sym typeface="Calibri"/>
              </a:endParaRPr>
            </a:p>
          </p:txBody>
        </p:sp>
      </p:grpSp>
      <p:sp>
        <p:nvSpPr>
          <p:cNvPr id="433" name="Google Shape;433;p45"/>
          <p:cNvSpPr txBox="1"/>
          <p:nvPr/>
        </p:nvSpPr>
        <p:spPr>
          <a:xfrm>
            <a:off x="315950" y="176825"/>
            <a:ext cx="4941000" cy="431100"/>
          </a:xfrm>
          <a:prstGeom prst="rect">
            <a:avLst/>
          </a:prstGeom>
          <a:noFill/>
          <a:ln>
            <a:noFill/>
          </a:ln>
        </p:spPr>
        <p:txBody>
          <a:bodyPr anchorCtr="0" anchor="t" bIns="91425" lIns="91425" spcFirstLastPara="1" rIns="91425" wrap="square" tIns="91425">
            <a:spAutoFit/>
          </a:bodyPr>
          <a:lstStyle/>
          <a:p>
            <a:pPr indent="0" lvl="0" marL="0" rtl="0" algn="l">
              <a:lnSpc>
                <a:spcPct val="107916"/>
              </a:lnSpc>
              <a:spcBef>
                <a:spcPts val="0"/>
              </a:spcBef>
              <a:spcAft>
                <a:spcPts val="800"/>
              </a:spcAft>
              <a:buNone/>
            </a:pPr>
            <a:r>
              <a:rPr b="1" lang="en" sz="1600">
                <a:solidFill>
                  <a:schemeClr val="dk1"/>
                </a:solidFill>
                <a:latin typeface="Calibri"/>
                <a:ea typeface="Calibri"/>
                <a:cs typeface="Calibri"/>
                <a:sym typeface="Calibri"/>
              </a:rPr>
              <a:t>Sampling Distribution of Variance – Death Over Scores</a:t>
            </a:r>
            <a:endParaRPr sz="1600"/>
          </a:p>
        </p:txBody>
      </p:sp>
      <p:sp>
        <p:nvSpPr>
          <p:cNvPr id="434" name="Google Shape;434;p45"/>
          <p:cNvSpPr txBox="1"/>
          <p:nvPr/>
        </p:nvSpPr>
        <p:spPr>
          <a:xfrm>
            <a:off x="586100" y="4392100"/>
            <a:ext cx="4194600" cy="43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latin typeface="Calibri"/>
                <a:ea typeface="Calibri"/>
                <a:cs typeface="Calibri"/>
                <a:sym typeface="Calibri"/>
              </a:rPr>
              <a:t>This histogram displays a right-skewed distribution of CSK’s death-over score variance, highlighting occasional explosive or inconsistent finishes.</a:t>
            </a:r>
            <a:endParaRPr sz="900">
              <a:solidFill>
                <a:schemeClr val="dk1"/>
              </a:solidFill>
              <a:latin typeface="Calibri"/>
              <a:ea typeface="Calibri"/>
              <a:cs typeface="Calibri"/>
              <a:sym typeface="Calibri"/>
            </a:endParaRPr>
          </a:p>
        </p:txBody>
      </p:sp>
      <p:sp>
        <p:nvSpPr>
          <p:cNvPr id="435" name="Google Shape;435;p45"/>
          <p:cNvSpPr/>
          <p:nvPr/>
        </p:nvSpPr>
        <p:spPr>
          <a:xfrm>
            <a:off x="475850" y="757225"/>
            <a:ext cx="4369200" cy="741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900">
                <a:solidFill>
                  <a:schemeClr val="dk1"/>
                </a:solidFill>
                <a:latin typeface="Calibri"/>
                <a:ea typeface="Calibri"/>
                <a:cs typeface="Calibri"/>
                <a:sym typeface="Calibri"/>
              </a:rPr>
              <a:t>Simulated </a:t>
            </a:r>
            <a:r>
              <a:rPr b="1" lang="en" sz="900">
                <a:solidFill>
                  <a:schemeClr val="dk1"/>
                </a:solidFill>
                <a:latin typeface="Calibri"/>
                <a:ea typeface="Calibri"/>
                <a:cs typeface="Calibri"/>
                <a:sym typeface="Calibri"/>
              </a:rPr>
              <a:t>1000 random samples (n=30) of CSK’s death-over scores to study the variability in finishing phases, aiming to assess consistency and detect patterns of volatility under different match conditions.</a:t>
            </a:r>
            <a:endParaRPr b="1" sz="900">
              <a:solidFill>
                <a:schemeClr val="dk1"/>
              </a:solidFill>
              <a:latin typeface="Calibri"/>
              <a:ea typeface="Calibri"/>
              <a:cs typeface="Calibri"/>
              <a:sym typeface="Calibri"/>
            </a:endParaRPr>
          </a:p>
        </p:txBody>
      </p:sp>
      <p:sp>
        <p:nvSpPr>
          <p:cNvPr id="436" name="Google Shape;436;p45"/>
          <p:cNvSpPr/>
          <p:nvPr/>
        </p:nvSpPr>
        <p:spPr>
          <a:xfrm>
            <a:off x="5215625" y="1283438"/>
            <a:ext cx="34026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900">
                <a:solidFill>
                  <a:schemeClr val="dk1"/>
                </a:solidFill>
                <a:latin typeface="Calibri"/>
                <a:ea typeface="Calibri"/>
                <a:cs typeface="Calibri"/>
                <a:sym typeface="Calibri"/>
              </a:rPr>
              <a:t>Right-Skewed Shape: </a:t>
            </a:r>
            <a:r>
              <a:rPr lang="en" sz="900">
                <a:solidFill>
                  <a:schemeClr val="dk1"/>
                </a:solidFill>
                <a:latin typeface="Calibri"/>
                <a:ea typeface="Calibri"/>
                <a:cs typeface="Calibri"/>
                <a:sym typeface="Calibri"/>
              </a:rPr>
              <a:t>Indicates presence of some very high-variance finishing performances.</a:t>
            </a:r>
            <a:endParaRPr sz="900">
              <a:solidFill>
                <a:schemeClr val="dk1"/>
              </a:solidFill>
              <a:latin typeface="Calibri"/>
              <a:ea typeface="Calibri"/>
              <a:cs typeface="Calibri"/>
              <a:sym typeface="Calibri"/>
            </a:endParaRPr>
          </a:p>
        </p:txBody>
      </p:sp>
      <p:sp>
        <p:nvSpPr>
          <p:cNvPr id="437" name="Google Shape;437;p45"/>
          <p:cNvSpPr/>
          <p:nvPr/>
        </p:nvSpPr>
        <p:spPr>
          <a:xfrm>
            <a:off x="5215625" y="1866313"/>
            <a:ext cx="34026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900">
                <a:solidFill>
                  <a:schemeClr val="dk1"/>
                </a:solidFill>
                <a:latin typeface="Calibri"/>
                <a:ea typeface="Calibri"/>
                <a:cs typeface="Calibri"/>
                <a:sym typeface="Calibri"/>
              </a:rPr>
              <a:t>Peak at 175–200: </a:t>
            </a:r>
            <a:r>
              <a:rPr lang="en" sz="900">
                <a:solidFill>
                  <a:schemeClr val="dk1"/>
                </a:solidFill>
                <a:latin typeface="Calibri"/>
                <a:ea typeface="Calibri"/>
                <a:cs typeface="Calibri"/>
                <a:sym typeface="Calibri"/>
              </a:rPr>
              <a:t>Most common variance level, showing moderate but frequent fluctuations.</a:t>
            </a:r>
            <a:endParaRPr sz="900">
              <a:latin typeface="Calibri"/>
              <a:ea typeface="Calibri"/>
              <a:cs typeface="Calibri"/>
              <a:sym typeface="Calibri"/>
            </a:endParaRPr>
          </a:p>
        </p:txBody>
      </p:sp>
      <p:sp>
        <p:nvSpPr>
          <p:cNvPr id="438" name="Google Shape;438;p45"/>
          <p:cNvSpPr/>
          <p:nvPr/>
        </p:nvSpPr>
        <p:spPr>
          <a:xfrm>
            <a:off x="5215625" y="2449188"/>
            <a:ext cx="34026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900">
                <a:solidFill>
                  <a:schemeClr val="dk1"/>
                </a:solidFill>
                <a:latin typeface="Calibri"/>
                <a:ea typeface="Calibri"/>
                <a:cs typeface="Calibri"/>
                <a:sym typeface="Calibri"/>
              </a:rPr>
              <a:t>Long Tail: </a:t>
            </a:r>
            <a:r>
              <a:rPr lang="en" sz="900">
                <a:solidFill>
                  <a:schemeClr val="dk1"/>
                </a:solidFill>
                <a:latin typeface="Calibri"/>
                <a:ea typeface="Calibri"/>
                <a:cs typeface="Calibri"/>
                <a:sym typeface="Calibri"/>
              </a:rPr>
              <a:t>A few matches have high volatility, possibly due to big finishes or collapse.</a:t>
            </a:r>
            <a:endParaRPr sz="900">
              <a:latin typeface="Calibri"/>
              <a:ea typeface="Calibri"/>
              <a:cs typeface="Calibri"/>
              <a:sym typeface="Calibri"/>
            </a:endParaRPr>
          </a:p>
        </p:txBody>
      </p:sp>
      <p:sp>
        <p:nvSpPr>
          <p:cNvPr id="439" name="Google Shape;439;p45"/>
          <p:cNvSpPr/>
          <p:nvPr/>
        </p:nvSpPr>
        <p:spPr>
          <a:xfrm>
            <a:off x="5215625" y="3032063"/>
            <a:ext cx="34026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900">
                <a:solidFill>
                  <a:schemeClr val="dk1"/>
                </a:solidFill>
                <a:latin typeface="Calibri"/>
                <a:ea typeface="Calibri"/>
                <a:cs typeface="Calibri"/>
                <a:sym typeface="Calibri"/>
              </a:rPr>
              <a:t>Inconsistent Closes: </a:t>
            </a:r>
            <a:r>
              <a:rPr lang="en" sz="900">
                <a:solidFill>
                  <a:schemeClr val="dk1"/>
                </a:solidFill>
                <a:latin typeface="Calibri"/>
                <a:ea typeface="Calibri"/>
                <a:cs typeface="Calibri"/>
                <a:sym typeface="Calibri"/>
              </a:rPr>
              <a:t>Wider spread than powerplay scores, signaling less predictability.</a:t>
            </a:r>
            <a:endParaRPr sz="900">
              <a:latin typeface="Calibri"/>
              <a:ea typeface="Calibri"/>
              <a:cs typeface="Calibri"/>
              <a:sym typeface="Calibri"/>
            </a:endParaRPr>
          </a:p>
        </p:txBody>
      </p:sp>
      <p:sp>
        <p:nvSpPr>
          <p:cNvPr id="440" name="Google Shape;440;p45"/>
          <p:cNvSpPr/>
          <p:nvPr/>
        </p:nvSpPr>
        <p:spPr>
          <a:xfrm>
            <a:off x="5215625" y="3614938"/>
            <a:ext cx="34026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900">
                <a:solidFill>
                  <a:schemeClr val="dk1"/>
                </a:solidFill>
                <a:latin typeface="Calibri"/>
                <a:ea typeface="Calibri"/>
                <a:cs typeface="Calibri"/>
                <a:sym typeface="Calibri"/>
              </a:rPr>
              <a:t>Situational Influence: </a:t>
            </a:r>
            <a:r>
              <a:rPr lang="en" sz="900">
                <a:solidFill>
                  <a:schemeClr val="dk1"/>
                </a:solidFill>
                <a:latin typeface="Calibri"/>
                <a:ea typeface="Calibri"/>
                <a:cs typeface="Calibri"/>
                <a:sym typeface="Calibri"/>
              </a:rPr>
              <a:t>Variability likely depends on match context, bowling attack, or pressure.</a:t>
            </a:r>
            <a:endParaRPr sz="900">
              <a:solidFill>
                <a:schemeClr val="dk1"/>
              </a:solidFill>
              <a:latin typeface="Calibri"/>
              <a:ea typeface="Calibri"/>
              <a:cs typeface="Calibri"/>
              <a:sym typeface="Calibri"/>
            </a:endParaRPr>
          </a:p>
        </p:txBody>
      </p:sp>
      <p:pic>
        <p:nvPicPr>
          <p:cNvPr id="441" name="Google Shape;441;p45"/>
          <p:cNvPicPr preferRelativeResize="0"/>
          <p:nvPr/>
        </p:nvPicPr>
        <p:blipFill rotWithShape="1">
          <a:blip r:embed="rId3">
            <a:alphaModFix/>
          </a:blip>
          <a:srcRect b="0" l="0" r="0" t="12899"/>
          <a:stretch/>
        </p:blipFill>
        <p:spPr>
          <a:xfrm>
            <a:off x="475850" y="1609700"/>
            <a:ext cx="4369200" cy="2782400"/>
          </a:xfrm>
          <a:prstGeom prst="rect">
            <a:avLst/>
          </a:prstGeom>
          <a:noFill/>
          <a:ln>
            <a:noFill/>
          </a:ln>
        </p:spPr>
      </p:pic>
      <p:sp>
        <p:nvSpPr>
          <p:cNvPr id="442" name="Google Shape;442;p45"/>
          <p:cNvSpPr txBox="1"/>
          <p:nvPr/>
        </p:nvSpPr>
        <p:spPr>
          <a:xfrm>
            <a:off x="5284325" y="592375"/>
            <a:ext cx="3265200" cy="3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dk1"/>
                </a:solidFill>
                <a:latin typeface="Calibri"/>
                <a:ea typeface="Calibri"/>
                <a:cs typeface="Calibri"/>
                <a:sym typeface="Calibri"/>
              </a:rPr>
              <a:t>How consistent are CSK’s performances in the death overs, and what patterns of variability emerge under pressure?</a:t>
            </a:r>
            <a:endParaRPr b="1" sz="9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grpSp>
        <p:nvGrpSpPr>
          <p:cNvPr id="447" name="Google Shape;447;p46"/>
          <p:cNvGrpSpPr/>
          <p:nvPr/>
        </p:nvGrpSpPr>
        <p:grpSpPr>
          <a:xfrm>
            <a:off x="0" y="5060139"/>
            <a:ext cx="9144120" cy="97648"/>
            <a:chOff x="0" y="-9525"/>
            <a:chExt cx="5052000" cy="51437"/>
          </a:xfrm>
        </p:grpSpPr>
        <p:sp>
          <p:nvSpPr>
            <p:cNvPr id="448" name="Google Shape;448;p46"/>
            <p:cNvSpPr/>
            <p:nvPr/>
          </p:nvSpPr>
          <p:spPr>
            <a:xfrm>
              <a:off x="0" y="0"/>
              <a:ext cx="5051911" cy="41912"/>
            </a:xfrm>
            <a:custGeom>
              <a:rect b="b" l="l" r="r" t="t"/>
              <a:pathLst>
                <a:path extrusionOk="0" h="41912" w="5051911">
                  <a:moveTo>
                    <a:pt x="0" y="0"/>
                  </a:moveTo>
                  <a:lnTo>
                    <a:pt x="5051911" y="0"/>
                  </a:lnTo>
                  <a:lnTo>
                    <a:pt x="5051911" y="41912"/>
                  </a:lnTo>
                  <a:lnTo>
                    <a:pt x="0" y="41912"/>
                  </a:lnTo>
                  <a:close/>
                </a:path>
              </a:pathLst>
            </a:custGeom>
            <a:solidFill>
              <a:srgbClr val="F35C19"/>
            </a:solid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449" name="Google Shape;449;p46"/>
            <p:cNvSpPr txBox="1"/>
            <p:nvPr/>
          </p:nvSpPr>
          <p:spPr>
            <a:xfrm>
              <a:off x="0" y="-9525"/>
              <a:ext cx="5052000" cy="51300"/>
            </a:xfrm>
            <a:prstGeom prst="rect">
              <a:avLst/>
            </a:prstGeom>
            <a:solidFill>
              <a:srgbClr val="F35C19"/>
            </a:solidFill>
            <a:ln>
              <a:noFill/>
            </a:ln>
          </p:spPr>
          <p:txBody>
            <a:bodyPr anchorCtr="0" anchor="ctr" bIns="25400" lIns="25400" spcFirstLastPara="1" rIns="25400" wrap="square" tIns="25400">
              <a:noAutofit/>
            </a:bodyPr>
            <a:lstStyle/>
            <a:p>
              <a:pPr indent="0" lvl="0" marL="0" marR="0" rtl="0" algn="ctr">
                <a:lnSpc>
                  <a:spcPct val="155888"/>
                </a:lnSpc>
                <a:spcBef>
                  <a:spcPts val="0"/>
                </a:spcBef>
                <a:spcAft>
                  <a:spcPts val="0"/>
                </a:spcAft>
                <a:buNone/>
              </a:pPr>
              <a:r>
                <a:t/>
              </a:r>
              <a:endParaRPr sz="900">
                <a:solidFill>
                  <a:schemeClr val="dk1"/>
                </a:solidFill>
                <a:latin typeface="Calibri"/>
                <a:ea typeface="Calibri"/>
                <a:cs typeface="Calibri"/>
                <a:sym typeface="Calibri"/>
              </a:endParaRPr>
            </a:p>
          </p:txBody>
        </p:sp>
      </p:grpSp>
      <p:sp>
        <p:nvSpPr>
          <p:cNvPr id="450" name="Google Shape;450;p46"/>
          <p:cNvSpPr txBox="1"/>
          <p:nvPr/>
        </p:nvSpPr>
        <p:spPr>
          <a:xfrm>
            <a:off x="315950" y="176825"/>
            <a:ext cx="5948700" cy="431100"/>
          </a:xfrm>
          <a:prstGeom prst="rect">
            <a:avLst/>
          </a:prstGeom>
          <a:noFill/>
          <a:ln>
            <a:noFill/>
          </a:ln>
        </p:spPr>
        <p:txBody>
          <a:bodyPr anchorCtr="0" anchor="t" bIns="91425" lIns="91425" spcFirstLastPara="1" rIns="91425" wrap="square" tIns="91425">
            <a:spAutoFit/>
          </a:bodyPr>
          <a:lstStyle/>
          <a:p>
            <a:pPr indent="0" lvl="0" marL="0" rtl="0" algn="l">
              <a:lnSpc>
                <a:spcPct val="107916"/>
              </a:lnSpc>
              <a:spcBef>
                <a:spcPts val="0"/>
              </a:spcBef>
              <a:spcAft>
                <a:spcPts val="800"/>
              </a:spcAft>
              <a:buNone/>
            </a:pPr>
            <a:r>
              <a:rPr b="1" lang="en" sz="1600">
                <a:solidFill>
                  <a:schemeClr val="dk1"/>
                </a:solidFill>
                <a:latin typeface="Calibri"/>
                <a:ea typeface="Calibri"/>
                <a:cs typeface="Calibri"/>
                <a:sym typeface="Calibri"/>
              </a:rPr>
              <a:t>Sampling Distribution of Proportion – CSK Wins When Batting First</a:t>
            </a:r>
            <a:endParaRPr sz="1600"/>
          </a:p>
        </p:txBody>
      </p:sp>
      <p:sp>
        <p:nvSpPr>
          <p:cNvPr id="451" name="Google Shape;451;p46"/>
          <p:cNvSpPr txBox="1"/>
          <p:nvPr/>
        </p:nvSpPr>
        <p:spPr>
          <a:xfrm>
            <a:off x="586100" y="4392100"/>
            <a:ext cx="4194600" cy="43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latin typeface="Calibri"/>
                <a:ea typeface="Calibri"/>
                <a:cs typeface="Calibri"/>
                <a:sym typeface="Calibri"/>
              </a:rPr>
              <a:t>This histogram shows that CSK wins a lower proportion of matches when batting first, with most values clustered below 25%, and a slight right skew indicating occasional strong defenses.</a:t>
            </a:r>
            <a:endParaRPr sz="900">
              <a:solidFill>
                <a:schemeClr val="dk1"/>
              </a:solidFill>
              <a:latin typeface="Calibri"/>
              <a:ea typeface="Calibri"/>
              <a:cs typeface="Calibri"/>
              <a:sym typeface="Calibri"/>
            </a:endParaRPr>
          </a:p>
          <a:p>
            <a:pPr indent="0" lvl="0" marL="0" rtl="0" algn="l">
              <a:spcBef>
                <a:spcPts val="0"/>
              </a:spcBef>
              <a:spcAft>
                <a:spcPts val="0"/>
              </a:spcAft>
              <a:buNone/>
            </a:pPr>
            <a:r>
              <a:t/>
            </a:r>
            <a:endParaRPr sz="900">
              <a:solidFill>
                <a:schemeClr val="dk1"/>
              </a:solidFill>
              <a:latin typeface="Calibri"/>
              <a:ea typeface="Calibri"/>
              <a:cs typeface="Calibri"/>
              <a:sym typeface="Calibri"/>
            </a:endParaRPr>
          </a:p>
          <a:p>
            <a:pPr indent="0" lvl="0" marL="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452" name="Google Shape;452;p46"/>
          <p:cNvSpPr/>
          <p:nvPr/>
        </p:nvSpPr>
        <p:spPr>
          <a:xfrm>
            <a:off x="475850" y="757225"/>
            <a:ext cx="4369200" cy="741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900">
                <a:solidFill>
                  <a:schemeClr val="dk1"/>
                </a:solidFill>
                <a:latin typeface="Calibri"/>
                <a:ea typeface="Calibri"/>
                <a:cs typeface="Calibri"/>
                <a:sym typeface="Calibri"/>
              </a:rPr>
              <a:t>Analyzed 1000 random samples (n = 30) of CSK matches where they batted first to study their win proportion and identify if they perform better chasing or setting a target. This helps inform strategy decisions like toss preferences.</a:t>
            </a:r>
            <a:endParaRPr b="1" sz="900">
              <a:solidFill>
                <a:schemeClr val="dk1"/>
              </a:solidFill>
              <a:latin typeface="Calibri"/>
              <a:ea typeface="Calibri"/>
              <a:cs typeface="Calibri"/>
              <a:sym typeface="Calibri"/>
            </a:endParaRPr>
          </a:p>
        </p:txBody>
      </p:sp>
      <p:sp>
        <p:nvSpPr>
          <p:cNvPr id="453" name="Google Shape;453;p46"/>
          <p:cNvSpPr/>
          <p:nvPr/>
        </p:nvSpPr>
        <p:spPr>
          <a:xfrm>
            <a:off x="5215625" y="1283438"/>
            <a:ext cx="34026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900">
                <a:solidFill>
                  <a:schemeClr val="dk1"/>
                </a:solidFill>
                <a:latin typeface="Calibri"/>
                <a:ea typeface="Calibri"/>
                <a:cs typeface="Calibri"/>
                <a:sym typeface="Calibri"/>
              </a:rPr>
              <a:t>Right-Skewed Curve: </a:t>
            </a:r>
            <a:r>
              <a:rPr lang="en" sz="900">
                <a:solidFill>
                  <a:schemeClr val="dk1"/>
                </a:solidFill>
                <a:latin typeface="Calibri"/>
                <a:ea typeface="Calibri"/>
                <a:cs typeface="Calibri"/>
                <a:sym typeface="Calibri"/>
              </a:rPr>
              <a:t>Most values lie between 10%–25%, showing limited dominance when batting first.</a:t>
            </a:r>
            <a:endParaRPr sz="900">
              <a:solidFill>
                <a:schemeClr val="dk1"/>
              </a:solidFill>
              <a:latin typeface="Calibri"/>
              <a:ea typeface="Calibri"/>
              <a:cs typeface="Calibri"/>
              <a:sym typeface="Calibri"/>
            </a:endParaRPr>
          </a:p>
        </p:txBody>
      </p:sp>
      <p:sp>
        <p:nvSpPr>
          <p:cNvPr id="454" name="Google Shape;454;p46"/>
          <p:cNvSpPr/>
          <p:nvPr/>
        </p:nvSpPr>
        <p:spPr>
          <a:xfrm>
            <a:off x="5215625" y="1866313"/>
            <a:ext cx="34026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900">
                <a:solidFill>
                  <a:schemeClr val="dk1"/>
                </a:solidFill>
                <a:latin typeface="Calibri"/>
                <a:ea typeface="Calibri"/>
                <a:cs typeface="Calibri"/>
                <a:sym typeface="Calibri"/>
              </a:rPr>
              <a:t>Chasing Advantage: </a:t>
            </a:r>
            <a:r>
              <a:rPr lang="en" sz="900">
                <a:solidFill>
                  <a:schemeClr val="dk1"/>
                </a:solidFill>
                <a:latin typeface="Calibri"/>
                <a:ea typeface="Calibri"/>
                <a:cs typeface="Calibri"/>
                <a:sym typeface="Calibri"/>
              </a:rPr>
              <a:t>Low win proportion suggests stronger chasing performance historically.</a:t>
            </a:r>
            <a:endParaRPr sz="900">
              <a:latin typeface="Calibri"/>
              <a:ea typeface="Calibri"/>
              <a:cs typeface="Calibri"/>
              <a:sym typeface="Calibri"/>
            </a:endParaRPr>
          </a:p>
        </p:txBody>
      </p:sp>
      <p:sp>
        <p:nvSpPr>
          <p:cNvPr id="455" name="Google Shape;455;p46"/>
          <p:cNvSpPr/>
          <p:nvPr/>
        </p:nvSpPr>
        <p:spPr>
          <a:xfrm>
            <a:off x="5215625" y="2449188"/>
            <a:ext cx="34026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900">
                <a:solidFill>
                  <a:schemeClr val="dk1"/>
                </a:solidFill>
                <a:latin typeface="Calibri"/>
                <a:ea typeface="Calibri"/>
                <a:cs typeface="Calibri"/>
                <a:sym typeface="Calibri"/>
              </a:rPr>
              <a:t>Target Setting Struggles: </a:t>
            </a:r>
            <a:r>
              <a:rPr lang="en" sz="900">
                <a:solidFill>
                  <a:schemeClr val="dk1"/>
                </a:solidFill>
                <a:latin typeface="Calibri"/>
                <a:ea typeface="Calibri"/>
                <a:cs typeface="Calibri"/>
                <a:sym typeface="Calibri"/>
              </a:rPr>
              <a:t>Few high-proportion wins imply inconsistency in defending scores.</a:t>
            </a:r>
            <a:endParaRPr sz="900">
              <a:latin typeface="Calibri"/>
              <a:ea typeface="Calibri"/>
              <a:cs typeface="Calibri"/>
              <a:sym typeface="Calibri"/>
            </a:endParaRPr>
          </a:p>
        </p:txBody>
      </p:sp>
      <p:sp>
        <p:nvSpPr>
          <p:cNvPr id="456" name="Google Shape;456;p46"/>
          <p:cNvSpPr/>
          <p:nvPr/>
        </p:nvSpPr>
        <p:spPr>
          <a:xfrm>
            <a:off x="5215625" y="3032063"/>
            <a:ext cx="34026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900">
                <a:solidFill>
                  <a:schemeClr val="dk1"/>
                </a:solidFill>
                <a:latin typeface="Calibri"/>
                <a:ea typeface="Calibri"/>
                <a:cs typeface="Calibri"/>
                <a:sym typeface="Calibri"/>
              </a:rPr>
              <a:t>Sample Spread: </a:t>
            </a:r>
            <a:r>
              <a:rPr lang="en" sz="900">
                <a:solidFill>
                  <a:schemeClr val="dk1"/>
                </a:solidFill>
                <a:latin typeface="Calibri"/>
                <a:ea typeface="Calibri"/>
                <a:cs typeface="Calibri"/>
                <a:sym typeface="Calibri"/>
              </a:rPr>
              <a:t>Wide spread with outliers shows occasional high success but not a regular pattern.</a:t>
            </a:r>
            <a:endParaRPr sz="900">
              <a:latin typeface="Calibri"/>
              <a:ea typeface="Calibri"/>
              <a:cs typeface="Calibri"/>
              <a:sym typeface="Calibri"/>
            </a:endParaRPr>
          </a:p>
        </p:txBody>
      </p:sp>
      <p:sp>
        <p:nvSpPr>
          <p:cNvPr id="457" name="Google Shape;457;p46"/>
          <p:cNvSpPr/>
          <p:nvPr/>
        </p:nvSpPr>
        <p:spPr>
          <a:xfrm>
            <a:off x="5215625" y="3614938"/>
            <a:ext cx="34026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900">
                <a:solidFill>
                  <a:schemeClr val="dk1"/>
                </a:solidFill>
                <a:latin typeface="Calibri"/>
                <a:ea typeface="Calibri"/>
                <a:cs typeface="Calibri"/>
                <a:sym typeface="Calibri"/>
              </a:rPr>
              <a:t>Tactical Implication: </a:t>
            </a:r>
            <a:r>
              <a:rPr lang="en" sz="900">
                <a:solidFill>
                  <a:schemeClr val="dk1"/>
                </a:solidFill>
                <a:latin typeface="Calibri"/>
                <a:ea typeface="Calibri"/>
                <a:cs typeface="Calibri"/>
                <a:sym typeface="Calibri"/>
              </a:rPr>
              <a:t>Supports decision to field first when winning the toss, especially on high-scoring grounds.</a:t>
            </a:r>
            <a:endParaRPr sz="900">
              <a:solidFill>
                <a:schemeClr val="dk1"/>
              </a:solidFill>
              <a:latin typeface="Calibri"/>
              <a:ea typeface="Calibri"/>
              <a:cs typeface="Calibri"/>
              <a:sym typeface="Calibri"/>
            </a:endParaRPr>
          </a:p>
        </p:txBody>
      </p:sp>
      <p:pic>
        <p:nvPicPr>
          <p:cNvPr id="458" name="Google Shape;458;p46"/>
          <p:cNvPicPr preferRelativeResize="0"/>
          <p:nvPr/>
        </p:nvPicPr>
        <p:blipFill rotWithShape="1">
          <a:blip r:embed="rId3">
            <a:alphaModFix/>
          </a:blip>
          <a:srcRect b="0" l="0" r="0" t="13344"/>
          <a:stretch/>
        </p:blipFill>
        <p:spPr>
          <a:xfrm>
            <a:off x="444050" y="1694225"/>
            <a:ext cx="4478701" cy="2747950"/>
          </a:xfrm>
          <a:prstGeom prst="rect">
            <a:avLst/>
          </a:prstGeom>
          <a:noFill/>
          <a:ln>
            <a:noFill/>
          </a:ln>
        </p:spPr>
      </p:pic>
      <p:sp>
        <p:nvSpPr>
          <p:cNvPr id="459" name="Google Shape;459;p46"/>
          <p:cNvSpPr txBox="1"/>
          <p:nvPr/>
        </p:nvSpPr>
        <p:spPr>
          <a:xfrm>
            <a:off x="5284325" y="668575"/>
            <a:ext cx="3265200" cy="3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dk1"/>
                </a:solidFill>
                <a:latin typeface="Calibri"/>
                <a:ea typeface="Calibri"/>
                <a:cs typeface="Calibri"/>
                <a:sym typeface="Calibri"/>
              </a:rPr>
              <a:t>How often does CSK win when batting first, and what does it reveal about their target-setting ability?</a:t>
            </a:r>
            <a:endParaRPr b="1" sz="9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grpSp>
        <p:nvGrpSpPr>
          <p:cNvPr id="464" name="Google Shape;464;p47"/>
          <p:cNvGrpSpPr/>
          <p:nvPr/>
        </p:nvGrpSpPr>
        <p:grpSpPr>
          <a:xfrm>
            <a:off x="0" y="5060139"/>
            <a:ext cx="9144120" cy="97648"/>
            <a:chOff x="0" y="-9525"/>
            <a:chExt cx="5052000" cy="51437"/>
          </a:xfrm>
        </p:grpSpPr>
        <p:sp>
          <p:nvSpPr>
            <p:cNvPr id="465" name="Google Shape;465;p47"/>
            <p:cNvSpPr/>
            <p:nvPr/>
          </p:nvSpPr>
          <p:spPr>
            <a:xfrm>
              <a:off x="0" y="0"/>
              <a:ext cx="5051911" cy="41912"/>
            </a:xfrm>
            <a:custGeom>
              <a:rect b="b" l="l" r="r" t="t"/>
              <a:pathLst>
                <a:path extrusionOk="0" h="41912" w="5051911">
                  <a:moveTo>
                    <a:pt x="0" y="0"/>
                  </a:moveTo>
                  <a:lnTo>
                    <a:pt x="5051911" y="0"/>
                  </a:lnTo>
                  <a:lnTo>
                    <a:pt x="5051911" y="41912"/>
                  </a:lnTo>
                  <a:lnTo>
                    <a:pt x="0" y="41912"/>
                  </a:lnTo>
                  <a:close/>
                </a:path>
              </a:pathLst>
            </a:custGeom>
            <a:solidFill>
              <a:srgbClr val="F35C19"/>
            </a:solid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466" name="Google Shape;466;p47"/>
            <p:cNvSpPr txBox="1"/>
            <p:nvPr/>
          </p:nvSpPr>
          <p:spPr>
            <a:xfrm>
              <a:off x="0" y="-9525"/>
              <a:ext cx="5052000" cy="51300"/>
            </a:xfrm>
            <a:prstGeom prst="rect">
              <a:avLst/>
            </a:prstGeom>
            <a:solidFill>
              <a:srgbClr val="F35C19"/>
            </a:solidFill>
            <a:ln>
              <a:noFill/>
            </a:ln>
          </p:spPr>
          <p:txBody>
            <a:bodyPr anchorCtr="0" anchor="ctr" bIns="25400" lIns="25400" spcFirstLastPara="1" rIns="25400" wrap="square" tIns="25400">
              <a:noAutofit/>
            </a:bodyPr>
            <a:lstStyle/>
            <a:p>
              <a:pPr indent="0" lvl="0" marL="0" marR="0" rtl="0" algn="ctr">
                <a:lnSpc>
                  <a:spcPct val="155888"/>
                </a:lnSpc>
                <a:spcBef>
                  <a:spcPts val="0"/>
                </a:spcBef>
                <a:spcAft>
                  <a:spcPts val="0"/>
                </a:spcAft>
                <a:buNone/>
              </a:pPr>
              <a:r>
                <a:t/>
              </a:r>
              <a:endParaRPr sz="900">
                <a:solidFill>
                  <a:schemeClr val="dk1"/>
                </a:solidFill>
                <a:latin typeface="Calibri"/>
                <a:ea typeface="Calibri"/>
                <a:cs typeface="Calibri"/>
                <a:sym typeface="Calibri"/>
              </a:endParaRPr>
            </a:p>
          </p:txBody>
        </p:sp>
      </p:grpSp>
      <p:sp>
        <p:nvSpPr>
          <p:cNvPr id="467" name="Google Shape;467;p47"/>
          <p:cNvSpPr txBox="1"/>
          <p:nvPr/>
        </p:nvSpPr>
        <p:spPr>
          <a:xfrm>
            <a:off x="315950" y="176825"/>
            <a:ext cx="6498000" cy="431100"/>
          </a:xfrm>
          <a:prstGeom prst="rect">
            <a:avLst/>
          </a:prstGeom>
          <a:noFill/>
          <a:ln>
            <a:noFill/>
          </a:ln>
        </p:spPr>
        <p:txBody>
          <a:bodyPr anchorCtr="0" anchor="t" bIns="91425" lIns="91425" spcFirstLastPara="1" rIns="91425" wrap="square" tIns="91425">
            <a:spAutoFit/>
          </a:bodyPr>
          <a:lstStyle/>
          <a:p>
            <a:pPr indent="0" lvl="0" marL="0" rtl="0" algn="l">
              <a:lnSpc>
                <a:spcPct val="107916"/>
              </a:lnSpc>
              <a:spcBef>
                <a:spcPts val="0"/>
              </a:spcBef>
              <a:spcAft>
                <a:spcPts val="800"/>
              </a:spcAft>
              <a:buNone/>
            </a:pPr>
            <a:r>
              <a:rPr b="1" lang="en" sz="1600">
                <a:solidFill>
                  <a:schemeClr val="dk1"/>
                </a:solidFill>
                <a:latin typeface="Calibri"/>
                <a:ea typeface="Calibri"/>
                <a:cs typeface="Calibri"/>
                <a:sym typeface="Calibri"/>
              </a:rPr>
              <a:t>Sampling Distribution of Proportion – CSK Wins When Batting Second</a:t>
            </a:r>
            <a:endParaRPr sz="1600"/>
          </a:p>
        </p:txBody>
      </p:sp>
      <p:sp>
        <p:nvSpPr>
          <p:cNvPr id="468" name="Google Shape;468;p47"/>
          <p:cNvSpPr txBox="1"/>
          <p:nvPr/>
        </p:nvSpPr>
        <p:spPr>
          <a:xfrm>
            <a:off x="586100" y="4392100"/>
            <a:ext cx="4194600" cy="43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latin typeface="Calibri"/>
                <a:ea typeface="Calibri"/>
                <a:cs typeface="Calibri"/>
                <a:sym typeface="Calibri"/>
              </a:rPr>
              <a:t>This histogram displays the sampling distribution of CSK’s win proportion while chasing, with most values clustering between 0.35 and 0.40—indicating a strong preference for chasing.</a:t>
            </a:r>
            <a:endParaRPr sz="900">
              <a:solidFill>
                <a:schemeClr val="dk1"/>
              </a:solidFill>
              <a:latin typeface="Calibri"/>
              <a:ea typeface="Calibri"/>
              <a:cs typeface="Calibri"/>
              <a:sym typeface="Calibri"/>
            </a:endParaRPr>
          </a:p>
          <a:p>
            <a:pPr indent="0" lvl="0" marL="0" rtl="0" algn="l">
              <a:spcBef>
                <a:spcPts val="0"/>
              </a:spcBef>
              <a:spcAft>
                <a:spcPts val="0"/>
              </a:spcAft>
              <a:buNone/>
            </a:pPr>
            <a:r>
              <a:t/>
            </a:r>
            <a:endParaRPr sz="900">
              <a:solidFill>
                <a:schemeClr val="dk1"/>
              </a:solidFill>
              <a:latin typeface="Calibri"/>
              <a:ea typeface="Calibri"/>
              <a:cs typeface="Calibri"/>
              <a:sym typeface="Calibri"/>
            </a:endParaRPr>
          </a:p>
          <a:p>
            <a:pPr indent="0" lvl="0" marL="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469" name="Google Shape;469;p47"/>
          <p:cNvSpPr/>
          <p:nvPr/>
        </p:nvSpPr>
        <p:spPr>
          <a:xfrm>
            <a:off x="475850" y="757225"/>
            <a:ext cx="4369200" cy="741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900">
                <a:solidFill>
                  <a:schemeClr val="dk1"/>
                </a:solidFill>
                <a:latin typeface="Calibri"/>
                <a:ea typeface="Calibri"/>
                <a:cs typeface="Calibri"/>
                <a:sym typeface="Calibri"/>
              </a:rPr>
              <a:t>Simulated 1000 random samples (n = 30) of CSK matches batting second to evaluate how consistently they win while chasing. This helps assess whether chasing offers a strategic advantage.</a:t>
            </a:r>
            <a:endParaRPr b="1" sz="900">
              <a:solidFill>
                <a:schemeClr val="dk1"/>
              </a:solidFill>
              <a:latin typeface="Calibri"/>
              <a:ea typeface="Calibri"/>
              <a:cs typeface="Calibri"/>
              <a:sym typeface="Calibri"/>
            </a:endParaRPr>
          </a:p>
        </p:txBody>
      </p:sp>
      <p:sp>
        <p:nvSpPr>
          <p:cNvPr id="470" name="Google Shape;470;p47"/>
          <p:cNvSpPr/>
          <p:nvPr/>
        </p:nvSpPr>
        <p:spPr>
          <a:xfrm>
            <a:off x="5215625" y="1283438"/>
            <a:ext cx="34026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900">
                <a:solidFill>
                  <a:schemeClr val="dk1"/>
                </a:solidFill>
                <a:latin typeface="Calibri"/>
                <a:ea typeface="Calibri"/>
                <a:cs typeface="Calibri"/>
                <a:sym typeface="Calibri"/>
              </a:rPr>
              <a:t>Peak at 0.35–0.40: </a:t>
            </a:r>
            <a:r>
              <a:rPr lang="en" sz="900">
                <a:solidFill>
                  <a:schemeClr val="dk1"/>
                </a:solidFill>
                <a:latin typeface="Calibri"/>
                <a:ea typeface="Calibri"/>
                <a:cs typeface="Calibri"/>
                <a:sym typeface="Calibri"/>
              </a:rPr>
              <a:t>Most common win proportion lies in this range, suggesting strong chasing performance.</a:t>
            </a:r>
            <a:endParaRPr sz="900">
              <a:solidFill>
                <a:schemeClr val="dk1"/>
              </a:solidFill>
              <a:latin typeface="Calibri"/>
              <a:ea typeface="Calibri"/>
              <a:cs typeface="Calibri"/>
              <a:sym typeface="Calibri"/>
            </a:endParaRPr>
          </a:p>
        </p:txBody>
      </p:sp>
      <p:sp>
        <p:nvSpPr>
          <p:cNvPr id="471" name="Google Shape;471;p47"/>
          <p:cNvSpPr/>
          <p:nvPr/>
        </p:nvSpPr>
        <p:spPr>
          <a:xfrm>
            <a:off x="5215625" y="1866313"/>
            <a:ext cx="34026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900">
                <a:solidFill>
                  <a:schemeClr val="dk1"/>
                </a:solidFill>
                <a:latin typeface="Calibri"/>
                <a:ea typeface="Calibri"/>
                <a:cs typeface="Calibri"/>
                <a:sym typeface="Calibri"/>
              </a:rPr>
              <a:t>Right-Skewed Shape: </a:t>
            </a:r>
            <a:r>
              <a:rPr lang="en" sz="900">
                <a:solidFill>
                  <a:schemeClr val="dk1"/>
                </a:solidFill>
                <a:latin typeface="Calibri"/>
                <a:ea typeface="Calibri"/>
                <a:cs typeface="Calibri"/>
                <a:sym typeface="Calibri"/>
              </a:rPr>
              <a:t>Implies occasional high-win proportions, indicating brilliant run chases.</a:t>
            </a:r>
            <a:endParaRPr sz="900">
              <a:latin typeface="Calibri"/>
              <a:ea typeface="Calibri"/>
              <a:cs typeface="Calibri"/>
              <a:sym typeface="Calibri"/>
            </a:endParaRPr>
          </a:p>
        </p:txBody>
      </p:sp>
      <p:sp>
        <p:nvSpPr>
          <p:cNvPr id="472" name="Google Shape;472;p47"/>
          <p:cNvSpPr/>
          <p:nvPr/>
        </p:nvSpPr>
        <p:spPr>
          <a:xfrm>
            <a:off x="5215625" y="2449188"/>
            <a:ext cx="34026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900">
                <a:solidFill>
                  <a:schemeClr val="dk1"/>
                </a:solidFill>
                <a:latin typeface="Calibri"/>
                <a:ea typeface="Calibri"/>
                <a:cs typeface="Calibri"/>
                <a:sym typeface="Calibri"/>
              </a:rPr>
              <a:t>Better than Batting First: </a:t>
            </a:r>
            <a:r>
              <a:rPr lang="en" sz="900">
                <a:solidFill>
                  <a:schemeClr val="dk1"/>
                </a:solidFill>
                <a:latin typeface="Calibri"/>
                <a:ea typeface="Calibri"/>
                <a:cs typeface="Calibri"/>
                <a:sym typeface="Calibri"/>
              </a:rPr>
              <a:t>Distribution sits higher than the batting-first graph, reinforcing a strategic edge.</a:t>
            </a:r>
            <a:endParaRPr sz="900">
              <a:solidFill>
                <a:schemeClr val="dk1"/>
              </a:solidFill>
              <a:latin typeface="Calibri"/>
              <a:ea typeface="Calibri"/>
              <a:cs typeface="Calibri"/>
              <a:sym typeface="Calibri"/>
            </a:endParaRPr>
          </a:p>
        </p:txBody>
      </p:sp>
      <p:sp>
        <p:nvSpPr>
          <p:cNvPr id="473" name="Google Shape;473;p47"/>
          <p:cNvSpPr/>
          <p:nvPr/>
        </p:nvSpPr>
        <p:spPr>
          <a:xfrm>
            <a:off x="5215625" y="3032063"/>
            <a:ext cx="34026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900">
                <a:solidFill>
                  <a:schemeClr val="dk1"/>
                </a:solidFill>
                <a:latin typeface="Calibri"/>
                <a:ea typeface="Calibri"/>
                <a:cs typeface="Calibri"/>
                <a:sym typeface="Calibri"/>
              </a:rPr>
              <a:t>Tactical Insight: </a:t>
            </a:r>
            <a:r>
              <a:rPr lang="en" sz="900">
                <a:solidFill>
                  <a:schemeClr val="dk1"/>
                </a:solidFill>
                <a:latin typeface="Calibri"/>
                <a:ea typeface="Calibri"/>
                <a:cs typeface="Calibri"/>
                <a:sym typeface="Calibri"/>
              </a:rPr>
              <a:t>Supports the decision to field first after winning the toss, especially on good batting tracks.</a:t>
            </a:r>
            <a:endParaRPr sz="900">
              <a:latin typeface="Calibri"/>
              <a:ea typeface="Calibri"/>
              <a:cs typeface="Calibri"/>
              <a:sym typeface="Calibri"/>
            </a:endParaRPr>
          </a:p>
        </p:txBody>
      </p:sp>
      <p:sp>
        <p:nvSpPr>
          <p:cNvPr id="474" name="Google Shape;474;p47"/>
          <p:cNvSpPr/>
          <p:nvPr/>
        </p:nvSpPr>
        <p:spPr>
          <a:xfrm>
            <a:off x="5215625" y="3614938"/>
            <a:ext cx="34026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900">
                <a:solidFill>
                  <a:schemeClr val="dk1"/>
                </a:solidFill>
                <a:latin typeface="Calibri"/>
                <a:ea typeface="Calibri"/>
                <a:cs typeface="Calibri"/>
                <a:sym typeface="Calibri"/>
              </a:rPr>
              <a:t>Consistency in Chases: </a:t>
            </a:r>
            <a:r>
              <a:rPr lang="en" sz="900">
                <a:solidFill>
                  <a:schemeClr val="dk1"/>
                </a:solidFill>
                <a:latin typeface="Calibri"/>
                <a:ea typeface="Calibri"/>
                <a:cs typeface="Calibri"/>
                <a:sym typeface="Calibri"/>
              </a:rPr>
              <a:t>Compact mid-range clustering reflects reliable performance under pressure, often led by star finishers.</a:t>
            </a:r>
            <a:endParaRPr sz="900">
              <a:solidFill>
                <a:schemeClr val="dk1"/>
              </a:solidFill>
              <a:latin typeface="Calibri"/>
              <a:ea typeface="Calibri"/>
              <a:cs typeface="Calibri"/>
              <a:sym typeface="Calibri"/>
            </a:endParaRPr>
          </a:p>
        </p:txBody>
      </p:sp>
      <p:pic>
        <p:nvPicPr>
          <p:cNvPr id="475" name="Google Shape;475;p47"/>
          <p:cNvPicPr preferRelativeResize="0"/>
          <p:nvPr/>
        </p:nvPicPr>
        <p:blipFill rotWithShape="1">
          <a:blip r:embed="rId3">
            <a:alphaModFix/>
          </a:blip>
          <a:srcRect b="0" l="0" r="0" t="13629"/>
          <a:stretch/>
        </p:blipFill>
        <p:spPr>
          <a:xfrm>
            <a:off x="498800" y="1724626"/>
            <a:ext cx="4369200" cy="2760279"/>
          </a:xfrm>
          <a:prstGeom prst="rect">
            <a:avLst/>
          </a:prstGeom>
          <a:noFill/>
          <a:ln>
            <a:noFill/>
          </a:ln>
        </p:spPr>
      </p:pic>
      <p:sp>
        <p:nvSpPr>
          <p:cNvPr id="476" name="Google Shape;476;p47"/>
          <p:cNvSpPr txBox="1"/>
          <p:nvPr/>
        </p:nvSpPr>
        <p:spPr>
          <a:xfrm>
            <a:off x="5284325" y="668575"/>
            <a:ext cx="3265200" cy="43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dk1"/>
                </a:solidFill>
                <a:latin typeface="Calibri"/>
                <a:ea typeface="Calibri"/>
                <a:cs typeface="Calibri"/>
                <a:sym typeface="Calibri"/>
              </a:rPr>
              <a:t>Does CSK perform more consistently when chasing, and does this suggest a strategic advantage?</a:t>
            </a:r>
            <a:endParaRPr b="1" sz="900">
              <a:solidFill>
                <a:schemeClr val="dk1"/>
              </a:solidFill>
              <a:latin typeface="Calibri"/>
              <a:ea typeface="Calibri"/>
              <a:cs typeface="Calibri"/>
              <a:sym typeface="Calibri"/>
            </a:endParaRPr>
          </a:p>
          <a:p>
            <a:pPr indent="0" lvl="0" marL="0" rtl="0" algn="l">
              <a:spcBef>
                <a:spcPts val="0"/>
              </a:spcBef>
              <a:spcAft>
                <a:spcPts val="0"/>
              </a:spcAft>
              <a:buNone/>
            </a:pPr>
            <a:r>
              <a:t/>
            </a:r>
            <a:endParaRPr b="1" sz="9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grpSp>
        <p:nvGrpSpPr>
          <p:cNvPr id="481" name="Google Shape;481;p48"/>
          <p:cNvGrpSpPr/>
          <p:nvPr/>
        </p:nvGrpSpPr>
        <p:grpSpPr>
          <a:xfrm>
            <a:off x="0" y="5060139"/>
            <a:ext cx="9144120" cy="97648"/>
            <a:chOff x="0" y="-9525"/>
            <a:chExt cx="5052000" cy="51437"/>
          </a:xfrm>
        </p:grpSpPr>
        <p:sp>
          <p:nvSpPr>
            <p:cNvPr id="482" name="Google Shape;482;p48"/>
            <p:cNvSpPr/>
            <p:nvPr/>
          </p:nvSpPr>
          <p:spPr>
            <a:xfrm>
              <a:off x="0" y="0"/>
              <a:ext cx="5051911" cy="41912"/>
            </a:xfrm>
            <a:custGeom>
              <a:rect b="b" l="l" r="r" t="t"/>
              <a:pathLst>
                <a:path extrusionOk="0" h="41912" w="5051911">
                  <a:moveTo>
                    <a:pt x="0" y="0"/>
                  </a:moveTo>
                  <a:lnTo>
                    <a:pt x="5051911" y="0"/>
                  </a:lnTo>
                  <a:lnTo>
                    <a:pt x="5051911" y="41912"/>
                  </a:lnTo>
                  <a:lnTo>
                    <a:pt x="0" y="41912"/>
                  </a:lnTo>
                  <a:close/>
                </a:path>
              </a:pathLst>
            </a:custGeom>
            <a:solidFill>
              <a:srgbClr val="F35C19"/>
            </a:solid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483" name="Google Shape;483;p48"/>
            <p:cNvSpPr txBox="1"/>
            <p:nvPr/>
          </p:nvSpPr>
          <p:spPr>
            <a:xfrm>
              <a:off x="0" y="-9525"/>
              <a:ext cx="5052000" cy="51300"/>
            </a:xfrm>
            <a:prstGeom prst="rect">
              <a:avLst/>
            </a:prstGeom>
            <a:solidFill>
              <a:srgbClr val="F35C19"/>
            </a:solidFill>
            <a:ln>
              <a:noFill/>
            </a:ln>
          </p:spPr>
          <p:txBody>
            <a:bodyPr anchorCtr="0" anchor="ctr" bIns="25400" lIns="25400" spcFirstLastPara="1" rIns="25400" wrap="square" tIns="25400">
              <a:noAutofit/>
            </a:bodyPr>
            <a:lstStyle/>
            <a:p>
              <a:pPr indent="0" lvl="0" marL="0" marR="0" rtl="0" algn="ctr">
                <a:lnSpc>
                  <a:spcPct val="155888"/>
                </a:lnSpc>
                <a:spcBef>
                  <a:spcPts val="0"/>
                </a:spcBef>
                <a:spcAft>
                  <a:spcPts val="0"/>
                </a:spcAft>
                <a:buNone/>
              </a:pPr>
              <a:r>
                <a:t/>
              </a:r>
              <a:endParaRPr sz="900">
                <a:solidFill>
                  <a:schemeClr val="dk1"/>
                </a:solidFill>
                <a:latin typeface="Calibri"/>
                <a:ea typeface="Calibri"/>
                <a:cs typeface="Calibri"/>
                <a:sym typeface="Calibri"/>
              </a:endParaRPr>
            </a:p>
          </p:txBody>
        </p:sp>
      </p:grpSp>
      <p:sp>
        <p:nvSpPr>
          <p:cNvPr id="484" name="Google Shape;484;p48"/>
          <p:cNvSpPr txBox="1"/>
          <p:nvPr/>
        </p:nvSpPr>
        <p:spPr>
          <a:xfrm>
            <a:off x="302225" y="2258450"/>
            <a:ext cx="1676100" cy="400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just">
              <a:lnSpc>
                <a:spcPct val="107916"/>
              </a:lnSpc>
              <a:spcBef>
                <a:spcPts val="0"/>
              </a:spcBef>
              <a:spcAft>
                <a:spcPts val="800"/>
              </a:spcAft>
              <a:buNone/>
            </a:pPr>
            <a:r>
              <a:rPr b="1" lang="en">
                <a:solidFill>
                  <a:schemeClr val="dk1"/>
                </a:solidFill>
                <a:latin typeface="Calibri"/>
                <a:ea typeface="Calibri"/>
                <a:cs typeface="Calibri"/>
                <a:sym typeface="Calibri"/>
              </a:rPr>
              <a:t>Confidence Interval</a:t>
            </a:r>
            <a:endParaRPr/>
          </a:p>
        </p:txBody>
      </p:sp>
      <p:sp>
        <p:nvSpPr>
          <p:cNvPr id="485" name="Google Shape;485;p48"/>
          <p:cNvSpPr txBox="1"/>
          <p:nvPr/>
        </p:nvSpPr>
        <p:spPr>
          <a:xfrm>
            <a:off x="2377925" y="583800"/>
            <a:ext cx="1441200" cy="5046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07916"/>
              </a:lnSpc>
              <a:spcBef>
                <a:spcPts val="0"/>
              </a:spcBef>
              <a:spcAft>
                <a:spcPts val="800"/>
              </a:spcAft>
              <a:buNone/>
            </a:pPr>
            <a:r>
              <a:rPr b="1" lang="en" sz="1000">
                <a:solidFill>
                  <a:schemeClr val="dk1"/>
                </a:solidFill>
                <a:latin typeface="Calibri"/>
                <a:ea typeface="Calibri"/>
                <a:cs typeface="Calibri"/>
                <a:sym typeface="Calibri"/>
              </a:rPr>
              <a:t>Confidence Interval of Mean</a:t>
            </a:r>
            <a:endParaRPr sz="1000"/>
          </a:p>
        </p:txBody>
      </p:sp>
      <p:sp>
        <p:nvSpPr>
          <p:cNvPr id="486" name="Google Shape;486;p48"/>
          <p:cNvSpPr txBox="1"/>
          <p:nvPr/>
        </p:nvSpPr>
        <p:spPr>
          <a:xfrm>
            <a:off x="2377925" y="2206250"/>
            <a:ext cx="1441200" cy="5046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07916"/>
              </a:lnSpc>
              <a:spcBef>
                <a:spcPts val="0"/>
              </a:spcBef>
              <a:spcAft>
                <a:spcPts val="800"/>
              </a:spcAft>
              <a:buNone/>
            </a:pPr>
            <a:r>
              <a:rPr b="1" lang="en" sz="1000">
                <a:solidFill>
                  <a:schemeClr val="dk1"/>
                </a:solidFill>
                <a:latin typeface="Calibri"/>
                <a:ea typeface="Calibri"/>
                <a:cs typeface="Calibri"/>
                <a:sym typeface="Calibri"/>
              </a:rPr>
              <a:t>Confidence Interval of Difference of Mean</a:t>
            </a:r>
            <a:endParaRPr sz="1000"/>
          </a:p>
        </p:txBody>
      </p:sp>
      <p:sp>
        <p:nvSpPr>
          <p:cNvPr id="487" name="Google Shape;487;p48"/>
          <p:cNvSpPr txBox="1"/>
          <p:nvPr/>
        </p:nvSpPr>
        <p:spPr>
          <a:xfrm>
            <a:off x="2377925" y="3828700"/>
            <a:ext cx="1441200" cy="5046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07916"/>
              </a:lnSpc>
              <a:spcBef>
                <a:spcPts val="0"/>
              </a:spcBef>
              <a:spcAft>
                <a:spcPts val="800"/>
              </a:spcAft>
              <a:buNone/>
            </a:pPr>
            <a:r>
              <a:rPr b="1" lang="en" sz="1000">
                <a:solidFill>
                  <a:schemeClr val="dk1"/>
                </a:solidFill>
                <a:latin typeface="Calibri"/>
                <a:ea typeface="Calibri"/>
                <a:cs typeface="Calibri"/>
                <a:sym typeface="Calibri"/>
              </a:rPr>
              <a:t>Confidence Interval for Proportions</a:t>
            </a:r>
            <a:endParaRPr sz="1000"/>
          </a:p>
        </p:txBody>
      </p:sp>
      <p:cxnSp>
        <p:nvCxnSpPr>
          <p:cNvPr id="488" name="Google Shape;488;p48"/>
          <p:cNvCxnSpPr>
            <a:stCxn id="484" idx="0"/>
            <a:endCxn id="485" idx="1"/>
          </p:cNvCxnSpPr>
          <p:nvPr/>
        </p:nvCxnSpPr>
        <p:spPr>
          <a:xfrm flipH="1" rot="10800000">
            <a:off x="1140275" y="836150"/>
            <a:ext cx="1237800" cy="1422300"/>
          </a:xfrm>
          <a:prstGeom prst="straightConnector1">
            <a:avLst/>
          </a:prstGeom>
          <a:noFill/>
          <a:ln cap="flat" cmpd="sng" w="9525">
            <a:solidFill>
              <a:schemeClr val="dk2"/>
            </a:solidFill>
            <a:prstDash val="solid"/>
            <a:round/>
            <a:headEnd len="med" w="med" type="none"/>
            <a:tailEnd len="med" w="med" type="triangle"/>
          </a:ln>
        </p:spPr>
      </p:cxnSp>
      <p:cxnSp>
        <p:nvCxnSpPr>
          <p:cNvPr id="489" name="Google Shape;489;p48"/>
          <p:cNvCxnSpPr>
            <a:stCxn id="484" idx="3"/>
            <a:endCxn id="486" idx="1"/>
          </p:cNvCxnSpPr>
          <p:nvPr/>
        </p:nvCxnSpPr>
        <p:spPr>
          <a:xfrm>
            <a:off x="1978325" y="2458550"/>
            <a:ext cx="399600" cy="0"/>
          </a:xfrm>
          <a:prstGeom prst="straightConnector1">
            <a:avLst/>
          </a:prstGeom>
          <a:noFill/>
          <a:ln cap="flat" cmpd="sng" w="9525">
            <a:solidFill>
              <a:schemeClr val="dk2"/>
            </a:solidFill>
            <a:prstDash val="solid"/>
            <a:round/>
            <a:headEnd len="med" w="med" type="none"/>
            <a:tailEnd len="med" w="med" type="triangle"/>
          </a:ln>
        </p:spPr>
      </p:cxnSp>
      <p:cxnSp>
        <p:nvCxnSpPr>
          <p:cNvPr id="490" name="Google Shape;490;p48"/>
          <p:cNvCxnSpPr>
            <a:stCxn id="484" idx="2"/>
            <a:endCxn id="487" idx="1"/>
          </p:cNvCxnSpPr>
          <p:nvPr/>
        </p:nvCxnSpPr>
        <p:spPr>
          <a:xfrm>
            <a:off x="1140275" y="2658650"/>
            <a:ext cx="1237800" cy="1422300"/>
          </a:xfrm>
          <a:prstGeom prst="straightConnector1">
            <a:avLst/>
          </a:prstGeom>
          <a:noFill/>
          <a:ln cap="flat" cmpd="sng" w="9525">
            <a:solidFill>
              <a:schemeClr val="dk2"/>
            </a:solidFill>
            <a:prstDash val="solid"/>
            <a:round/>
            <a:headEnd len="med" w="med" type="none"/>
            <a:tailEnd len="med" w="med" type="triangle"/>
          </a:ln>
        </p:spPr>
      </p:cxnSp>
      <p:sp>
        <p:nvSpPr>
          <p:cNvPr id="491" name="Google Shape;491;p48"/>
          <p:cNvSpPr/>
          <p:nvPr/>
        </p:nvSpPr>
        <p:spPr>
          <a:xfrm>
            <a:off x="4048125" y="128250"/>
            <a:ext cx="1804200" cy="1328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900">
                <a:solidFill>
                  <a:schemeClr val="dk1"/>
                </a:solidFill>
                <a:latin typeface="Calibri"/>
                <a:ea typeface="Calibri"/>
                <a:cs typeface="Calibri"/>
                <a:sym typeface="Calibri"/>
              </a:rPr>
              <a:t>What is CSK’s expected first innings score at different IPL venues, and how can it guide venue-specific strategy?</a:t>
            </a:r>
            <a:endParaRPr b="1" sz="900">
              <a:latin typeface="Calibri"/>
              <a:ea typeface="Calibri"/>
              <a:cs typeface="Calibri"/>
              <a:sym typeface="Calibri"/>
            </a:endParaRPr>
          </a:p>
        </p:txBody>
      </p:sp>
      <p:sp>
        <p:nvSpPr>
          <p:cNvPr id="492" name="Google Shape;492;p48"/>
          <p:cNvSpPr/>
          <p:nvPr/>
        </p:nvSpPr>
        <p:spPr>
          <a:xfrm>
            <a:off x="4048125" y="1794500"/>
            <a:ext cx="1804200" cy="1328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900">
                <a:latin typeface="Calibri"/>
                <a:ea typeface="Calibri"/>
                <a:cs typeface="Calibri"/>
                <a:sym typeface="Calibri"/>
              </a:rPr>
              <a:t>Does CSK’s first innings score significantly differ between matches they win and lose?</a:t>
            </a:r>
            <a:endParaRPr b="1" sz="900">
              <a:latin typeface="Calibri"/>
              <a:ea typeface="Calibri"/>
              <a:cs typeface="Calibri"/>
              <a:sym typeface="Calibri"/>
            </a:endParaRPr>
          </a:p>
        </p:txBody>
      </p:sp>
      <p:sp>
        <p:nvSpPr>
          <p:cNvPr id="493" name="Google Shape;493;p48"/>
          <p:cNvSpPr/>
          <p:nvPr/>
        </p:nvSpPr>
        <p:spPr>
          <a:xfrm>
            <a:off x="4048125" y="3416938"/>
            <a:ext cx="1804200" cy="1328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900">
                <a:latin typeface="Calibri"/>
                <a:ea typeface="Calibri"/>
                <a:cs typeface="Calibri"/>
                <a:sym typeface="Calibri"/>
              </a:rPr>
              <a:t>What proportion of matches does CSK win after winning the toss?</a:t>
            </a:r>
            <a:endParaRPr b="1" sz="900">
              <a:latin typeface="Calibri"/>
              <a:ea typeface="Calibri"/>
              <a:cs typeface="Calibri"/>
              <a:sym typeface="Calibri"/>
            </a:endParaRPr>
          </a:p>
        </p:txBody>
      </p:sp>
      <p:sp>
        <p:nvSpPr>
          <p:cNvPr id="494" name="Google Shape;494;p48"/>
          <p:cNvSpPr/>
          <p:nvPr/>
        </p:nvSpPr>
        <p:spPr>
          <a:xfrm>
            <a:off x="5958975" y="128250"/>
            <a:ext cx="2934000" cy="1328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800">
                <a:solidFill>
                  <a:schemeClr val="dk1"/>
                </a:solidFill>
                <a:latin typeface="Calibri"/>
                <a:ea typeface="Calibri"/>
                <a:cs typeface="Calibri"/>
                <a:sym typeface="Calibri"/>
              </a:rPr>
              <a:t>Used a </a:t>
            </a:r>
            <a:r>
              <a:rPr b="1" lang="en" sz="800">
                <a:solidFill>
                  <a:schemeClr val="dk1"/>
                </a:solidFill>
                <a:latin typeface="Calibri"/>
                <a:ea typeface="Calibri"/>
                <a:cs typeface="Calibri"/>
                <a:sym typeface="Calibri"/>
              </a:rPr>
              <a:t>1-sample t-confidence interval </a:t>
            </a:r>
            <a:r>
              <a:rPr lang="en" sz="800">
                <a:solidFill>
                  <a:schemeClr val="dk1"/>
                </a:solidFill>
                <a:latin typeface="Calibri"/>
                <a:ea typeface="Calibri"/>
                <a:cs typeface="Calibri"/>
                <a:sym typeface="Calibri"/>
              </a:rPr>
              <a:t>to analyze CSK’s first innings scores at major IPL venues. With 95% confidence, the average score lies between:</a:t>
            </a:r>
            <a:endParaRPr sz="800">
              <a:solidFill>
                <a:schemeClr val="dk1"/>
              </a:solidFill>
              <a:latin typeface="Calibri"/>
              <a:ea typeface="Calibri"/>
              <a:cs typeface="Calibri"/>
              <a:sym typeface="Calibri"/>
            </a:endParaRPr>
          </a:p>
          <a:p>
            <a:pPr indent="0" lvl="0" marL="0" rtl="0" algn="l">
              <a:spcBef>
                <a:spcPts val="1000"/>
              </a:spcBef>
              <a:spcAft>
                <a:spcPts val="0"/>
              </a:spcAft>
              <a:buClr>
                <a:schemeClr val="dk1"/>
              </a:buClr>
              <a:buSzPts val="1100"/>
              <a:buFont typeface="Arial"/>
              <a:buNone/>
            </a:pPr>
            <a:r>
              <a:rPr lang="en" sz="700">
                <a:solidFill>
                  <a:schemeClr val="dk1"/>
                </a:solidFill>
                <a:latin typeface="Calibri"/>
                <a:ea typeface="Calibri"/>
                <a:cs typeface="Calibri"/>
                <a:sym typeface="Calibri"/>
              </a:rPr>
              <a:t>• </a:t>
            </a:r>
            <a:r>
              <a:rPr b="1" lang="en" sz="700">
                <a:solidFill>
                  <a:schemeClr val="dk1"/>
                </a:solidFill>
                <a:latin typeface="Calibri"/>
                <a:ea typeface="Calibri"/>
                <a:cs typeface="Calibri"/>
                <a:sym typeface="Calibri"/>
              </a:rPr>
              <a:t>160–190 at MA Chidambaram (Chennai)</a:t>
            </a:r>
            <a:r>
              <a:rPr lang="en" sz="700">
                <a:solidFill>
                  <a:schemeClr val="dk1"/>
                </a:solidFill>
                <a:latin typeface="Calibri"/>
                <a:ea typeface="Calibri"/>
                <a:cs typeface="Calibri"/>
                <a:sym typeface="Calibri"/>
              </a:rPr>
              <a:t> – consistent home scoring</a:t>
            </a:r>
            <a:endParaRPr sz="7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700">
                <a:solidFill>
                  <a:schemeClr val="dk1"/>
                </a:solidFill>
                <a:latin typeface="Calibri"/>
                <a:ea typeface="Calibri"/>
                <a:cs typeface="Calibri"/>
                <a:sym typeface="Calibri"/>
              </a:rPr>
              <a:t>• </a:t>
            </a:r>
            <a:r>
              <a:rPr b="1" lang="en" sz="700">
                <a:solidFill>
                  <a:schemeClr val="dk1"/>
                </a:solidFill>
                <a:latin typeface="Calibri"/>
                <a:ea typeface="Calibri"/>
                <a:cs typeface="Calibri"/>
                <a:sym typeface="Calibri"/>
              </a:rPr>
              <a:t>139–189 at Wankhede (Mumbai)</a:t>
            </a:r>
            <a:r>
              <a:rPr lang="en" sz="700">
                <a:solidFill>
                  <a:schemeClr val="dk1"/>
                </a:solidFill>
                <a:latin typeface="Calibri"/>
                <a:ea typeface="Calibri"/>
                <a:cs typeface="Calibri"/>
                <a:sym typeface="Calibri"/>
              </a:rPr>
              <a:t> – variable performance</a:t>
            </a:r>
            <a:endParaRPr sz="7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700">
                <a:solidFill>
                  <a:schemeClr val="dk1"/>
                </a:solidFill>
                <a:latin typeface="Calibri"/>
                <a:ea typeface="Calibri"/>
                <a:cs typeface="Calibri"/>
                <a:sym typeface="Calibri"/>
              </a:rPr>
              <a:t>• </a:t>
            </a:r>
            <a:r>
              <a:rPr b="1" lang="en" sz="700">
                <a:solidFill>
                  <a:schemeClr val="dk1"/>
                </a:solidFill>
                <a:latin typeface="Calibri"/>
                <a:ea typeface="Calibri"/>
                <a:cs typeface="Calibri"/>
                <a:sym typeface="Calibri"/>
              </a:rPr>
              <a:t>177–238 at Modi Stadium (Ahmedabad)</a:t>
            </a:r>
            <a:r>
              <a:rPr lang="en" sz="700">
                <a:solidFill>
                  <a:schemeClr val="dk1"/>
                </a:solidFill>
                <a:latin typeface="Calibri"/>
                <a:ea typeface="Calibri"/>
                <a:cs typeface="Calibri"/>
                <a:sym typeface="Calibri"/>
              </a:rPr>
              <a:t> – high scoring potential</a:t>
            </a:r>
            <a:endParaRPr sz="700">
              <a:solidFill>
                <a:schemeClr val="dk1"/>
              </a:solidFill>
              <a:latin typeface="Calibri"/>
              <a:ea typeface="Calibri"/>
              <a:cs typeface="Calibri"/>
              <a:sym typeface="Calibri"/>
            </a:endParaRPr>
          </a:p>
          <a:p>
            <a:pPr indent="0" lvl="0" marL="0" rtl="0" algn="l">
              <a:spcBef>
                <a:spcPts val="1000"/>
              </a:spcBef>
              <a:spcAft>
                <a:spcPts val="0"/>
              </a:spcAft>
              <a:buNone/>
            </a:pPr>
            <a:r>
              <a:rPr lang="en" sz="800">
                <a:solidFill>
                  <a:schemeClr val="dk1"/>
                </a:solidFill>
                <a:latin typeface="Calibri"/>
                <a:ea typeface="Calibri"/>
                <a:cs typeface="Calibri"/>
                <a:sym typeface="Calibri"/>
              </a:rPr>
              <a:t>These intervals support data-driven, venue-specific strategies.</a:t>
            </a:r>
            <a:endParaRPr sz="900">
              <a:latin typeface="Calibri"/>
              <a:ea typeface="Calibri"/>
              <a:cs typeface="Calibri"/>
              <a:sym typeface="Calibri"/>
            </a:endParaRPr>
          </a:p>
        </p:txBody>
      </p:sp>
      <p:sp>
        <p:nvSpPr>
          <p:cNvPr id="495" name="Google Shape;495;p48"/>
          <p:cNvSpPr/>
          <p:nvPr/>
        </p:nvSpPr>
        <p:spPr>
          <a:xfrm>
            <a:off x="5958975" y="1794500"/>
            <a:ext cx="2934000" cy="1328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latin typeface="Calibri"/>
                <a:ea typeface="Calibri"/>
                <a:cs typeface="Calibri"/>
                <a:sym typeface="Calibri"/>
              </a:rPr>
              <a:t>Used a </a:t>
            </a:r>
            <a:r>
              <a:rPr b="1" lang="en" sz="800">
                <a:latin typeface="Calibri"/>
                <a:ea typeface="Calibri"/>
                <a:cs typeface="Calibri"/>
                <a:sym typeface="Calibri"/>
              </a:rPr>
              <a:t>two-sample t-confidence interval </a:t>
            </a:r>
            <a:r>
              <a:rPr lang="en" sz="800">
                <a:latin typeface="Calibri"/>
                <a:ea typeface="Calibri"/>
                <a:cs typeface="Calibri"/>
                <a:sym typeface="Calibri"/>
              </a:rPr>
              <a:t>to compare first innings scores.</a:t>
            </a:r>
            <a:endParaRPr sz="800">
              <a:latin typeface="Calibri"/>
              <a:ea typeface="Calibri"/>
              <a:cs typeface="Calibri"/>
              <a:sym typeface="Calibri"/>
            </a:endParaRPr>
          </a:p>
          <a:p>
            <a:pPr indent="0" lvl="0" marL="0" rtl="0" algn="l">
              <a:spcBef>
                <a:spcPts val="1000"/>
              </a:spcBef>
              <a:spcAft>
                <a:spcPts val="0"/>
              </a:spcAft>
              <a:buNone/>
            </a:pPr>
            <a:r>
              <a:rPr lang="en" sz="800">
                <a:latin typeface="Calibri"/>
                <a:ea typeface="Calibri"/>
                <a:cs typeface="Calibri"/>
                <a:sym typeface="Calibri"/>
              </a:rPr>
              <a:t>The mean score in </a:t>
            </a:r>
            <a:r>
              <a:rPr b="1" lang="en" sz="800">
                <a:latin typeface="Calibri"/>
                <a:ea typeface="Calibri"/>
                <a:cs typeface="Calibri"/>
                <a:sym typeface="Calibri"/>
              </a:rPr>
              <a:t>wins was 171.2</a:t>
            </a:r>
            <a:r>
              <a:rPr lang="en" sz="800">
                <a:latin typeface="Calibri"/>
                <a:ea typeface="Calibri"/>
                <a:cs typeface="Calibri"/>
                <a:sym typeface="Calibri"/>
              </a:rPr>
              <a:t>, and in</a:t>
            </a:r>
            <a:r>
              <a:rPr b="1" lang="en" sz="800">
                <a:latin typeface="Calibri"/>
                <a:ea typeface="Calibri"/>
                <a:cs typeface="Calibri"/>
                <a:sym typeface="Calibri"/>
              </a:rPr>
              <a:t> losses 165.8.</a:t>
            </a:r>
            <a:endParaRPr b="1" sz="800">
              <a:latin typeface="Calibri"/>
              <a:ea typeface="Calibri"/>
              <a:cs typeface="Calibri"/>
              <a:sym typeface="Calibri"/>
            </a:endParaRPr>
          </a:p>
          <a:p>
            <a:pPr indent="0" lvl="0" marL="0" rtl="0" algn="l">
              <a:spcBef>
                <a:spcPts val="0"/>
              </a:spcBef>
              <a:spcAft>
                <a:spcPts val="0"/>
              </a:spcAft>
              <a:buNone/>
            </a:pPr>
            <a:r>
              <a:rPr lang="en" sz="800">
                <a:latin typeface="Calibri"/>
                <a:ea typeface="Calibri"/>
                <a:cs typeface="Calibri"/>
                <a:sym typeface="Calibri"/>
              </a:rPr>
              <a:t>The 95% confidence interval for the difference was [-16.3, 27.0], with a </a:t>
            </a:r>
            <a:r>
              <a:rPr b="1" lang="en" sz="800">
                <a:latin typeface="Calibri"/>
                <a:ea typeface="Calibri"/>
                <a:cs typeface="Calibri"/>
                <a:sym typeface="Calibri"/>
              </a:rPr>
              <a:t>p-value of 0.610</a:t>
            </a:r>
            <a:r>
              <a:rPr lang="en" sz="800">
                <a:latin typeface="Calibri"/>
                <a:ea typeface="Calibri"/>
                <a:cs typeface="Calibri"/>
                <a:sym typeface="Calibri"/>
              </a:rPr>
              <a:t>.</a:t>
            </a:r>
            <a:endParaRPr sz="800">
              <a:latin typeface="Calibri"/>
              <a:ea typeface="Calibri"/>
              <a:cs typeface="Calibri"/>
              <a:sym typeface="Calibri"/>
            </a:endParaRPr>
          </a:p>
          <a:p>
            <a:pPr indent="0" lvl="0" marL="0" rtl="0" algn="l">
              <a:spcBef>
                <a:spcPts val="1000"/>
              </a:spcBef>
              <a:spcAft>
                <a:spcPts val="0"/>
              </a:spcAft>
              <a:buNone/>
            </a:pPr>
            <a:r>
              <a:rPr lang="en" sz="800">
                <a:latin typeface="Calibri"/>
                <a:ea typeface="Calibri"/>
                <a:cs typeface="Calibri"/>
                <a:sym typeface="Calibri"/>
              </a:rPr>
              <a:t>Since the interval includes 0 and p &gt; 0.05, there is no significant difference, suggesting first innings score alone doesn't determine the match outcome.</a:t>
            </a:r>
            <a:endParaRPr sz="800">
              <a:latin typeface="Calibri"/>
              <a:ea typeface="Calibri"/>
              <a:cs typeface="Calibri"/>
              <a:sym typeface="Calibri"/>
            </a:endParaRPr>
          </a:p>
        </p:txBody>
      </p:sp>
      <p:sp>
        <p:nvSpPr>
          <p:cNvPr id="496" name="Google Shape;496;p48"/>
          <p:cNvSpPr/>
          <p:nvPr/>
        </p:nvSpPr>
        <p:spPr>
          <a:xfrm>
            <a:off x="5958975" y="3427325"/>
            <a:ext cx="2934000" cy="1328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latin typeface="Calibri"/>
                <a:ea typeface="Calibri"/>
                <a:cs typeface="Calibri"/>
                <a:sym typeface="Calibri"/>
              </a:rPr>
              <a:t>Used a </a:t>
            </a:r>
            <a:r>
              <a:rPr b="1" lang="en" sz="800">
                <a:latin typeface="Calibri"/>
                <a:ea typeface="Calibri"/>
                <a:cs typeface="Calibri"/>
                <a:sym typeface="Calibri"/>
              </a:rPr>
              <a:t>1-sample z-confidence interval </a:t>
            </a:r>
            <a:r>
              <a:rPr lang="en" sz="800">
                <a:latin typeface="Calibri"/>
                <a:ea typeface="Calibri"/>
                <a:cs typeface="Calibri"/>
                <a:sym typeface="Calibri"/>
              </a:rPr>
              <a:t>to estimate CSK’s win proportion after winning the toss.</a:t>
            </a:r>
            <a:endParaRPr sz="800">
              <a:latin typeface="Calibri"/>
              <a:ea typeface="Calibri"/>
              <a:cs typeface="Calibri"/>
              <a:sym typeface="Calibri"/>
            </a:endParaRPr>
          </a:p>
          <a:p>
            <a:pPr indent="0" lvl="0" marL="0" rtl="0" algn="l">
              <a:spcBef>
                <a:spcPts val="0"/>
              </a:spcBef>
              <a:spcAft>
                <a:spcPts val="0"/>
              </a:spcAft>
              <a:buNone/>
            </a:pPr>
            <a:r>
              <a:t/>
            </a:r>
            <a:endParaRPr sz="800">
              <a:latin typeface="Calibri"/>
              <a:ea typeface="Calibri"/>
              <a:cs typeface="Calibri"/>
              <a:sym typeface="Calibri"/>
            </a:endParaRPr>
          </a:p>
          <a:p>
            <a:pPr indent="0" lvl="0" marL="0" rtl="0" algn="l">
              <a:spcBef>
                <a:spcPts val="0"/>
              </a:spcBef>
              <a:spcAft>
                <a:spcPts val="0"/>
              </a:spcAft>
              <a:buNone/>
            </a:pPr>
            <a:r>
              <a:rPr lang="en" sz="800">
                <a:latin typeface="Calibri"/>
                <a:ea typeface="Calibri"/>
                <a:cs typeface="Calibri"/>
                <a:sym typeface="Calibri"/>
              </a:rPr>
              <a:t>Out of 33 games, CSK won 57.6% (19 games). The 95% confidence interval for the true proportion is [0.401, 0.733].</a:t>
            </a:r>
            <a:endParaRPr sz="800">
              <a:latin typeface="Calibri"/>
              <a:ea typeface="Calibri"/>
              <a:cs typeface="Calibri"/>
              <a:sym typeface="Calibri"/>
            </a:endParaRPr>
          </a:p>
          <a:p>
            <a:pPr indent="0" lvl="0" marL="0" rtl="0" algn="l">
              <a:spcBef>
                <a:spcPts val="0"/>
              </a:spcBef>
              <a:spcAft>
                <a:spcPts val="0"/>
              </a:spcAft>
              <a:buNone/>
            </a:pPr>
            <a:r>
              <a:t/>
            </a:r>
            <a:endParaRPr sz="800">
              <a:latin typeface="Calibri"/>
              <a:ea typeface="Calibri"/>
              <a:cs typeface="Calibri"/>
              <a:sym typeface="Calibri"/>
            </a:endParaRPr>
          </a:p>
          <a:p>
            <a:pPr indent="0" lvl="0" marL="0" rtl="0" algn="l">
              <a:spcBef>
                <a:spcPts val="0"/>
              </a:spcBef>
              <a:spcAft>
                <a:spcPts val="0"/>
              </a:spcAft>
              <a:buNone/>
            </a:pPr>
            <a:r>
              <a:rPr lang="en" sz="800">
                <a:latin typeface="Calibri"/>
                <a:ea typeface="Calibri"/>
                <a:cs typeface="Calibri"/>
                <a:sym typeface="Calibri"/>
              </a:rPr>
              <a:t>This suggests CSK’s win rate after winning the toss likely lies between </a:t>
            </a:r>
            <a:r>
              <a:rPr b="1" lang="en" sz="800">
                <a:latin typeface="Calibri"/>
                <a:ea typeface="Calibri"/>
                <a:cs typeface="Calibri"/>
                <a:sym typeface="Calibri"/>
              </a:rPr>
              <a:t>40.1% and 73.3%.</a:t>
            </a:r>
            <a:endParaRPr b="1" sz="800">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grpSp>
        <p:nvGrpSpPr>
          <p:cNvPr id="501" name="Google Shape;501;p49"/>
          <p:cNvGrpSpPr/>
          <p:nvPr/>
        </p:nvGrpSpPr>
        <p:grpSpPr>
          <a:xfrm>
            <a:off x="0" y="5060139"/>
            <a:ext cx="9144120" cy="97648"/>
            <a:chOff x="0" y="-9525"/>
            <a:chExt cx="5052000" cy="51437"/>
          </a:xfrm>
        </p:grpSpPr>
        <p:sp>
          <p:nvSpPr>
            <p:cNvPr id="502" name="Google Shape;502;p49"/>
            <p:cNvSpPr/>
            <p:nvPr/>
          </p:nvSpPr>
          <p:spPr>
            <a:xfrm>
              <a:off x="0" y="0"/>
              <a:ext cx="5051911" cy="41912"/>
            </a:xfrm>
            <a:custGeom>
              <a:rect b="b" l="l" r="r" t="t"/>
              <a:pathLst>
                <a:path extrusionOk="0" h="41912" w="5051911">
                  <a:moveTo>
                    <a:pt x="0" y="0"/>
                  </a:moveTo>
                  <a:lnTo>
                    <a:pt x="5051911" y="0"/>
                  </a:lnTo>
                  <a:lnTo>
                    <a:pt x="5051911" y="41912"/>
                  </a:lnTo>
                  <a:lnTo>
                    <a:pt x="0" y="41912"/>
                  </a:lnTo>
                  <a:close/>
                </a:path>
              </a:pathLst>
            </a:custGeom>
            <a:solidFill>
              <a:srgbClr val="F35C19"/>
            </a:solid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503" name="Google Shape;503;p49"/>
            <p:cNvSpPr txBox="1"/>
            <p:nvPr/>
          </p:nvSpPr>
          <p:spPr>
            <a:xfrm>
              <a:off x="0" y="-9525"/>
              <a:ext cx="5052000" cy="51300"/>
            </a:xfrm>
            <a:prstGeom prst="rect">
              <a:avLst/>
            </a:prstGeom>
            <a:solidFill>
              <a:srgbClr val="F35C19"/>
            </a:solidFill>
            <a:ln>
              <a:noFill/>
            </a:ln>
          </p:spPr>
          <p:txBody>
            <a:bodyPr anchorCtr="0" anchor="ctr" bIns="25400" lIns="25400" spcFirstLastPara="1" rIns="25400" wrap="square" tIns="25400">
              <a:noAutofit/>
            </a:bodyPr>
            <a:lstStyle/>
            <a:p>
              <a:pPr indent="0" lvl="0" marL="0" marR="0" rtl="0" algn="ctr">
                <a:lnSpc>
                  <a:spcPct val="155888"/>
                </a:lnSpc>
                <a:spcBef>
                  <a:spcPts val="0"/>
                </a:spcBef>
                <a:spcAft>
                  <a:spcPts val="0"/>
                </a:spcAft>
                <a:buNone/>
              </a:pPr>
              <a:r>
                <a:t/>
              </a:r>
              <a:endParaRPr sz="900">
                <a:solidFill>
                  <a:schemeClr val="dk1"/>
                </a:solidFill>
                <a:latin typeface="Calibri"/>
                <a:ea typeface="Calibri"/>
                <a:cs typeface="Calibri"/>
                <a:sym typeface="Calibri"/>
              </a:endParaRPr>
            </a:p>
          </p:txBody>
        </p:sp>
      </p:grpSp>
      <p:sp>
        <p:nvSpPr>
          <p:cNvPr id="504" name="Google Shape;504;p49"/>
          <p:cNvSpPr txBox="1"/>
          <p:nvPr/>
        </p:nvSpPr>
        <p:spPr>
          <a:xfrm>
            <a:off x="302225" y="2258450"/>
            <a:ext cx="1676100" cy="400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just">
              <a:lnSpc>
                <a:spcPct val="107916"/>
              </a:lnSpc>
              <a:spcBef>
                <a:spcPts val="0"/>
              </a:spcBef>
              <a:spcAft>
                <a:spcPts val="800"/>
              </a:spcAft>
              <a:buNone/>
            </a:pPr>
            <a:r>
              <a:rPr b="1" lang="en">
                <a:solidFill>
                  <a:schemeClr val="dk1"/>
                </a:solidFill>
                <a:latin typeface="Calibri"/>
                <a:ea typeface="Calibri"/>
                <a:cs typeface="Calibri"/>
                <a:sym typeface="Calibri"/>
              </a:rPr>
              <a:t>Hypothesis Testing</a:t>
            </a:r>
            <a:endParaRPr/>
          </a:p>
        </p:txBody>
      </p:sp>
      <p:sp>
        <p:nvSpPr>
          <p:cNvPr id="505" name="Google Shape;505;p49"/>
          <p:cNvSpPr txBox="1"/>
          <p:nvPr/>
        </p:nvSpPr>
        <p:spPr>
          <a:xfrm>
            <a:off x="2377925" y="583800"/>
            <a:ext cx="1441200" cy="3387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07916"/>
              </a:lnSpc>
              <a:spcBef>
                <a:spcPts val="0"/>
              </a:spcBef>
              <a:spcAft>
                <a:spcPts val="800"/>
              </a:spcAft>
              <a:buNone/>
            </a:pPr>
            <a:r>
              <a:rPr b="1" lang="en" sz="1000">
                <a:solidFill>
                  <a:schemeClr val="dk1"/>
                </a:solidFill>
                <a:latin typeface="Calibri"/>
                <a:ea typeface="Calibri"/>
                <a:cs typeface="Calibri"/>
                <a:sym typeface="Calibri"/>
              </a:rPr>
              <a:t>Batting First</a:t>
            </a:r>
            <a:endParaRPr sz="1000"/>
          </a:p>
        </p:txBody>
      </p:sp>
      <p:sp>
        <p:nvSpPr>
          <p:cNvPr id="506" name="Google Shape;506;p49"/>
          <p:cNvSpPr txBox="1"/>
          <p:nvPr/>
        </p:nvSpPr>
        <p:spPr>
          <a:xfrm>
            <a:off x="2377925" y="2289200"/>
            <a:ext cx="1441200" cy="3387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07916"/>
              </a:lnSpc>
              <a:spcBef>
                <a:spcPts val="0"/>
              </a:spcBef>
              <a:spcAft>
                <a:spcPts val="800"/>
              </a:spcAft>
              <a:buNone/>
            </a:pPr>
            <a:r>
              <a:rPr b="1" lang="en" sz="1000">
                <a:solidFill>
                  <a:schemeClr val="dk1"/>
                </a:solidFill>
                <a:latin typeface="Calibri"/>
                <a:ea typeface="Calibri"/>
                <a:cs typeface="Calibri"/>
                <a:sym typeface="Calibri"/>
              </a:rPr>
              <a:t>Batting Second</a:t>
            </a:r>
            <a:endParaRPr sz="1000"/>
          </a:p>
        </p:txBody>
      </p:sp>
      <p:sp>
        <p:nvSpPr>
          <p:cNvPr id="507" name="Google Shape;507;p49"/>
          <p:cNvSpPr txBox="1"/>
          <p:nvPr/>
        </p:nvSpPr>
        <p:spPr>
          <a:xfrm>
            <a:off x="2377925" y="3828700"/>
            <a:ext cx="1441200" cy="5046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07916"/>
              </a:lnSpc>
              <a:spcBef>
                <a:spcPts val="0"/>
              </a:spcBef>
              <a:spcAft>
                <a:spcPts val="800"/>
              </a:spcAft>
              <a:buNone/>
            </a:pPr>
            <a:r>
              <a:rPr b="1" lang="en" sz="1000">
                <a:solidFill>
                  <a:schemeClr val="dk1"/>
                </a:solidFill>
                <a:latin typeface="Calibri"/>
                <a:ea typeface="Calibri"/>
                <a:cs typeface="Calibri"/>
                <a:sym typeface="Calibri"/>
              </a:rPr>
              <a:t>Comparison of Batting Strategies</a:t>
            </a:r>
            <a:endParaRPr sz="1000"/>
          </a:p>
        </p:txBody>
      </p:sp>
      <p:cxnSp>
        <p:nvCxnSpPr>
          <p:cNvPr id="508" name="Google Shape;508;p49"/>
          <p:cNvCxnSpPr>
            <a:stCxn id="504" idx="0"/>
            <a:endCxn id="505" idx="1"/>
          </p:cNvCxnSpPr>
          <p:nvPr/>
        </p:nvCxnSpPr>
        <p:spPr>
          <a:xfrm flipH="1" rot="10800000">
            <a:off x="1140275" y="753050"/>
            <a:ext cx="1237800" cy="1505400"/>
          </a:xfrm>
          <a:prstGeom prst="straightConnector1">
            <a:avLst/>
          </a:prstGeom>
          <a:noFill/>
          <a:ln cap="flat" cmpd="sng" w="9525">
            <a:solidFill>
              <a:schemeClr val="dk2"/>
            </a:solidFill>
            <a:prstDash val="solid"/>
            <a:round/>
            <a:headEnd len="med" w="med" type="none"/>
            <a:tailEnd len="med" w="med" type="triangle"/>
          </a:ln>
        </p:spPr>
      </p:cxnSp>
      <p:cxnSp>
        <p:nvCxnSpPr>
          <p:cNvPr id="509" name="Google Shape;509;p49"/>
          <p:cNvCxnSpPr>
            <a:stCxn id="504" idx="3"/>
            <a:endCxn id="506" idx="1"/>
          </p:cNvCxnSpPr>
          <p:nvPr/>
        </p:nvCxnSpPr>
        <p:spPr>
          <a:xfrm>
            <a:off x="1978325" y="2458550"/>
            <a:ext cx="399600" cy="0"/>
          </a:xfrm>
          <a:prstGeom prst="straightConnector1">
            <a:avLst/>
          </a:prstGeom>
          <a:noFill/>
          <a:ln cap="flat" cmpd="sng" w="9525">
            <a:solidFill>
              <a:schemeClr val="dk2"/>
            </a:solidFill>
            <a:prstDash val="solid"/>
            <a:round/>
            <a:headEnd len="med" w="med" type="none"/>
            <a:tailEnd len="med" w="med" type="triangle"/>
          </a:ln>
        </p:spPr>
      </p:cxnSp>
      <p:cxnSp>
        <p:nvCxnSpPr>
          <p:cNvPr id="510" name="Google Shape;510;p49"/>
          <p:cNvCxnSpPr>
            <a:stCxn id="504" idx="2"/>
            <a:endCxn id="507" idx="1"/>
          </p:cNvCxnSpPr>
          <p:nvPr/>
        </p:nvCxnSpPr>
        <p:spPr>
          <a:xfrm>
            <a:off x="1140275" y="2658650"/>
            <a:ext cx="1237800" cy="1422300"/>
          </a:xfrm>
          <a:prstGeom prst="straightConnector1">
            <a:avLst/>
          </a:prstGeom>
          <a:noFill/>
          <a:ln cap="flat" cmpd="sng" w="9525">
            <a:solidFill>
              <a:schemeClr val="dk2"/>
            </a:solidFill>
            <a:prstDash val="solid"/>
            <a:round/>
            <a:headEnd len="med" w="med" type="none"/>
            <a:tailEnd len="med" w="med" type="triangle"/>
          </a:ln>
        </p:spPr>
      </p:cxnSp>
      <p:sp>
        <p:nvSpPr>
          <p:cNvPr id="511" name="Google Shape;511;p49"/>
          <p:cNvSpPr/>
          <p:nvPr/>
        </p:nvSpPr>
        <p:spPr>
          <a:xfrm>
            <a:off x="4048125" y="128250"/>
            <a:ext cx="1804200" cy="1328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900">
                <a:latin typeface="Calibri"/>
                <a:ea typeface="Calibri"/>
                <a:cs typeface="Calibri"/>
                <a:sym typeface="Calibri"/>
              </a:rPr>
              <a:t>Does CSK win significantly more than 50% of matches when batting first?</a:t>
            </a:r>
            <a:endParaRPr b="1" sz="900">
              <a:latin typeface="Calibri"/>
              <a:ea typeface="Calibri"/>
              <a:cs typeface="Calibri"/>
              <a:sym typeface="Calibri"/>
            </a:endParaRPr>
          </a:p>
        </p:txBody>
      </p:sp>
      <p:sp>
        <p:nvSpPr>
          <p:cNvPr id="512" name="Google Shape;512;p49"/>
          <p:cNvSpPr/>
          <p:nvPr/>
        </p:nvSpPr>
        <p:spPr>
          <a:xfrm>
            <a:off x="4048125" y="1794500"/>
            <a:ext cx="1804200" cy="1328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900">
                <a:latin typeface="Calibri"/>
                <a:ea typeface="Calibri"/>
                <a:cs typeface="Calibri"/>
                <a:sym typeface="Calibri"/>
              </a:rPr>
              <a:t>Is CSK’s win percentage over 50% when batting second?</a:t>
            </a:r>
            <a:endParaRPr b="1" sz="900">
              <a:latin typeface="Calibri"/>
              <a:ea typeface="Calibri"/>
              <a:cs typeface="Calibri"/>
              <a:sym typeface="Calibri"/>
            </a:endParaRPr>
          </a:p>
        </p:txBody>
      </p:sp>
      <p:sp>
        <p:nvSpPr>
          <p:cNvPr id="513" name="Google Shape;513;p49"/>
          <p:cNvSpPr/>
          <p:nvPr/>
        </p:nvSpPr>
        <p:spPr>
          <a:xfrm>
            <a:off x="4048125" y="3416938"/>
            <a:ext cx="1804200" cy="1328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900">
                <a:latin typeface="Calibri"/>
                <a:ea typeface="Calibri"/>
                <a:cs typeface="Calibri"/>
                <a:sym typeface="Calibri"/>
              </a:rPr>
              <a:t>Is there a significant difference between CSK’s win rates when batting first vs. chasing?</a:t>
            </a:r>
            <a:endParaRPr b="1" sz="900">
              <a:latin typeface="Calibri"/>
              <a:ea typeface="Calibri"/>
              <a:cs typeface="Calibri"/>
              <a:sym typeface="Calibri"/>
            </a:endParaRPr>
          </a:p>
        </p:txBody>
      </p:sp>
      <p:sp>
        <p:nvSpPr>
          <p:cNvPr id="514" name="Google Shape;514;p49"/>
          <p:cNvSpPr/>
          <p:nvPr/>
        </p:nvSpPr>
        <p:spPr>
          <a:xfrm>
            <a:off x="5958975" y="128250"/>
            <a:ext cx="2934000" cy="1328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800">
                <a:solidFill>
                  <a:schemeClr val="dk1"/>
                </a:solidFill>
                <a:latin typeface="Calibri"/>
                <a:ea typeface="Calibri"/>
                <a:cs typeface="Calibri"/>
                <a:sym typeface="Calibri"/>
              </a:rPr>
              <a:t>Null (H0): Win proportion ≤ 0.5</a:t>
            </a:r>
            <a:endParaRPr b="1" sz="800">
              <a:solidFill>
                <a:schemeClr val="dk1"/>
              </a:solidFill>
              <a:latin typeface="Calibri"/>
              <a:ea typeface="Calibri"/>
              <a:cs typeface="Calibri"/>
              <a:sym typeface="Calibri"/>
            </a:endParaRPr>
          </a:p>
          <a:p>
            <a:pPr indent="0" lvl="0" marL="0" rtl="0" algn="l">
              <a:spcBef>
                <a:spcPts val="1000"/>
              </a:spcBef>
              <a:spcAft>
                <a:spcPts val="0"/>
              </a:spcAft>
              <a:buClr>
                <a:schemeClr val="dk1"/>
              </a:buClr>
              <a:buSzPts val="1100"/>
              <a:buFont typeface="Arial"/>
              <a:buNone/>
            </a:pPr>
            <a:r>
              <a:rPr b="1" lang="en" sz="800">
                <a:solidFill>
                  <a:schemeClr val="dk1"/>
                </a:solidFill>
                <a:latin typeface="Calibri"/>
                <a:ea typeface="Calibri"/>
                <a:cs typeface="Calibri"/>
                <a:sym typeface="Calibri"/>
              </a:rPr>
              <a:t>Alternative (H1): Win proportion &gt; 0.5</a:t>
            </a:r>
            <a:endParaRPr b="1" sz="800">
              <a:solidFill>
                <a:schemeClr val="dk1"/>
              </a:solidFill>
              <a:latin typeface="Calibri"/>
              <a:ea typeface="Calibri"/>
              <a:cs typeface="Calibri"/>
              <a:sym typeface="Calibri"/>
            </a:endParaRPr>
          </a:p>
          <a:p>
            <a:pPr indent="0" lvl="0" marL="0" rtl="0" algn="l">
              <a:spcBef>
                <a:spcPts val="1000"/>
              </a:spcBef>
              <a:spcAft>
                <a:spcPts val="0"/>
              </a:spcAft>
              <a:buNone/>
            </a:pPr>
            <a:r>
              <a:rPr b="1" lang="en" sz="800">
                <a:solidFill>
                  <a:schemeClr val="dk1"/>
                </a:solidFill>
                <a:latin typeface="Calibri"/>
                <a:ea typeface="Calibri"/>
                <a:cs typeface="Calibri"/>
                <a:sym typeface="Calibri"/>
              </a:rPr>
              <a:t>p-value = 0.0272</a:t>
            </a:r>
            <a:endParaRPr b="1" sz="800">
              <a:solidFill>
                <a:schemeClr val="dk1"/>
              </a:solidFill>
              <a:latin typeface="Calibri"/>
              <a:ea typeface="Calibri"/>
              <a:cs typeface="Calibri"/>
              <a:sym typeface="Calibri"/>
            </a:endParaRPr>
          </a:p>
          <a:p>
            <a:pPr indent="0" lvl="0" marL="0" rtl="0" algn="l">
              <a:spcBef>
                <a:spcPts val="1000"/>
              </a:spcBef>
              <a:spcAft>
                <a:spcPts val="0"/>
              </a:spcAft>
              <a:buNone/>
            </a:pPr>
            <a:r>
              <a:rPr b="1" lang="en" sz="800">
                <a:latin typeface="Calibri"/>
                <a:ea typeface="Calibri"/>
                <a:cs typeface="Calibri"/>
                <a:sym typeface="Calibri"/>
              </a:rPr>
              <a:t>Conclusion: </a:t>
            </a:r>
            <a:r>
              <a:rPr lang="en" sz="800">
                <a:latin typeface="Calibri"/>
                <a:ea typeface="Calibri"/>
                <a:cs typeface="Calibri"/>
                <a:sym typeface="Calibri"/>
              </a:rPr>
              <a:t>There is significant evidence (p &lt; 0.05) that CSK wins more than 50% of the time when batting first.</a:t>
            </a:r>
            <a:endParaRPr sz="800">
              <a:latin typeface="Calibri"/>
              <a:ea typeface="Calibri"/>
              <a:cs typeface="Calibri"/>
              <a:sym typeface="Calibri"/>
            </a:endParaRPr>
          </a:p>
        </p:txBody>
      </p:sp>
      <p:sp>
        <p:nvSpPr>
          <p:cNvPr id="515" name="Google Shape;515;p49"/>
          <p:cNvSpPr/>
          <p:nvPr/>
        </p:nvSpPr>
        <p:spPr>
          <a:xfrm>
            <a:off x="5958975" y="1794500"/>
            <a:ext cx="2934000" cy="1328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800">
                <a:solidFill>
                  <a:schemeClr val="dk1"/>
                </a:solidFill>
                <a:latin typeface="Calibri"/>
                <a:ea typeface="Calibri"/>
                <a:cs typeface="Calibri"/>
                <a:sym typeface="Calibri"/>
              </a:rPr>
              <a:t>H0: The win percentage &lt;= 0.5</a:t>
            </a:r>
            <a:endParaRPr b="1" sz="800">
              <a:solidFill>
                <a:schemeClr val="dk1"/>
              </a:solidFill>
              <a:latin typeface="Calibri"/>
              <a:ea typeface="Calibri"/>
              <a:cs typeface="Calibri"/>
              <a:sym typeface="Calibri"/>
            </a:endParaRPr>
          </a:p>
          <a:p>
            <a:pPr indent="0" lvl="0" marL="0" rtl="0" algn="l">
              <a:spcBef>
                <a:spcPts val="1000"/>
              </a:spcBef>
              <a:spcAft>
                <a:spcPts val="0"/>
              </a:spcAft>
              <a:buClr>
                <a:schemeClr val="dk1"/>
              </a:buClr>
              <a:buSzPts val="1100"/>
              <a:buFont typeface="Arial"/>
              <a:buNone/>
            </a:pPr>
            <a:r>
              <a:rPr b="1" lang="en" sz="800">
                <a:solidFill>
                  <a:schemeClr val="dk1"/>
                </a:solidFill>
                <a:latin typeface="Calibri"/>
                <a:ea typeface="Calibri"/>
                <a:cs typeface="Calibri"/>
                <a:sym typeface="Calibri"/>
              </a:rPr>
              <a:t>H1: Win share greater than 0.5</a:t>
            </a:r>
            <a:endParaRPr b="1" sz="800">
              <a:solidFill>
                <a:schemeClr val="dk1"/>
              </a:solidFill>
              <a:latin typeface="Calibri"/>
              <a:ea typeface="Calibri"/>
              <a:cs typeface="Calibri"/>
              <a:sym typeface="Calibri"/>
            </a:endParaRPr>
          </a:p>
          <a:p>
            <a:pPr indent="0" lvl="0" marL="0" rtl="0" algn="l">
              <a:spcBef>
                <a:spcPts val="1000"/>
              </a:spcBef>
              <a:spcAft>
                <a:spcPts val="0"/>
              </a:spcAft>
              <a:buNone/>
            </a:pPr>
            <a:r>
              <a:rPr b="1" lang="en" sz="800">
                <a:solidFill>
                  <a:schemeClr val="dk1"/>
                </a:solidFill>
                <a:latin typeface="Calibri"/>
                <a:ea typeface="Calibri"/>
                <a:cs typeface="Calibri"/>
                <a:sym typeface="Calibri"/>
              </a:rPr>
              <a:t>0.0333 is the p-value.</a:t>
            </a:r>
            <a:endParaRPr b="1" sz="800">
              <a:solidFill>
                <a:schemeClr val="dk1"/>
              </a:solidFill>
              <a:latin typeface="Calibri"/>
              <a:ea typeface="Calibri"/>
              <a:cs typeface="Calibri"/>
              <a:sym typeface="Calibri"/>
            </a:endParaRPr>
          </a:p>
          <a:p>
            <a:pPr indent="0" lvl="0" marL="0" rtl="0" algn="l">
              <a:spcBef>
                <a:spcPts val="1000"/>
              </a:spcBef>
              <a:spcAft>
                <a:spcPts val="1000"/>
              </a:spcAft>
              <a:buNone/>
            </a:pPr>
            <a:r>
              <a:rPr b="1" lang="en" sz="800">
                <a:latin typeface="Calibri"/>
                <a:ea typeface="Calibri"/>
                <a:cs typeface="Calibri"/>
                <a:sym typeface="Calibri"/>
              </a:rPr>
              <a:t>Conclusion:</a:t>
            </a:r>
            <a:r>
              <a:rPr lang="en" sz="800">
                <a:latin typeface="Calibri"/>
                <a:ea typeface="Calibri"/>
                <a:cs typeface="Calibri"/>
                <a:sym typeface="Calibri"/>
              </a:rPr>
              <a:t> CSK also wins by a margin of more than 50% when they bat second.</a:t>
            </a:r>
            <a:endParaRPr sz="800">
              <a:latin typeface="Calibri"/>
              <a:ea typeface="Calibri"/>
              <a:cs typeface="Calibri"/>
              <a:sym typeface="Calibri"/>
            </a:endParaRPr>
          </a:p>
        </p:txBody>
      </p:sp>
      <p:sp>
        <p:nvSpPr>
          <p:cNvPr id="516" name="Google Shape;516;p49"/>
          <p:cNvSpPr/>
          <p:nvPr/>
        </p:nvSpPr>
        <p:spPr>
          <a:xfrm>
            <a:off x="5958975" y="3427325"/>
            <a:ext cx="2934000" cy="1328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800">
                <a:solidFill>
                  <a:schemeClr val="dk1"/>
                </a:solidFill>
                <a:latin typeface="Calibri"/>
                <a:ea typeface="Calibri"/>
                <a:cs typeface="Calibri"/>
                <a:sym typeface="Calibri"/>
              </a:rPr>
              <a:t>Method: Two sample proportion Test for Win Proportions:</a:t>
            </a:r>
            <a:endParaRPr b="1" sz="800">
              <a:solidFill>
                <a:schemeClr val="dk1"/>
              </a:solidFill>
              <a:latin typeface="Calibri"/>
              <a:ea typeface="Calibri"/>
              <a:cs typeface="Calibri"/>
              <a:sym typeface="Calibri"/>
            </a:endParaRPr>
          </a:p>
          <a:p>
            <a:pPr indent="0" lvl="0" marL="0" rtl="0" algn="l">
              <a:spcBef>
                <a:spcPts val="1000"/>
              </a:spcBef>
              <a:spcAft>
                <a:spcPts val="0"/>
              </a:spcAft>
              <a:buClr>
                <a:schemeClr val="dk1"/>
              </a:buClr>
              <a:buSzPts val="1100"/>
              <a:buFont typeface="Arial"/>
              <a:buNone/>
            </a:pPr>
            <a:r>
              <a:rPr b="1" lang="en" sz="800">
                <a:solidFill>
                  <a:schemeClr val="dk1"/>
                </a:solidFill>
                <a:latin typeface="Calibri"/>
                <a:ea typeface="Calibri"/>
                <a:cs typeface="Calibri"/>
                <a:sym typeface="Calibri"/>
              </a:rPr>
              <a:t>First-Bat: 66.67%</a:t>
            </a:r>
            <a:endParaRPr b="1" sz="800">
              <a:solidFill>
                <a:schemeClr val="dk1"/>
              </a:solidFill>
              <a:latin typeface="Calibri"/>
              <a:ea typeface="Calibri"/>
              <a:cs typeface="Calibri"/>
              <a:sym typeface="Calibri"/>
            </a:endParaRPr>
          </a:p>
          <a:p>
            <a:pPr indent="0" lvl="0" marL="0" rtl="0" algn="l">
              <a:spcBef>
                <a:spcPts val="1000"/>
              </a:spcBef>
              <a:spcAft>
                <a:spcPts val="0"/>
              </a:spcAft>
              <a:buClr>
                <a:schemeClr val="dk1"/>
              </a:buClr>
              <a:buSzPts val="1100"/>
              <a:buFont typeface="Arial"/>
              <a:buNone/>
            </a:pPr>
            <a:r>
              <a:rPr b="1" lang="en" sz="800">
                <a:solidFill>
                  <a:schemeClr val="dk1"/>
                </a:solidFill>
                <a:latin typeface="Calibri"/>
                <a:ea typeface="Calibri"/>
                <a:cs typeface="Calibri"/>
                <a:sym typeface="Calibri"/>
              </a:rPr>
              <a:t>Second batsman: 63.63%</a:t>
            </a:r>
            <a:endParaRPr b="1" sz="800">
              <a:solidFill>
                <a:schemeClr val="dk1"/>
              </a:solidFill>
              <a:latin typeface="Calibri"/>
              <a:ea typeface="Calibri"/>
              <a:cs typeface="Calibri"/>
              <a:sym typeface="Calibri"/>
            </a:endParaRPr>
          </a:p>
          <a:p>
            <a:pPr indent="0" lvl="0" marL="0" rtl="0" algn="l">
              <a:spcBef>
                <a:spcPts val="1000"/>
              </a:spcBef>
              <a:spcAft>
                <a:spcPts val="0"/>
              </a:spcAft>
              <a:buClr>
                <a:schemeClr val="dk1"/>
              </a:buClr>
              <a:buSzPts val="1100"/>
              <a:buFont typeface="Arial"/>
              <a:buNone/>
            </a:pPr>
            <a:r>
              <a:rPr b="1" lang="en" sz="800">
                <a:solidFill>
                  <a:schemeClr val="dk1"/>
                </a:solidFill>
                <a:latin typeface="Calibri"/>
                <a:ea typeface="Calibri"/>
                <a:cs typeface="Calibri"/>
                <a:sym typeface="Calibri"/>
              </a:rPr>
              <a:t>p-value is 0.795.</a:t>
            </a:r>
            <a:endParaRPr b="1" sz="800">
              <a:solidFill>
                <a:schemeClr val="dk1"/>
              </a:solidFill>
              <a:latin typeface="Calibri"/>
              <a:ea typeface="Calibri"/>
              <a:cs typeface="Calibri"/>
              <a:sym typeface="Calibri"/>
            </a:endParaRPr>
          </a:p>
          <a:p>
            <a:pPr indent="0" lvl="0" marL="0" rtl="0" algn="l">
              <a:spcBef>
                <a:spcPts val="1000"/>
              </a:spcBef>
              <a:spcAft>
                <a:spcPts val="0"/>
              </a:spcAft>
              <a:buNone/>
            </a:pPr>
            <a:r>
              <a:rPr b="1" lang="en" sz="800">
                <a:latin typeface="Calibri"/>
                <a:ea typeface="Calibri"/>
                <a:cs typeface="Calibri"/>
                <a:sym typeface="Calibri"/>
              </a:rPr>
              <a:t>Conclusion: </a:t>
            </a:r>
            <a:r>
              <a:rPr lang="en" sz="800">
                <a:latin typeface="Calibri"/>
                <a:ea typeface="Calibri"/>
                <a:cs typeface="Calibri"/>
                <a:sym typeface="Calibri"/>
              </a:rPr>
              <a:t>There is no statistically significant difference between batting first and second in terms of win percentage.</a:t>
            </a:r>
            <a:endParaRPr b="1" sz="700">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50"/>
          <p:cNvSpPr txBox="1"/>
          <p:nvPr/>
        </p:nvSpPr>
        <p:spPr>
          <a:xfrm>
            <a:off x="2078250" y="2356200"/>
            <a:ext cx="49875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200">
                <a:solidFill>
                  <a:schemeClr val="dk1"/>
                </a:solidFill>
                <a:latin typeface="Calibri"/>
                <a:ea typeface="Calibri"/>
                <a:cs typeface="Calibri"/>
                <a:sym typeface="Calibri"/>
              </a:rPr>
              <a:t>KEY RESULTS</a:t>
            </a:r>
            <a:endParaRPr b="1" sz="2200">
              <a:solidFill>
                <a:schemeClr val="dk1"/>
              </a:solidFill>
              <a:latin typeface="Calibri"/>
              <a:ea typeface="Calibri"/>
              <a:cs typeface="Calibri"/>
              <a:sym typeface="Calibri"/>
            </a:endParaRPr>
          </a:p>
        </p:txBody>
      </p:sp>
      <p:grpSp>
        <p:nvGrpSpPr>
          <p:cNvPr id="522" name="Google Shape;522;p50"/>
          <p:cNvGrpSpPr/>
          <p:nvPr/>
        </p:nvGrpSpPr>
        <p:grpSpPr>
          <a:xfrm>
            <a:off x="0" y="5060139"/>
            <a:ext cx="9144120" cy="97648"/>
            <a:chOff x="0" y="-9525"/>
            <a:chExt cx="5052000" cy="51437"/>
          </a:xfrm>
        </p:grpSpPr>
        <p:sp>
          <p:nvSpPr>
            <p:cNvPr id="523" name="Google Shape;523;p50"/>
            <p:cNvSpPr/>
            <p:nvPr/>
          </p:nvSpPr>
          <p:spPr>
            <a:xfrm>
              <a:off x="0" y="0"/>
              <a:ext cx="5051911" cy="41912"/>
            </a:xfrm>
            <a:custGeom>
              <a:rect b="b" l="l" r="r" t="t"/>
              <a:pathLst>
                <a:path extrusionOk="0" h="41912" w="5051911">
                  <a:moveTo>
                    <a:pt x="0" y="0"/>
                  </a:moveTo>
                  <a:lnTo>
                    <a:pt x="5051911" y="0"/>
                  </a:lnTo>
                  <a:lnTo>
                    <a:pt x="5051911" y="41912"/>
                  </a:lnTo>
                  <a:lnTo>
                    <a:pt x="0" y="41912"/>
                  </a:lnTo>
                  <a:close/>
                </a:path>
              </a:pathLst>
            </a:custGeom>
            <a:solidFill>
              <a:srgbClr val="F35C19"/>
            </a:solid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524" name="Google Shape;524;p50"/>
            <p:cNvSpPr txBox="1"/>
            <p:nvPr/>
          </p:nvSpPr>
          <p:spPr>
            <a:xfrm>
              <a:off x="0" y="-9525"/>
              <a:ext cx="5052000" cy="51300"/>
            </a:xfrm>
            <a:prstGeom prst="rect">
              <a:avLst/>
            </a:prstGeom>
            <a:solidFill>
              <a:srgbClr val="F35C19"/>
            </a:solidFill>
            <a:ln>
              <a:noFill/>
            </a:ln>
          </p:spPr>
          <p:txBody>
            <a:bodyPr anchorCtr="0" anchor="ctr" bIns="25400" lIns="25400" spcFirstLastPara="1" rIns="25400" wrap="square" tIns="25400">
              <a:noAutofit/>
            </a:bodyPr>
            <a:lstStyle/>
            <a:p>
              <a:pPr indent="0" lvl="0" marL="0" marR="0" rtl="0" algn="ctr">
                <a:lnSpc>
                  <a:spcPct val="155888"/>
                </a:lnSpc>
                <a:spcBef>
                  <a:spcPts val="0"/>
                </a:spcBef>
                <a:spcAft>
                  <a:spcPts val="0"/>
                </a:spcAft>
                <a:buNone/>
              </a:pPr>
              <a:r>
                <a:t/>
              </a:r>
              <a:endParaRPr sz="900">
                <a:solidFill>
                  <a:schemeClr val="dk1"/>
                </a:solidFill>
                <a:latin typeface="Calibri"/>
                <a:ea typeface="Calibri"/>
                <a:cs typeface="Calibri"/>
                <a:sym typeface="Calibri"/>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grpSp>
        <p:nvGrpSpPr>
          <p:cNvPr id="529" name="Google Shape;529;p51"/>
          <p:cNvGrpSpPr/>
          <p:nvPr/>
        </p:nvGrpSpPr>
        <p:grpSpPr>
          <a:xfrm>
            <a:off x="0" y="5060139"/>
            <a:ext cx="9144120" cy="97648"/>
            <a:chOff x="0" y="-9525"/>
            <a:chExt cx="5052000" cy="51437"/>
          </a:xfrm>
        </p:grpSpPr>
        <p:sp>
          <p:nvSpPr>
            <p:cNvPr id="530" name="Google Shape;530;p51"/>
            <p:cNvSpPr/>
            <p:nvPr/>
          </p:nvSpPr>
          <p:spPr>
            <a:xfrm>
              <a:off x="0" y="0"/>
              <a:ext cx="5051911" cy="41912"/>
            </a:xfrm>
            <a:custGeom>
              <a:rect b="b" l="l" r="r" t="t"/>
              <a:pathLst>
                <a:path extrusionOk="0" h="41912" w="5051911">
                  <a:moveTo>
                    <a:pt x="0" y="0"/>
                  </a:moveTo>
                  <a:lnTo>
                    <a:pt x="5051911" y="0"/>
                  </a:lnTo>
                  <a:lnTo>
                    <a:pt x="5051911" y="41912"/>
                  </a:lnTo>
                  <a:lnTo>
                    <a:pt x="0" y="41912"/>
                  </a:lnTo>
                  <a:close/>
                </a:path>
              </a:pathLst>
            </a:custGeom>
            <a:solidFill>
              <a:srgbClr val="F35C19"/>
            </a:solid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531" name="Google Shape;531;p51"/>
            <p:cNvSpPr txBox="1"/>
            <p:nvPr/>
          </p:nvSpPr>
          <p:spPr>
            <a:xfrm>
              <a:off x="0" y="-9525"/>
              <a:ext cx="5052000" cy="51300"/>
            </a:xfrm>
            <a:prstGeom prst="rect">
              <a:avLst/>
            </a:prstGeom>
            <a:solidFill>
              <a:srgbClr val="F35C19"/>
            </a:solidFill>
            <a:ln>
              <a:noFill/>
            </a:ln>
          </p:spPr>
          <p:txBody>
            <a:bodyPr anchorCtr="0" anchor="ctr" bIns="25400" lIns="25400" spcFirstLastPara="1" rIns="25400" wrap="square" tIns="25400">
              <a:noAutofit/>
            </a:bodyPr>
            <a:lstStyle/>
            <a:p>
              <a:pPr indent="0" lvl="0" marL="0" marR="0" rtl="0" algn="ctr">
                <a:lnSpc>
                  <a:spcPct val="155888"/>
                </a:lnSpc>
                <a:spcBef>
                  <a:spcPts val="0"/>
                </a:spcBef>
                <a:spcAft>
                  <a:spcPts val="0"/>
                </a:spcAft>
                <a:buNone/>
              </a:pPr>
              <a:r>
                <a:t/>
              </a:r>
              <a:endParaRPr sz="900">
                <a:solidFill>
                  <a:schemeClr val="dk1"/>
                </a:solidFill>
                <a:latin typeface="Calibri"/>
                <a:ea typeface="Calibri"/>
                <a:cs typeface="Calibri"/>
                <a:sym typeface="Calibri"/>
              </a:endParaRPr>
            </a:p>
          </p:txBody>
        </p:sp>
      </p:grpSp>
      <p:sp>
        <p:nvSpPr>
          <p:cNvPr id="532" name="Google Shape;532;p51"/>
          <p:cNvSpPr txBox="1"/>
          <p:nvPr/>
        </p:nvSpPr>
        <p:spPr>
          <a:xfrm>
            <a:off x="315950" y="176825"/>
            <a:ext cx="5948700" cy="431100"/>
          </a:xfrm>
          <a:prstGeom prst="rect">
            <a:avLst/>
          </a:prstGeom>
          <a:noFill/>
          <a:ln>
            <a:noFill/>
          </a:ln>
        </p:spPr>
        <p:txBody>
          <a:bodyPr anchorCtr="0" anchor="t" bIns="91425" lIns="91425" spcFirstLastPara="1" rIns="91425" wrap="square" tIns="91425">
            <a:spAutoFit/>
          </a:bodyPr>
          <a:lstStyle/>
          <a:p>
            <a:pPr indent="0" lvl="0" marL="0" rtl="0" algn="l">
              <a:lnSpc>
                <a:spcPct val="107916"/>
              </a:lnSpc>
              <a:spcBef>
                <a:spcPts val="0"/>
              </a:spcBef>
              <a:spcAft>
                <a:spcPts val="800"/>
              </a:spcAft>
              <a:buNone/>
            </a:pPr>
            <a:r>
              <a:rPr b="1" lang="en" sz="1600">
                <a:solidFill>
                  <a:schemeClr val="dk1"/>
                </a:solidFill>
                <a:latin typeface="Calibri"/>
                <a:ea typeface="Calibri"/>
                <a:cs typeface="Calibri"/>
                <a:sym typeface="Calibri"/>
              </a:rPr>
              <a:t>KEY RESULTS</a:t>
            </a:r>
            <a:endParaRPr sz="1600"/>
          </a:p>
        </p:txBody>
      </p:sp>
      <p:sp>
        <p:nvSpPr>
          <p:cNvPr id="533" name="Google Shape;533;p51"/>
          <p:cNvSpPr/>
          <p:nvPr/>
        </p:nvSpPr>
        <p:spPr>
          <a:xfrm>
            <a:off x="1515150" y="918000"/>
            <a:ext cx="61137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chemeClr val="dk1"/>
                </a:solidFill>
                <a:latin typeface="Calibri"/>
                <a:ea typeface="Calibri"/>
                <a:cs typeface="Calibri"/>
                <a:sym typeface="Calibri"/>
              </a:rPr>
              <a:t>Powerplay Scores:</a:t>
            </a:r>
            <a:r>
              <a:rPr lang="en" sz="1000">
                <a:solidFill>
                  <a:schemeClr val="dk1"/>
                </a:solidFill>
                <a:latin typeface="Calibri"/>
                <a:ea typeface="Calibri"/>
                <a:cs typeface="Calibri"/>
                <a:sym typeface="Calibri"/>
              </a:rPr>
              <a:t> Bell-shaped distribution centered at 48. Targeting 46–52 runs improves win probability.</a:t>
            </a:r>
            <a:endParaRPr sz="1000">
              <a:solidFill>
                <a:schemeClr val="dk1"/>
              </a:solidFill>
              <a:latin typeface="Calibri"/>
              <a:ea typeface="Calibri"/>
              <a:cs typeface="Calibri"/>
              <a:sym typeface="Calibri"/>
            </a:endParaRPr>
          </a:p>
        </p:txBody>
      </p:sp>
      <p:sp>
        <p:nvSpPr>
          <p:cNvPr id="534" name="Google Shape;534;p51"/>
          <p:cNvSpPr/>
          <p:nvPr/>
        </p:nvSpPr>
        <p:spPr>
          <a:xfrm>
            <a:off x="1515150" y="1546650"/>
            <a:ext cx="61137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chemeClr val="dk1"/>
                </a:solidFill>
                <a:latin typeface="Calibri"/>
                <a:ea typeface="Calibri"/>
                <a:cs typeface="Calibri"/>
                <a:sym typeface="Calibri"/>
              </a:rPr>
              <a:t>Death Overs: </a:t>
            </a:r>
            <a:r>
              <a:rPr lang="en" sz="1000">
                <a:solidFill>
                  <a:schemeClr val="dk1"/>
                </a:solidFill>
                <a:latin typeface="Calibri"/>
                <a:ea typeface="Calibri"/>
                <a:cs typeface="Calibri"/>
                <a:sym typeface="Calibri"/>
              </a:rPr>
              <a:t>Right-skewed variance (175–200), showing explosive yet inconsistent finishes.</a:t>
            </a:r>
            <a:endParaRPr sz="1000">
              <a:solidFill>
                <a:schemeClr val="dk1"/>
              </a:solidFill>
              <a:latin typeface="Calibri"/>
              <a:ea typeface="Calibri"/>
              <a:cs typeface="Calibri"/>
              <a:sym typeface="Calibri"/>
            </a:endParaRPr>
          </a:p>
        </p:txBody>
      </p:sp>
      <p:sp>
        <p:nvSpPr>
          <p:cNvPr id="535" name="Google Shape;535;p51"/>
          <p:cNvSpPr/>
          <p:nvPr/>
        </p:nvSpPr>
        <p:spPr>
          <a:xfrm>
            <a:off x="1515150" y="2175300"/>
            <a:ext cx="6113700" cy="792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chemeClr val="dk1"/>
                </a:solidFill>
                <a:latin typeface="Calibri"/>
                <a:ea typeface="Calibri"/>
                <a:cs typeface="Calibri"/>
                <a:sym typeface="Calibri"/>
              </a:rPr>
              <a:t>Batting Impact:</a:t>
            </a:r>
            <a:endParaRPr b="1" sz="1000">
              <a:solidFill>
                <a:schemeClr val="dk1"/>
              </a:solidFill>
              <a:latin typeface="Calibri"/>
              <a:ea typeface="Calibri"/>
              <a:cs typeface="Calibri"/>
              <a:sym typeface="Calibri"/>
            </a:endParaRPr>
          </a:p>
          <a:p>
            <a:pPr indent="0" lvl="0" marL="0" rtl="0" algn="l">
              <a:lnSpc>
                <a:spcPct val="115000"/>
              </a:lnSpc>
              <a:spcBef>
                <a:spcPts val="1000"/>
              </a:spcBef>
              <a:spcAft>
                <a:spcPts val="0"/>
              </a:spcAft>
              <a:buNone/>
            </a:pPr>
            <a:r>
              <a:rPr b="1" lang="en" sz="1000">
                <a:solidFill>
                  <a:schemeClr val="dk1"/>
                </a:solidFill>
                <a:latin typeface="Calibri"/>
                <a:ea typeface="Calibri"/>
                <a:cs typeface="Calibri"/>
                <a:sym typeface="Calibri"/>
              </a:rPr>
              <a:t>Batting First: </a:t>
            </a:r>
            <a:r>
              <a:rPr lang="en" sz="1000">
                <a:solidFill>
                  <a:schemeClr val="dk1"/>
                </a:solidFill>
                <a:latin typeface="Calibri"/>
                <a:ea typeface="Calibri"/>
                <a:cs typeface="Calibri"/>
                <a:sym typeface="Calibri"/>
              </a:rPr>
              <a:t>Lower win rate (&lt;25%), but significant when successful (p = 0.0272).</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b="1" lang="en" sz="1000">
                <a:solidFill>
                  <a:schemeClr val="dk1"/>
                </a:solidFill>
                <a:latin typeface="Calibri"/>
                <a:ea typeface="Calibri"/>
                <a:cs typeface="Calibri"/>
                <a:sym typeface="Calibri"/>
              </a:rPr>
              <a:t>Batting Second: </a:t>
            </a:r>
            <a:r>
              <a:rPr lang="en" sz="1000">
                <a:solidFill>
                  <a:schemeClr val="dk1"/>
                </a:solidFill>
                <a:latin typeface="Calibri"/>
                <a:ea typeface="Calibri"/>
                <a:cs typeface="Calibri"/>
                <a:sym typeface="Calibri"/>
              </a:rPr>
              <a:t>More consistent wins (35–40%), statistically significant (p = 0.0333).</a:t>
            </a:r>
            <a:endParaRPr sz="1000">
              <a:solidFill>
                <a:schemeClr val="dk1"/>
              </a:solidFill>
              <a:latin typeface="Calibri"/>
              <a:ea typeface="Calibri"/>
              <a:cs typeface="Calibri"/>
              <a:sym typeface="Calibri"/>
            </a:endParaRPr>
          </a:p>
        </p:txBody>
      </p:sp>
      <p:sp>
        <p:nvSpPr>
          <p:cNvPr id="536" name="Google Shape;536;p51"/>
          <p:cNvSpPr/>
          <p:nvPr/>
        </p:nvSpPr>
        <p:spPr>
          <a:xfrm>
            <a:off x="1515150" y="3117450"/>
            <a:ext cx="61137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chemeClr val="dk1"/>
                </a:solidFill>
                <a:latin typeface="Calibri"/>
                <a:ea typeface="Calibri"/>
                <a:cs typeface="Calibri"/>
                <a:sym typeface="Calibri"/>
              </a:rPr>
              <a:t>Toss Outcome: </a:t>
            </a:r>
            <a:r>
              <a:rPr lang="en" sz="1000">
                <a:solidFill>
                  <a:schemeClr val="dk1"/>
                </a:solidFill>
                <a:latin typeface="Calibri"/>
                <a:ea typeface="Calibri"/>
                <a:cs typeface="Calibri"/>
                <a:sym typeface="Calibri"/>
              </a:rPr>
              <a:t>57.6% win rate after toss wins; not statistically significant (CI includes 0.5).</a:t>
            </a:r>
            <a:endParaRPr sz="1000">
              <a:solidFill>
                <a:schemeClr val="dk1"/>
              </a:solidFill>
              <a:latin typeface="Calibri"/>
              <a:ea typeface="Calibri"/>
              <a:cs typeface="Calibri"/>
              <a:sym typeface="Calibri"/>
            </a:endParaRPr>
          </a:p>
        </p:txBody>
      </p:sp>
      <p:sp>
        <p:nvSpPr>
          <p:cNvPr id="537" name="Google Shape;537;p51"/>
          <p:cNvSpPr/>
          <p:nvPr/>
        </p:nvSpPr>
        <p:spPr>
          <a:xfrm>
            <a:off x="1515150" y="3746100"/>
            <a:ext cx="61137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chemeClr val="dk1"/>
                </a:solidFill>
                <a:latin typeface="Calibri"/>
                <a:ea typeface="Calibri"/>
                <a:cs typeface="Calibri"/>
                <a:sym typeface="Calibri"/>
              </a:rPr>
              <a:t>Score in the First Innings Not a Sole Factor: </a:t>
            </a:r>
            <a:r>
              <a:rPr lang="en" sz="1000">
                <a:solidFill>
                  <a:schemeClr val="dk1"/>
                </a:solidFill>
                <a:latin typeface="Calibri"/>
                <a:ea typeface="Calibri"/>
                <a:cs typeface="Calibri"/>
                <a:sym typeface="Calibri"/>
              </a:rPr>
              <a:t>Wins and defeats did not significantly differ in first innings scores, indicating that other stages or match circumstances are more important.</a:t>
            </a:r>
            <a:endParaRPr sz="10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52"/>
          <p:cNvSpPr txBox="1"/>
          <p:nvPr/>
        </p:nvSpPr>
        <p:spPr>
          <a:xfrm>
            <a:off x="2078250" y="2356200"/>
            <a:ext cx="49875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200">
                <a:solidFill>
                  <a:schemeClr val="dk1"/>
                </a:solidFill>
                <a:latin typeface="Calibri"/>
                <a:ea typeface="Calibri"/>
                <a:cs typeface="Calibri"/>
                <a:sym typeface="Calibri"/>
              </a:rPr>
              <a:t>LIMITATIONS AND FUTURE SCOPE</a:t>
            </a:r>
            <a:endParaRPr b="1" sz="2200">
              <a:solidFill>
                <a:schemeClr val="dk1"/>
              </a:solidFill>
              <a:latin typeface="Calibri"/>
              <a:ea typeface="Calibri"/>
              <a:cs typeface="Calibri"/>
              <a:sym typeface="Calibri"/>
            </a:endParaRPr>
          </a:p>
        </p:txBody>
      </p:sp>
      <p:grpSp>
        <p:nvGrpSpPr>
          <p:cNvPr id="543" name="Google Shape;543;p52"/>
          <p:cNvGrpSpPr/>
          <p:nvPr/>
        </p:nvGrpSpPr>
        <p:grpSpPr>
          <a:xfrm>
            <a:off x="0" y="5060139"/>
            <a:ext cx="9144120" cy="97648"/>
            <a:chOff x="0" y="-9525"/>
            <a:chExt cx="5052000" cy="51437"/>
          </a:xfrm>
        </p:grpSpPr>
        <p:sp>
          <p:nvSpPr>
            <p:cNvPr id="544" name="Google Shape;544;p52"/>
            <p:cNvSpPr/>
            <p:nvPr/>
          </p:nvSpPr>
          <p:spPr>
            <a:xfrm>
              <a:off x="0" y="0"/>
              <a:ext cx="5051911" cy="41912"/>
            </a:xfrm>
            <a:custGeom>
              <a:rect b="b" l="l" r="r" t="t"/>
              <a:pathLst>
                <a:path extrusionOk="0" h="41912" w="5051911">
                  <a:moveTo>
                    <a:pt x="0" y="0"/>
                  </a:moveTo>
                  <a:lnTo>
                    <a:pt x="5051911" y="0"/>
                  </a:lnTo>
                  <a:lnTo>
                    <a:pt x="5051911" y="41912"/>
                  </a:lnTo>
                  <a:lnTo>
                    <a:pt x="0" y="41912"/>
                  </a:lnTo>
                  <a:close/>
                </a:path>
              </a:pathLst>
            </a:custGeom>
            <a:solidFill>
              <a:srgbClr val="F35C19"/>
            </a:solid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545" name="Google Shape;545;p52"/>
            <p:cNvSpPr txBox="1"/>
            <p:nvPr/>
          </p:nvSpPr>
          <p:spPr>
            <a:xfrm>
              <a:off x="0" y="-9525"/>
              <a:ext cx="5052000" cy="51300"/>
            </a:xfrm>
            <a:prstGeom prst="rect">
              <a:avLst/>
            </a:prstGeom>
            <a:solidFill>
              <a:srgbClr val="F35C19"/>
            </a:solidFill>
            <a:ln>
              <a:noFill/>
            </a:ln>
          </p:spPr>
          <p:txBody>
            <a:bodyPr anchorCtr="0" anchor="ctr" bIns="25400" lIns="25400" spcFirstLastPara="1" rIns="25400" wrap="square" tIns="25400">
              <a:noAutofit/>
            </a:bodyPr>
            <a:lstStyle/>
            <a:p>
              <a:pPr indent="0" lvl="0" marL="0" marR="0" rtl="0" algn="ctr">
                <a:lnSpc>
                  <a:spcPct val="155888"/>
                </a:lnSpc>
                <a:spcBef>
                  <a:spcPts val="0"/>
                </a:spcBef>
                <a:spcAft>
                  <a:spcPts val="0"/>
                </a:spcAft>
                <a:buNone/>
              </a:pPr>
              <a:r>
                <a:t/>
              </a:r>
              <a:endParaRPr sz="900">
                <a:solidFill>
                  <a:schemeClr val="dk1"/>
                </a:solidFill>
                <a:latin typeface="Calibri"/>
                <a:ea typeface="Calibri"/>
                <a:cs typeface="Calibri"/>
                <a:sym typeface="Calibri"/>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grpSp>
        <p:nvGrpSpPr>
          <p:cNvPr id="550" name="Google Shape;550;p53"/>
          <p:cNvGrpSpPr/>
          <p:nvPr/>
        </p:nvGrpSpPr>
        <p:grpSpPr>
          <a:xfrm>
            <a:off x="0" y="5060139"/>
            <a:ext cx="9144120" cy="97648"/>
            <a:chOff x="0" y="-9525"/>
            <a:chExt cx="5052000" cy="51437"/>
          </a:xfrm>
        </p:grpSpPr>
        <p:sp>
          <p:nvSpPr>
            <p:cNvPr id="551" name="Google Shape;551;p53"/>
            <p:cNvSpPr/>
            <p:nvPr/>
          </p:nvSpPr>
          <p:spPr>
            <a:xfrm>
              <a:off x="0" y="0"/>
              <a:ext cx="5051911" cy="41912"/>
            </a:xfrm>
            <a:custGeom>
              <a:rect b="b" l="l" r="r" t="t"/>
              <a:pathLst>
                <a:path extrusionOk="0" h="41912" w="5051911">
                  <a:moveTo>
                    <a:pt x="0" y="0"/>
                  </a:moveTo>
                  <a:lnTo>
                    <a:pt x="5051911" y="0"/>
                  </a:lnTo>
                  <a:lnTo>
                    <a:pt x="5051911" y="41912"/>
                  </a:lnTo>
                  <a:lnTo>
                    <a:pt x="0" y="41912"/>
                  </a:lnTo>
                  <a:close/>
                </a:path>
              </a:pathLst>
            </a:custGeom>
            <a:solidFill>
              <a:srgbClr val="F35C19"/>
            </a:solid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552" name="Google Shape;552;p53"/>
            <p:cNvSpPr txBox="1"/>
            <p:nvPr/>
          </p:nvSpPr>
          <p:spPr>
            <a:xfrm>
              <a:off x="0" y="-9525"/>
              <a:ext cx="5052000" cy="51300"/>
            </a:xfrm>
            <a:prstGeom prst="rect">
              <a:avLst/>
            </a:prstGeom>
            <a:solidFill>
              <a:srgbClr val="F35C19"/>
            </a:solidFill>
            <a:ln>
              <a:noFill/>
            </a:ln>
          </p:spPr>
          <p:txBody>
            <a:bodyPr anchorCtr="0" anchor="ctr" bIns="25400" lIns="25400" spcFirstLastPara="1" rIns="25400" wrap="square" tIns="25400">
              <a:noAutofit/>
            </a:bodyPr>
            <a:lstStyle/>
            <a:p>
              <a:pPr indent="0" lvl="0" marL="0" marR="0" rtl="0" algn="ctr">
                <a:lnSpc>
                  <a:spcPct val="155888"/>
                </a:lnSpc>
                <a:spcBef>
                  <a:spcPts val="0"/>
                </a:spcBef>
                <a:spcAft>
                  <a:spcPts val="0"/>
                </a:spcAft>
                <a:buNone/>
              </a:pPr>
              <a:r>
                <a:t/>
              </a:r>
              <a:endParaRPr sz="900">
                <a:solidFill>
                  <a:schemeClr val="dk1"/>
                </a:solidFill>
                <a:latin typeface="Calibri"/>
                <a:ea typeface="Calibri"/>
                <a:cs typeface="Calibri"/>
                <a:sym typeface="Calibri"/>
              </a:endParaRPr>
            </a:p>
          </p:txBody>
        </p:sp>
      </p:grpSp>
      <p:sp>
        <p:nvSpPr>
          <p:cNvPr id="553" name="Google Shape;553;p53"/>
          <p:cNvSpPr txBox="1"/>
          <p:nvPr/>
        </p:nvSpPr>
        <p:spPr>
          <a:xfrm>
            <a:off x="315950" y="176825"/>
            <a:ext cx="5948700" cy="431100"/>
          </a:xfrm>
          <a:prstGeom prst="rect">
            <a:avLst/>
          </a:prstGeom>
          <a:noFill/>
          <a:ln>
            <a:noFill/>
          </a:ln>
        </p:spPr>
        <p:txBody>
          <a:bodyPr anchorCtr="0" anchor="t" bIns="91425" lIns="91425" spcFirstLastPara="1" rIns="91425" wrap="square" tIns="91425">
            <a:spAutoFit/>
          </a:bodyPr>
          <a:lstStyle/>
          <a:p>
            <a:pPr indent="0" lvl="0" marL="0" rtl="0" algn="l">
              <a:lnSpc>
                <a:spcPct val="107916"/>
              </a:lnSpc>
              <a:spcBef>
                <a:spcPts val="0"/>
              </a:spcBef>
              <a:spcAft>
                <a:spcPts val="800"/>
              </a:spcAft>
              <a:buNone/>
            </a:pPr>
            <a:r>
              <a:rPr b="1" lang="en" sz="1600">
                <a:solidFill>
                  <a:schemeClr val="dk1"/>
                </a:solidFill>
                <a:latin typeface="Calibri"/>
                <a:ea typeface="Calibri"/>
                <a:cs typeface="Calibri"/>
                <a:sym typeface="Calibri"/>
              </a:rPr>
              <a:t>LIMITATIONS </a:t>
            </a:r>
            <a:endParaRPr b="1" sz="1600">
              <a:solidFill>
                <a:schemeClr val="dk1"/>
              </a:solidFill>
              <a:latin typeface="Calibri"/>
              <a:ea typeface="Calibri"/>
              <a:cs typeface="Calibri"/>
              <a:sym typeface="Calibri"/>
            </a:endParaRPr>
          </a:p>
        </p:txBody>
      </p:sp>
      <p:sp>
        <p:nvSpPr>
          <p:cNvPr id="554" name="Google Shape;554;p53"/>
          <p:cNvSpPr/>
          <p:nvPr/>
        </p:nvSpPr>
        <p:spPr>
          <a:xfrm>
            <a:off x="1515150" y="918000"/>
            <a:ext cx="61137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chemeClr val="dk1"/>
                </a:solidFill>
                <a:latin typeface="Calibri"/>
                <a:ea typeface="Calibri"/>
                <a:cs typeface="Calibri"/>
                <a:sym typeface="Calibri"/>
              </a:rPr>
              <a:t>Missing Player-Level Metrics:</a:t>
            </a:r>
            <a:r>
              <a:rPr lang="en" sz="1000">
                <a:solidFill>
                  <a:schemeClr val="dk1"/>
                </a:solidFill>
                <a:latin typeface="Calibri"/>
                <a:ea typeface="Calibri"/>
                <a:cs typeface="Calibri"/>
                <a:sym typeface="Calibri"/>
              </a:rPr>
              <a:t> No inclusion of individual performance data like economy, strike rate, or dot ball percentage.</a:t>
            </a:r>
            <a:endParaRPr sz="1000">
              <a:solidFill>
                <a:schemeClr val="dk1"/>
              </a:solidFill>
              <a:latin typeface="Calibri"/>
              <a:ea typeface="Calibri"/>
              <a:cs typeface="Calibri"/>
              <a:sym typeface="Calibri"/>
            </a:endParaRPr>
          </a:p>
        </p:txBody>
      </p:sp>
      <p:sp>
        <p:nvSpPr>
          <p:cNvPr id="555" name="Google Shape;555;p53"/>
          <p:cNvSpPr/>
          <p:nvPr/>
        </p:nvSpPr>
        <p:spPr>
          <a:xfrm>
            <a:off x="1515150" y="1546650"/>
            <a:ext cx="61137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chemeClr val="dk1"/>
                </a:solidFill>
                <a:latin typeface="Calibri"/>
                <a:ea typeface="Calibri"/>
                <a:cs typeface="Calibri"/>
                <a:sym typeface="Calibri"/>
              </a:rPr>
              <a:t>External Factors Ignored: </a:t>
            </a:r>
            <a:r>
              <a:rPr lang="en" sz="1000">
                <a:solidFill>
                  <a:schemeClr val="dk1"/>
                </a:solidFill>
                <a:latin typeface="Calibri"/>
                <a:ea typeface="Calibri"/>
                <a:cs typeface="Calibri"/>
                <a:sym typeface="Calibri"/>
              </a:rPr>
              <a:t>Weather, pitch type, and match conditions not accounted for in the analysis.</a:t>
            </a:r>
            <a:endParaRPr sz="1000">
              <a:solidFill>
                <a:schemeClr val="dk1"/>
              </a:solidFill>
              <a:latin typeface="Calibri"/>
              <a:ea typeface="Calibri"/>
              <a:cs typeface="Calibri"/>
              <a:sym typeface="Calibri"/>
            </a:endParaRPr>
          </a:p>
        </p:txBody>
      </p:sp>
      <p:sp>
        <p:nvSpPr>
          <p:cNvPr id="556" name="Google Shape;556;p53"/>
          <p:cNvSpPr/>
          <p:nvPr/>
        </p:nvSpPr>
        <p:spPr>
          <a:xfrm>
            <a:off x="1515150" y="2175300"/>
            <a:ext cx="61137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chemeClr val="dk1"/>
                </a:solidFill>
                <a:latin typeface="Calibri"/>
                <a:ea typeface="Calibri"/>
                <a:cs typeface="Calibri"/>
                <a:sym typeface="Calibri"/>
              </a:rPr>
              <a:t>Time frame Constraints: </a:t>
            </a:r>
            <a:r>
              <a:rPr lang="en" sz="1000">
                <a:solidFill>
                  <a:schemeClr val="dk1"/>
                </a:solidFill>
                <a:latin typeface="Calibri"/>
                <a:ea typeface="Calibri"/>
                <a:cs typeface="Calibri"/>
                <a:sym typeface="Calibri"/>
              </a:rPr>
              <a:t>Analysis limited to 2020–2024; may overlook long-term or evolving trends.</a:t>
            </a:r>
            <a:endParaRPr sz="1000">
              <a:solidFill>
                <a:schemeClr val="dk1"/>
              </a:solidFill>
              <a:latin typeface="Calibri"/>
              <a:ea typeface="Calibri"/>
              <a:cs typeface="Calibri"/>
              <a:sym typeface="Calibri"/>
            </a:endParaRPr>
          </a:p>
        </p:txBody>
      </p:sp>
      <p:sp>
        <p:nvSpPr>
          <p:cNvPr id="557" name="Google Shape;557;p53"/>
          <p:cNvSpPr/>
          <p:nvPr/>
        </p:nvSpPr>
        <p:spPr>
          <a:xfrm>
            <a:off x="1515138" y="2803950"/>
            <a:ext cx="61137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chemeClr val="dk1"/>
                </a:solidFill>
                <a:latin typeface="Calibri"/>
                <a:ea typeface="Calibri"/>
                <a:cs typeface="Calibri"/>
                <a:sym typeface="Calibri"/>
              </a:rPr>
              <a:t>Binary Outcome Focus: </a:t>
            </a:r>
            <a:r>
              <a:rPr lang="en" sz="1000">
                <a:solidFill>
                  <a:schemeClr val="dk1"/>
                </a:solidFill>
                <a:latin typeface="Calibri"/>
                <a:ea typeface="Calibri"/>
                <a:cs typeface="Calibri"/>
                <a:sym typeface="Calibri"/>
              </a:rPr>
              <a:t>Only win/loss considered—margin of victory, match context, or pressure situations not analyzed.</a:t>
            </a:r>
            <a:endParaRPr sz="1000">
              <a:solidFill>
                <a:schemeClr val="dk1"/>
              </a:solidFill>
              <a:latin typeface="Calibri"/>
              <a:ea typeface="Calibri"/>
              <a:cs typeface="Calibri"/>
              <a:sym typeface="Calibri"/>
            </a:endParaRPr>
          </a:p>
        </p:txBody>
      </p:sp>
      <p:sp>
        <p:nvSpPr>
          <p:cNvPr id="558" name="Google Shape;558;p53"/>
          <p:cNvSpPr/>
          <p:nvPr/>
        </p:nvSpPr>
        <p:spPr>
          <a:xfrm>
            <a:off x="1515138" y="3432600"/>
            <a:ext cx="61137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chemeClr val="dk1"/>
                </a:solidFill>
                <a:latin typeface="Calibri"/>
                <a:ea typeface="Calibri"/>
                <a:cs typeface="Calibri"/>
                <a:sym typeface="Calibri"/>
              </a:rPr>
              <a:t>Uniform Match Weighting: </a:t>
            </a:r>
            <a:r>
              <a:rPr lang="en" sz="1000">
                <a:solidFill>
                  <a:schemeClr val="dk1"/>
                </a:solidFill>
                <a:latin typeface="Calibri"/>
                <a:ea typeface="Calibri"/>
                <a:cs typeface="Calibri"/>
                <a:sym typeface="Calibri"/>
              </a:rPr>
              <a:t>All matches treated equally, including high-pressure playoffs or finals.</a:t>
            </a:r>
            <a:endParaRPr sz="10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54"/>
          <p:cNvSpPr/>
          <p:nvPr/>
        </p:nvSpPr>
        <p:spPr>
          <a:xfrm>
            <a:off x="1515138" y="1510725"/>
            <a:ext cx="61137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chemeClr val="dk1"/>
                </a:solidFill>
                <a:latin typeface="Calibri"/>
                <a:ea typeface="Calibri"/>
                <a:cs typeface="Calibri"/>
                <a:sym typeface="Calibri"/>
              </a:rPr>
              <a:t>Team Benchmarking: </a:t>
            </a:r>
            <a:r>
              <a:rPr lang="en" sz="1000">
                <a:solidFill>
                  <a:schemeClr val="dk1"/>
                </a:solidFill>
                <a:latin typeface="Calibri"/>
                <a:ea typeface="Calibri"/>
                <a:cs typeface="Calibri"/>
                <a:sym typeface="Calibri"/>
              </a:rPr>
              <a:t>Compare CSK’s patterns with teams like MI, GT, or RCB to uncover competitive advantages and gaps.</a:t>
            </a:r>
            <a:endParaRPr sz="1000">
              <a:solidFill>
                <a:schemeClr val="dk1"/>
              </a:solidFill>
              <a:latin typeface="Calibri"/>
              <a:ea typeface="Calibri"/>
              <a:cs typeface="Calibri"/>
              <a:sym typeface="Calibri"/>
            </a:endParaRPr>
          </a:p>
        </p:txBody>
      </p:sp>
      <p:grpSp>
        <p:nvGrpSpPr>
          <p:cNvPr id="564" name="Google Shape;564;p54"/>
          <p:cNvGrpSpPr/>
          <p:nvPr/>
        </p:nvGrpSpPr>
        <p:grpSpPr>
          <a:xfrm>
            <a:off x="0" y="5060139"/>
            <a:ext cx="9144120" cy="97648"/>
            <a:chOff x="0" y="-9525"/>
            <a:chExt cx="5052000" cy="51437"/>
          </a:xfrm>
        </p:grpSpPr>
        <p:sp>
          <p:nvSpPr>
            <p:cNvPr id="565" name="Google Shape;565;p54"/>
            <p:cNvSpPr/>
            <p:nvPr/>
          </p:nvSpPr>
          <p:spPr>
            <a:xfrm>
              <a:off x="0" y="0"/>
              <a:ext cx="5051911" cy="41912"/>
            </a:xfrm>
            <a:custGeom>
              <a:rect b="b" l="l" r="r" t="t"/>
              <a:pathLst>
                <a:path extrusionOk="0" h="41912" w="5051911">
                  <a:moveTo>
                    <a:pt x="0" y="0"/>
                  </a:moveTo>
                  <a:lnTo>
                    <a:pt x="5051911" y="0"/>
                  </a:lnTo>
                  <a:lnTo>
                    <a:pt x="5051911" y="41912"/>
                  </a:lnTo>
                  <a:lnTo>
                    <a:pt x="0" y="41912"/>
                  </a:lnTo>
                  <a:close/>
                </a:path>
              </a:pathLst>
            </a:custGeom>
            <a:solidFill>
              <a:srgbClr val="F35C19"/>
            </a:solid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566" name="Google Shape;566;p54"/>
            <p:cNvSpPr txBox="1"/>
            <p:nvPr/>
          </p:nvSpPr>
          <p:spPr>
            <a:xfrm>
              <a:off x="0" y="-9525"/>
              <a:ext cx="5052000" cy="51300"/>
            </a:xfrm>
            <a:prstGeom prst="rect">
              <a:avLst/>
            </a:prstGeom>
            <a:solidFill>
              <a:srgbClr val="F35C19"/>
            </a:solidFill>
            <a:ln>
              <a:noFill/>
            </a:ln>
          </p:spPr>
          <p:txBody>
            <a:bodyPr anchorCtr="0" anchor="ctr" bIns="25400" lIns="25400" spcFirstLastPara="1" rIns="25400" wrap="square" tIns="25400">
              <a:noAutofit/>
            </a:bodyPr>
            <a:lstStyle/>
            <a:p>
              <a:pPr indent="0" lvl="0" marL="0" marR="0" rtl="0" algn="ctr">
                <a:lnSpc>
                  <a:spcPct val="155888"/>
                </a:lnSpc>
                <a:spcBef>
                  <a:spcPts val="0"/>
                </a:spcBef>
                <a:spcAft>
                  <a:spcPts val="0"/>
                </a:spcAft>
                <a:buNone/>
              </a:pPr>
              <a:r>
                <a:t/>
              </a:r>
              <a:endParaRPr sz="900">
                <a:solidFill>
                  <a:schemeClr val="dk1"/>
                </a:solidFill>
                <a:latin typeface="Calibri"/>
                <a:ea typeface="Calibri"/>
                <a:cs typeface="Calibri"/>
                <a:sym typeface="Calibri"/>
              </a:endParaRPr>
            </a:p>
          </p:txBody>
        </p:sp>
      </p:grpSp>
      <p:sp>
        <p:nvSpPr>
          <p:cNvPr id="567" name="Google Shape;567;p54"/>
          <p:cNvSpPr txBox="1"/>
          <p:nvPr/>
        </p:nvSpPr>
        <p:spPr>
          <a:xfrm>
            <a:off x="315950" y="176825"/>
            <a:ext cx="5948700" cy="431100"/>
          </a:xfrm>
          <a:prstGeom prst="rect">
            <a:avLst/>
          </a:prstGeom>
          <a:noFill/>
          <a:ln>
            <a:noFill/>
          </a:ln>
        </p:spPr>
        <p:txBody>
          <a:bodyPr anchorCtr="0" anchor="t" bIns="91425" lIns="91425" spcFirstLastPara="1" rIns="91425" wrap="square" tIns="91425">
            <a:spAutoFit/>
          </a:bodyPr>
          <a:lstStyle/>
          <a:p>
            <a:pPr indent="0" lvl="0" marL="0" rtl="0" algn="l">
              <a:lnSpc>
                <a:spcPct val="107916"/>
              </a:lnSpc>
              <a:spcBef>
                <a:spcPts val="0"/>
              </a:spcBef>
              <a:spcAft>
                <a:spcPts val="800"/>
              </a:spcAft>
              <a:buNone/>
            </a:pPr>
            <a:r>
              <a:rPr b="1" lang="en" sz="1600">
                <a:solidFill>
                  <a:schemeClr val="dk1"/>
                </a:solidFill>
                <a:latin typeface="Calibri"/>
                <a:ea typeface="Calibri"/>
                <a:cs typeface="Calibri"/>
                <a:sym typeface="Calibri"/>
              </a:rPr>
              <a:t>NEXT STEPS</a:t>
            </a:r>
            <a:endParaRPr b="1" sz="1600">
              <a:solidFill>
                <a:schemeClr val="dk1"/>
              </a:solidFill>
              <a:latin typeface="Calibri"/>
              <a:ea typeface="Calibri"/>
              <a:cs typeface="Calibri"/>
              <a:sym typeface="Calibri"/>
            </a:endParaRPr>
          </a:p>
        </p:txBody>
      </p:sp>
      <p:sp>
        <p:nvSpPr>
          <p:cNvPr id="568" name="Google Shape;568;p54"/>
          <p:cNvSpPr/>
          <p:nvPr/>
        </p:nvSpPr>
        <p:spPr>
          <a:xfrm>
            <a:off x="1515150" y="2082600"/>
            <a:ext cx="61137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chemeClr val="dk1"/>
                </a:solidFill>
                <a:latin typeface="Calibri"/>
                <a:ea typeface="Calibri"/>
                <a:cs typeface="Calibri"/>
                <a:sym typeface="Calibri"/>
              </a:rPr>
              <a:t>Add Player-Level Metrics:</a:t>
            </a:r>
            <a:r>
              <a:rPr lang="en" sz="1000">
                <a:solidFill>
                  <a:schemeClr val="dk1"/>
                </a:solidFill>
                <a:latin typeface="Calibri"/>
                <a:ea typeface="Calibri"/>
                <a:cs typeface="Calibri"/>
                <a:sym typeface="Calibri"/>
              </a:rPr>
              <a:t> Include individual stats like top scorers, dot ball %, economy rates for deeper performance insights.</a:t>
            </a:r>
            <a:endParaRPr sz="1000">
              <a:solidFill>
                <a:schemeClr val="dk1"/>
              </a:solidFill>
              <a:latin typeface="Calibri"/>
              <a:ea typeface="Calibri"/>
              <a:cs typeface="Calibri"/>
              <a:sym typeface="Calibri"/>
            </a:endParaRPr>
          </a:p>
        </p:txBody>
      </p:sp>
      <p:sp>
        <p:nvSpPr>
          <p:cNvPr id="569" name="Google Shape;569;p54"/>
          <p:cNvSpPr/>
          <p:nvPr/>
        </p:nvSpPr>
        <p:spPr>
          <a:xfrm>
            <a:off x="1515150" y="2711250"/>
            <a:ext cx="61137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chemeClr val="dk1"/>
                </a:solidFill>
                <a:latin typeface="Calibri"/>
                <a:ea typeface="Calibri"/>
                <a:cs typeface="Calibri"/>
                <a:sym typeface="Calibri"/>
              </a:rPr>
              <a:t>Phase-Wise Match Analysis: </a:t>
            </a:r>
            <a:r>
              <a:rPr lang="en" sz="1000">
                <a:solidFill>
                  <a:schemeClr val="dk1"/>
                </a:solidFill>
                <a:latin typeface="Calibri"/>
                <a:ea typeface="Calibri"/>
                <a:cs typeface="Calibri"/>
                <a:sym typeface="Calibri"/>
              </a:rPr>
              <a:t>Use regression or machine learning to evaluate impact of each match segment (e.g., powerplay, middle, death overs).</a:t>
            </a:r>
            <a:endParaRPr b="1" sz="1000">
              <a:solidFill>
                <a:schemeClr val="dk1"/>
              </a:solidFill>
              <a:latin typeface="Calibri"/>
              <a:ea typeface="Calibri"/>
              <a:cs typeface="Calibri"/>
              <a:sym typeface="Calibri"/>
            </a:endParaRPr>
          </a:p>
        </p:txBody>
      </p:sp>
      <p:sp>
        <p:nvSpPr>
          <p:cNvPr id="570" name="Google Shape;570;p54"/>
          <p:cNvSpPr/>
          <p:nvPr/>
        </p:nvSpPr>
        <p:spPr>
          <a:xfrm>
            <a:off x="1515150" y="3339900"/>
            <a:ext cx="61137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chemeClr val="dk1"/>
                </a:solidFill>
                <a:latin typeface="Calibri"/>
                <a:ea typeface="Calibri"/>
                <a:cs typeface="Calibri"/>
                <a:sym typeface="Calibri"/>
              </a:rPr>
              <a:t>Incorporate Contextual Factors: </a:t>
            </a:r>
            <a:r>
              <a:rPr lang="en" sz="1000">
                <a:solidFill>
                  <a:schemeClr val="dk1"/>
                </a:solidFill>
                <a:latin typeface="Calibri"/>
                <a:ea typeface="Calibri"/>
                <a:cs typeface="Calibri"/>
                <a:sym typeface="Calibri"/>
              </a:rPr>
              <a:t>Integrate weather and pitch data to improve accuracy of strategy suggestions.</a:t>
            </a:r>
            <a:endParaRPr sz="1000">
              <a:solidFill>
                <a:schemeClr val="dk1"/>
              </a:solidFill>
              <a:latin typeface="Calibri"/>
              <a:ea typeface="Calibri"/>
              <a:cs typeface="Calibri"/>
              <a:sym typeface="Calibri"/>
            </a:endParaRPr>
          </a:p>
        </p:txBody>
      </p:sp>
      <p:sp>
        <p:nvSpPr>
          <p:cNvPr id="571" name="Google Shape;571;p54"/>
          <p:cNvSpPr/>
          <p:nvPr/>
        </p:nvSpPr>
        <p:spPr>
          <a:xfrm>
            <a:off x="1515138" y="3968550"/>
            <a:ext cx="61137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chemeClr val="dk1"/>
                </a:solidFill>
                <a:latin typeface="Calibri"/>
                <a:ea typeface="Calibri"/>
                <a:cs typeface="Calibri"/>
                <a:sym typeface="Calibri"/>
              </a:rPr>
              <a:t>Run Simulations: </a:t>
            </a:r>
            <a:r>
              <a:rPr lang="en" sz="1000">
                <a:solidFill>
                  <a:schemeClr val="dk1"/>
                </a:solidFill>
                <a:latin typeface="Calibri"/>
                <a:ea typeface="Calibri"/>
                <a:cs typeface="Calibri"/>
                <a:sym typeface="Calibri"/>
              </a:rPr>
              <a:t>Test scenarios like “chasing 180 at Eden” to model likely outcomes and decision impacts.</a:t>
            </a:r>
            <a:endParaRPr sz="1000">
              <a:solidFill>
                <a:schemeClr val="dk1"/>
              </a:solidFill>
              <a:latin typeface="Calibri"/>
              <a:ea typeface="Calibri"/>
              <a:cs typeface="Calibri"/>
              <a:sym typeface="Calibri"/>
            </a:endParaRPr>
          </a:p>
        </p:txBody>
      </p:sp>
      <p:sp>
        <p:nvSpPr>
          <p:cNvPr id="572" name="Google Shape;572;p54"/>
          <p:cNvSpPr/>
          <p:nvPr/>
        </p:nvSpPr>
        <p:spPr>
          <a:xfrm>
            <a:off x="1515138" y="920550"/>
            <a:ext cx="6113700" cy="47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chemeClr val="dk1"/>
                </a:solidFill>
                <a:latin typeface="Calibri"/>
                <a:ea typeface="Calibri"/>
                <a:cs typeface="Calibri"/>
                <a:sym typeface="Calibri"/>
              </a:rPr>
              <a:t>Expand Dataset Scope: </a:t>
            </a:r>
            <a:r>
              <a:rPr lang="en" sz="1000">
                <a:solidFill>
                  <a:schemeClr val="dk1"/>
                </a:solidFill>
                <a:latin typeface="Calibri"/>
                <a:ea typeface="Calibri"/>
                <a:cs typeface="Calibri"/>
                <a:sym typeface="Calibri"/>
              </a:rPr>
              <a:t>Extend analysis beyond the last 5 seasons to include all IPL seasons for broader and long-term insights.</a:t>
            </a:r>
            <a:endParaRPr sz="10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